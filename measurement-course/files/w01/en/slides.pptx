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notesMasterIdLst>
    <p:notesMasterId r:id="rId2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247f2da0-3083-79ed-999d-1265188cf333}">
          <p14:sldIdLst>
            <p14:sldId id="256"/>
            <p14:sldId id="257"/>
          </p14:sldIdLst>
        </p14:section>
        <p14:section name="Content" id="{237e58c9-0bd4-604f-1d09-2386bbaf4b1b}">
          <p14:sldIdLst>
            <p14:sldId id="258"/>
            <p14:sldId id="259"/>
            <p14:sldId id="260"/>
            <p14:sldId id="261"/>
            <p14:sldId id="262"/>
            <p14:sldId id="263"/>
            <p14:sldId id="264"/>
            <p14:sldId id="265"/>
            <p14:sldId id="266"/>
            <p14:sldId id="267"/>
            <p14:sldId id="268"/>
            <p14:sldId id="269"/>
            <p14:sldId id="270"/>
            <p14:sldId id="271"/>
            <p14:sldId id="272"/>
          </p14:sldIdLst>
        </p14:section>
        <p14:section name="Closing" id="{779b642e-7df5-c11c-c6a3-5652b9138dfb}">
          <p14:sldIdLst>
            <p14:sldId id="273"/>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notesMaster" Target="notesMasters/notesMaster1.xml"/><Relationship Id="rId21" Type="http://schemas.openxmlformats.org/officeDocument/2006/relationships/presProps" Target="presProps.xml"/><Relationship Id="rId22" Type="http://schemas.openxmlformats.org/officeDocument/2006/relationships/viewProps" Target="viewProps.xml"/><Relationship Id="rId23" Type="http://schemas.openxmlformats.org/officeDocument/2006/relationships/theme" Target="theme/theme1.xml"/><Relationship Id="rId2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the students and introduce yourself. Today we lay the foundation: the course concepts, its map, and the rules for working with Claude. An hour and a quarter of concepts, then a workshop.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the students discuss for two minutes and collect three answers. Steer the discussion from the question of who used the tool to the question of what we measure and what decision we are entitled to make.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cards in order. The third outcome is the workshop product that goes into the portfolio.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Arabic-language textbooks differ in how they use the terms for assessment and evaluation, and that the course fixes this usage. Ask: can there be measurement without a test?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brief overview only; we go deeper in Week 2. Stress that the form of the tool does not determine its function. International studies are low-stakes for the student, and their purpose is to monitor the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level inherits the operations of the ones before it. Ask: at which level is your classroom test score? And let the discussion lead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the students to calculate the two means before revealing the number. Then ask: if Claude gave you the class's mean level, what would you ask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frank that treating scores as interval is an assumption. What is required is that the teacher knows it and is cautious about it in short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norm-referenced panel first. Pose the parent's question: my son is top of his class, so why has he not mastered reading?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each stage to a project stage: Stage 1 in Week 6, Stage 2 in Week 8, and Stage 3 after piloting. Action research starts next week.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the first risk to the opening situation: the problem is the validity of the interpretation, not detecting the tool.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Point out that the data are from higher education and from a single tool, so they should not be generalised. In the students report, about 47% of conversations were direct requests for the output.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issue is not whether you used Claude, but whether you kept to the level and documented.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where would you place the take-home essay task? And how would you redesign it for each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teacher will assess learning that itself includes AI, so they must know what the tool does well and where it goes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the two outputs live on your account if time allows. These rules recur in all the course workshops.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is the most important: every claim is matched to its location in the lecture notes. Circulate and ask the guiding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Collect the signed pledges. Ask each student for a tentative assessment problem from their class, as it is the starting point of the action research.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41413"/>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LIGHT">
    <p:bg>
      <p:bgPr>
        <a:solidFill>
          <a:srgbClr val="FAF9F5"/>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rtlCol="0"/>
          <a:lstStyle>
            <a:lvl1pPr algn="l" indent="0" marL="0">
              <a:buNone/>
              <a:defRPr lang="en-US" sz="3800" b="1" dirty="0">
                <a:solidFill>
                  <a:srgbClr val="141413"/>
                </a:solidFill>
                <a:latin typeface="Calibri" pitchFamily="34" charset="0"/>
                <a:ea typeface="Calibri" pitchFamily="34" charset="-122"/>
                <a:cs typeface="Calibri" pitchFamily="34" charset="-120"/>
              </a:defRPr>
            </a:lvl1pPr>
          </a:lstStyle>
          <a:p>
            <a:pPr algn="l" indent="0" marL="0">
              <a:buNone/>
            </a:pPr>
            <a:endParaRPr lang="en-US" sz="3800" dirty="0"/>
          </a:p>
        </p:txBody>
      </p:sp>
      <p:sp>
        <p:nvSpPr>
          <p:cNvPr id="3" name="Text 0"/>
          <p:cNvSpPr/>
          <p:nvPr/>
        </p:nvSpPr>
        <p:spPr>
          <a:xfrm>
            <a:off x="548640" y="6355080"/>
            <a:ext cx="5696712" cy="274320"/>
          </a:xfrm>
          <a:prstGeom prst="rect">
            <a:avLst/>
          </a:prstGeom>
          <a:noFill/>
          <a:ln/>
        </p:spPr>
        <p:txBody>
          <a:bodyPr wrap="square" lIns="0" tIns="0" rIns="0" bIns="0" rtlCol="0" anchor="ctr"/>
          <a:lstStyle/>
          <a:p>
            <a:pPr algn="l" indent="0" marL="0">
              <a:buNone/>
            </a:pPr>
            <a:r>
              <a:rPr lang="en-US" sz="1200" dirty="0">
                <a:solidFill>
                  <a:srgbClr val="B0AEA5"/>
                </a:solidFill>
                <a:latin typeface="Calibri" pitchFamily="34" charset="0"/>
                <a:ea typeface="Calibri" pitchFamily="34" charset="-122"/>
                <a:cs typeface="Calibri" pitchFamily="34" charset="-120"/>
              </a:rPr>
              <a:t>Educational Measurement and Evaluation · Week 1</a:t>
            </a:r>
            <a:endParaRPr lang="en-US" sz="12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548640" y="137160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Week 1</a:t>
            </a:r>
            <a:endParaRPr lang="en-US" sz="2800" dirty="0"/>
          </a:p>
        </p:txBody>
      </p:sp>
      <p:sp>
        <p:nvSpPr>
          <p:cNvPr id="3" name="Text 1"/>
          <p:cNvSpPr txBox="1"/>
          <p:nvPr/>
        </p:nvSpPr>
        <p:spPr>
          <a:xfrm>
            <a:off x="548640" y="2011680"/>
            <a:ext cx="11091672" cy="1645920"/>
          </a:xfrm>
          <a:prstGeom prst="rect">
            <a:avLst/>
          </a:prstGeom>
          <a:noFill/>
          <a:ln/>
        </p:spPr>
        <p:txBody>
          <a:bodyPr wrap="square" lIns="0" tIns="0" rIns="0" bIns="0" rtlCol="0" anchor="ctr">
            <a:normAutofit/>
          </a:bodyPr>
          <a:lstStyle/>
          <a:p>
            <a:pPr algn="l" indent="0" marL="0">
              <a:buNone/>
            </a:pPr>
            <a:r>
              <a:rPr lang="en-US" sz="5400" b="1" dirty="0">
                <a:solidFill>
                  <a:srgbClr val="FFFFFF"/>
                </a:solidFill>
                <a:latin typeface="Calibri" pitchFamily="34" charset="0"/>
                <a:ea typeface="Calibri" pitchFamily="34" charset="-122"/>
                <a:cs typeface="Calibri" pitchFamily="34" charset="-120"/>
              </a:rPr>
              <a:t>Measurement and Evaluation Today: Concepts and the Impact of AI</a:t>
            </a:r>
            <a:endParaRPr lang="en-US" sz="5400" dirty="0"/>
          </a:p>
        </p:txBody>
      </p:sp>
      <p:sp>
        <p:nvSpPr>
          <p:cNvPr id="4" name="Text 2"/>
          <p:cNvSpPr txBox="1"/>
          <p:nvPr/>
        </p:nvSpPr>
        <p:spPr>
          <a:xfrm>
            <a:off x="548640" y="3840480"/>
            <a:ext cx="11091672" cy="82296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Course: Educational Measurement and Evaluation · Postgraduate Professional Diploma in Teaching</a:t>
            </a:r>
            <a:endParaRPr lang="en-US" sz="24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548640" y="457200"/>
            <a:ext cx="1097280" cy="1280160"/>
          </a:xfrm>
          <a:prstGeom prst="rect">
            <a:avLst/>
          </a:prstGeom>
          <a:noFill/>
          <a:ln/>
        </p:spPr>
        <p:txBody>
          <a:bodyPr wrap="square" lIns="0" tIns="0" rIns="0" bIns="0" rtlCol="0" anchor="t">
            <a:normAutofit/>
          </a:bodyPr>
          <a:lstStyle/>
          <a:p>
            <a:pPr algn="l" indent="0" marL="0">
              <a:buNone/>
            </a:pPr>
            <a:r>
              <a:rPr lang="en-US" sz="12000" b="1" dirty="0">
                <a:solidFill>
                  <a:srgbClr val="D97757"/>
                </a:solidFill>
                <a:latin typeface="Calibri" pitchFamily="34" charset="0"/>
                <a:ea typeface="Calibri" pitchFamily="34" charset="-122"/>
                <a:cs typeface="Calibri" pitchFamily="34" charset="-120"/>
              </a:rPr>
              <a:t>“</a:t>
            </a:r>
            <a:endParaRPr lang="en-US" sz="12000" dirty="0"/>
          </a:p>
        </p:txBody>
      </p:sp>
      <p:sp>
        <p:nvSpPr>
          <p:cNvPr id="3" name="Text 1"/>
          <p:cNvSpPr txBox="1"/>
          <p:nvPr/>
        </p:nvSpPr>
        <p:spPr>
          <a:xfrm>
            <a:off x="548640" y="1463040"/>
            <a:ext cx="10543032" cy="2286000"/>
          </a:xfrm>
          <a:prstGeom prst="rect">
            <a:avLst/>
          </a:prstGeom>
          <a:noFill/>
          <a:ln/>
        </p:spPr>
        <p:txBody>
          <a:bodyPr wrap="square" lIns="0" tIns="0" rIns="0" bIns="0" rtlCol="0" anchor="ctr">
            <a:normAutofit/>
          </a:bodyPr>
          <a:lstStyle/>
          <a:p>
            <a:pPr algn="l" indent="0" marL="0">
              <a:buNone/>
            </a:pPr>
            <a:r>
              <a:rPr lang="en-US" sz="3400" dirty="0">
                <a:solidFill>
                  <a:srgbClr val="FFFFFF"/>
                </a:solidFill>
                <a:latin typeface="Calibri" pitchFamily="34" charset="0"/>
                <a:ea typeface="Calibri" pitchFamily="34" charset="-122"/>
                <a:cs typeface="Calibri" pitchFamily="34" charset="-120"/>
              </a:rPr>
              <a:t>I set a take-home essay on water conservation and received 30 essays with no errors, with the same structure, and the best of them from students who struggle with writing in class</a:t>
            </a:r>
            <a:endParaRPr lang="en-US" sz="3400" dirty="0"/>
          </a:p>
        </p:txBody>
      </p:sp>
      <p:sp>
        <p:nvSpPr>
          <p:cNvPr id="4" name="Text 2"/>
          <p:cNvSpPr txBox="1"/>
          <p:nvPr/>
        </p:nvSpPr>
        <p:spPr>
          <a:xfrm>
            <a:off x="548640" y="4023360"/>
            <a:ext cx="10543032" cy="914400"/>
          </a:xfrm>
          <a:prstGeom prst="rect">
            <a:avLst/>
          </a:prstGeom>
          <a:noFill/>
          <a:ln/>
        </p:spPr>
        <p:txBody>
          <a:bodyPr wrap="square" lIns="0" tIns="0" rIns="0" bIns="0" rtlCol="0" anchor="t">
            <a:normAutofit/>
          </a:bodyPr>
          <a:lstStyle/>
          <a:p>
            <a:pPr algn="l" indent="0" marL="0">
              <a:buNone/>
            </a:pPr>
            <a:r>
              <a:rPr lang="en-US" sz="3200" b="1" dirty="0">
                <a:solidFill>
                  <a:srgbClr val="D97757"/>
                </a:solidFill>
                <a:latin typeface="Calibri" pitchFamily="34" charset="0"/>
                <a:ea typeface="Calibri" pitchFamily="34" charset="-122"/>
                <a:cs typeface="Calibri" pitchFamily="34" charset="-120"/>
              </a:rPr>
              <a:t>What do these scores measure now?</a:t>
            </a:r>
            <a:endParaRPr lang="en-US" sz="3200" dirty="0"/>
          </a:p>
        </p:txBody>
      </p:sp>
      <p:sp>
        <p:nvSpPr>
          <p:cNvPr id="5" name="Text 3"/>
          <p:cNvSpPr txBox="1"/>
          <p:nvPr/>
        </p:nvSpPr>
        <p:spPr>
          <a:xfrm>
            <a:off x="548640" y="5029200"/>
            <a:ext cx="10543032" cy="548640"/>
          </a:xfrm>
          <a:prstGeom prst="rect">
            <a:avLst/>
          </a:prstGeom>
          <a:noFill/>
          <a:ln/>
        </p:spPr>
        <p:txBody>
          <a:bodyPr wrap="square" lIns="0" tIns="0" rIns="0" bIns="0" rtlCol="0" anchor="t">
            <a:normAutofit/>
          </a:bodyPr>
          <a:lstStyle/>
          <a:p>
            <a:pPr algn="l" indent="0" marL="0">
              <a:buNone/>
            </a:pPr>
            <a:r>
              <a:rPr lang="en-US" sz="2000" dirty="0">
                <a:solidFill>
                  <a:srgbClr val="B0AEA5"/>
                </a:solidFill>
                <a:latin typeface="Calibri" pitchFamily="34" charset="0"/>
                <a:ea typeface="Calibri" pitchFamily="34" charset="-122"/>
                <a:cs typeface="Calibri" pitchFamily="34" charset="-120"/>
              </a:rPr>
              <a:t>Pair discussion · two minutes</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What will you master today?</a:t>
            </a:r>
            <a:endParaRPr lang="en-US" sz="3800" dirty="0"/>
          </a:p>
        </p:txBody>
      </p:sp>
      <p:sp>
        <p:nvSpPr>
          <p:cNvPr id="3" name="card-0"/>
          <p:cNvSpPr/>
          <p:nvPr/>
        </p:nvSpPr>
        <p:spPr>
          <a:xfrm>
            <a:off x="548640"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Distinguish</a:t>
            </a:r>
            <a:endParaRPr lang="en-US" sz="2700" dirty="0"/>
          </a:p>
        </p:txBody>
      </p:sp>
      <p:sp>
        <p:nvSpPr>
          <p:cNvPr id="6" name="Text 4"/>
          <p:cNvSpPr txBox="1"/>
          <p:nvPr/>
        </p:nvSpPr>
        <p:spPr>
          <a:xfrm>
            <a:off x="777240"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Measurement, test, assessment and evaluation, with examples from your class</a:t>
            </a:r>
            <a:endParaRPr lang="en-US" sz="2000" dirty="0"/>
          </a:p>
        </p:txBody>
      </p:sp>
      <p:sp>
        <p:nvSpPr>
          <p:cNvPr id="7" name="card-1"/>
          <p:cNvSpPr/>
          <p:nvPr/>
        </p:nvSpPr>
        <p:spPr>
          <a:xfrm>
            <a:off x="4352544"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4672584"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4581144"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Interpret</a:t>
            </a:r>
            <a:endParaRPr lang="en-US" sz="2700" dirty="0"/>
          </a:p>
        </p:txBody>
      </p:sp>
      <p:sp>
        <p:nvSpPr>
          <p:cNvPr id="10" name="Text 8"/>
          <p:cNvSpPr txBox="1"/>
          <p:nvPr/>
        </p:nvSpPr>
        <p:spPr>
          <a:xfrm>
            <a:off x="4581144"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The level of measurement and the reference for interpretation before any calculation or judgement on the score</a:t>
            </a:r>
            <a:endParaRPr lang="en-US" sz="2000" dirty="0"/>
          </a:p>
        </p:txBody>
      </p:sp>
      <p:sp>
        <p:nvSpPr>
          <p:cNvPr id="11" name="card-2"/>
          <p:cNvSpPr/>
          <p:nvPr/>
        </p:nvSpPr>
        <p:spPr>
          <a:xfrm>
            <a:off x="8156448" y="1554480"/>
            <a:ext cx="3483864" cy="4206240"/>
          </a:xfrm>
          <a:prstGeom prst="roundRect">
            <a:avLst>
              <a:gd name="adj" fmla="val 3150"/>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8476488"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8385048" y="2377440"/>
            <a:ext cx="3026664" cy="914400"/>
          </a:xfrm>
          <a:prstGeom prst="rect">
            <a:avLst/>
          </a:prstGeom>
          <a:noFill/>
          <a:ln/>
        </p:spPr>
        <p:txBody>
          <a:bodyPr wrap="square" lIns="0" tIns="0" rIns="0" bIns="0" rtlCol="0" anchor="t">
            <a:normAutofit/>
          </a:bodyPr>
          <a:lstStyle/>
          <a:p>
            <a:pPr algn="l" indent="0" marL="0">
              <a:buNone/>
            </a:pPr>
            <a:r>
              <a:rPr lang="en-US" sz="2700" b="1" dirty="0">
                <a:solidFill>
                  <a:srgbClr val="141413"/>
                </a:solidFill>
                <a:latin typeface="Calibri" pitchFamily="34" charset="0"/>
                <a:ea typeface="Calibri" pitchFamily="34" charset="-122"/>
                <a:cs typeface="Calibri" pitchFamily="34" charset="-120"/>
              </a:rPr>
              <a:t>Classify</a:t>
            </a:r>
            <a:endParaRPr lang="en-US" sz="2700" dirty="0"/>
          </a:p>
        </p:txBody>
      </p:sp>
      <p:sp>
        <p:nvSpPr>
          <p:cNvPr id="14" name="Text 12"/>
          <p:cNvSpPr txBox="1"/>
          <p:nvPr/>
        </p:nvSpPr>
        <p:spPr>
          <a:xfrm>
            <a:off x="8385048" y="3337560"/>
            <a:ext cx="3026664" cy="2286000"/>
          </a:xfrm>
          <a:prstGeom prst="rect">
            <a:avLst/>
          </a:prstGeom>
          <a:noFill/>
          <a:ln/>
        </p:spPr>
        <p:txBody>
          <a:bodyPr wrap="square" lIns="0" tIns="0" rIns="0" bIns="0" rtlCol="0" anchor="t">
            <a:normAutofit/>
          </a:bodyPr>
          <a:lstStyle/>
          <a:p>
            <a:pPr algn="l" indent="0" marL="0">
              <a:buNone/>
            </a:pPr>
            <a:r>
              <a:rPr lang="en-US" sz="2000" dirty="0">
                <a:solidFill>
                  <a:srgbClr val="141413"/>
                </a:solidFill>
                <a:latin typeface="Calibri" pitchFamily="34" charset="0"/>
                <a:ea typeface="Calibri" pitchFamily="34" charset="-122"/>
                <a:cs typeface="Calibri" pitchFamily="34" charset="-120"/>
              </a:rPr>
              <a:t>Your classroom tasks by AI use levels 0 – 3 with a justification</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Four concepts in a fractions lesson</a:t>
            </a:r>
            <a:endParaRPr lang="en-US" sz="3800" dirty="0"/>
          </a:p>
        </p:txBody>
      </p:sp>
      <p:sp>
        <p:nvSpPr>
          <p:cNvPr id="3" name="card-0"/>
          <p:cNvSpPr/>
          <p:nvPr/>
        </p:nvSpPr>
        <p:spPr>
          <a:xfrm>
            <a:off x="548640"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783080"/>
            <a:ext cx="457200" cy="457200"/>
          </a:xfrm>
          <a:prstGeom prst="ellipse">
            <a:avLst/>
          </a:prstGeom>
          <a:solidFill>
            <a:srgbClr val="D97757"/>
          </a:solidFill>
          <a:ln w="12700">
            <a:solidFill>
              <a:srgbClr val="D97757"/>
            </a:solidFill>
            <a:prstDash val="solid"/>
          </a:ln>
        </p:spPr>
      </p:sp>
      <p:sp>
        <p:nvSpPr>
          <p:cNvPr id="5" name="Text 3"/>
          <p:cNvSpPr txBox="1"/>
          <p:nvPr/>
        </p:nvSpPr>
        <p:spPr>
          <a:xfrm>
            <a:off x="777240"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Test</a:t>
            </a:r>
            <a:endParaRPr lang="en-US" sz="2400" dirty="0"/>
          </a:p>
        </p:txBody>
      </p:sp>
      <p:sp>
        <p:nvSpPr>
          <p:cNvPr id="6" name="Text 4"/>
          <p:cNvSpPr txBox="1"/>
          <p:nvPr/>
        </p:nvSpPr>
        <p:spPr>
          <a:xfrm>
            <a:off x="777240"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An organised tool: 20 items under standardised conditions</a:t>
            </a:r>
            <a:endParaRPr lang="en-US" sz="1800" dirty="0"/>
          </a:p>
        </p:txBody>
      </p:sp>
      <p:sp>
        <p:nvSpPr>
          <p:cNvPr id="7" name="card-1"/>
          <p:cNvSpPr/>
          <p:nvPr/>
        </p:nvSpPr>
        <p:spPr>
          <a:xfrm>
            <a:off x="3401568"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3721608" y="1783080"/>
            <a:ext cx="457200" cy="457200"/>
          </a:xfrm>
          <a:prstGeom prst="ellipse">
            <a:avLst/>
          </a:prstGeom>
          <a:solidFill>
            <a:srgbClr val="6A9BCC"/>
          </a:solidFill>
          <a:ln w="12700">
            <a:solidFill>
              <a:srgbClr val="6A9BCC"/>
            </a:solidFill>
            <a:prstDash val="solid"/>
          </a:ln>
        </p:spPr>
      </p:sp>
      <p:sp>
        <p:nvSpPr>
          <p:cNvPr id="9" name="Text 7"/>
          <p:cNvSpPr txBox="1"/>
          <p:nvPr/>
        </p:nvSpPr>
        <p:spPr>
          <a:xfrm>
            <a:off x="3630168"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Measurement</a:t>
            </a:r>
            <a:endParaRPr lang="en-US" sz="2400" dirty="0"/>
          </a:p>
        </p:txBody>
      </p:sp>
      <p:sp>
        <p:nvSpPr>
          <p:cNvPr id="10" name="Text 8"/>
          <p:cNvSpPr txBox="1"/>
          <p:nvPr/>
        </p:nvSpPr>
        <p:spPr>
          <a:xfrm>
            <a:off x="3630168"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 number according to rules: Ahmed 14 out of 20</a:t>
            </a:r>
            <a:endParaRPr lang="en-US" sz="1800" dirty="0"/>
          </a:p>
        </p:txBody>
      </p:sp>
      <p:sp>
        <p:nvSpPr>
          <p:cNvPr id="11" name="card-2"/>
          <p:cNvSpPr/>
          <p:nvPr/>
        </p:nvSpPr>
        <p:spPr>
          <a:xfrm>
            <a:off x="6254496"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Shape 10"/>
          <p:cNvSpPr/>
          <p:nvPr/>
        </p:nvSpPr>
        <p:spPr>
          <a:xfrm>
            <a:off x="6574536" y="1783080"/>
            <a:ext cx="457200" cy="457200"/>
          </a:xfrm>
          <a:prstGeom prst="ellipse">
            <a:avLst/>
          </a:prstGeom>
          <a:solidFill>
            <a:srgbClr val="788C5D"/>
          </a:solidFill>
          <a:ln w="12700">
            <a:solidFill>
              <a:srgbClr val="788C5D"/>
            </a:solidFill>
            <a:prstDash val="solid"/>
          </a:ln>
        </p:spPr>
      </p:sp>
      <p:sp>
        <p:nvSpPr>
          <p:cNvPr id="13" name="Text 11"/>
          <p:cNvSpPr txBox="1"/>
          <p:nvPr/>
        </p:nvSpPr>
        <p:spPr>
          <a:xfrm>
            <a:off x="6483096"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Assessment</a:t>
            </a:r>
            <a:endParaRPr lang="en-US" sz="2400" dirty="0"/>
          </a:p>
        </p:txBody>
      </p:sp>
      <p:sp>
        <p:nvSpPr>
          <p:cNvPr id="14" name="Text 12"/>
          <p:cNvSpPr txBox="1"/>
          <p:nvPr/>
        </p:nvSpPr>
        <p:spPr>
          <a:xfrm>
            <a:off x="6483096"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Information from multiple sources: the test, observation, homework and the notebook</a:t>
            </a:r>
            <a:endParaRPr lang="en-US" sz="1800" dirty="0"/>
          </a:p>
        </p:txBody>
      </p:sp>
      <p:sp>
        <p:nvSpPr>
          <p:cNvPr id="15" name="card-3"/>
          <p:cNvSpPr/>
          <p:nvPr/>
        </p:nvSpPr>
        <p:spPr>
          <a:xfrm>
            <a:off x="9107424" y="1554480"/>
            <a:ext cx="2532888" cy="3566160"/>
          </a:xfrm>
          <a:prstGeom prst="roundRect">
            <a:avLst>
              <a:gd name="adj" fmla="val 4332"/>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Shape 14"/>
          <p:cNvSpPr/>
          <p:nvPr/>
        </p:nvSpPr>
        <p:spPr>
          <a:xfrm>
            <a:off x="9427464" y="1783080"/>
            <a:ext cx="457200" cy="457200"/>
          </a:xfrm>
          <a:prstGeom prst="ellipse">
            <a:avLst/>
          </a:prstGeom>
          <a:solidFill>
            <a:srgbClr val="B0AEA5"/>
          </a:solidFill>
          <a:ln w="12700">
            <a:solidFill>
              <a:srgbClr val="B0AEA5"/>
            </a:solidFill>
            <a:prstDash val="solid"/>
          </a:ln>
        </p:spPr>
      </p:sp>
      <p:sp>
        <p:nvSpPr>
          <p:cNvPr id="17" name="Text 15"/>
          <p:cNvSpPr txBox="1"/>
          <p:nvPr/>
        </p:nvSpPr>
        <p:spPr>
          <a:xfrm>
            <a:off x="9336024" y="2377440"/>
            <a:ext cx="2075688" cy="914400"/>
          </a:xfrm>
          <a:prstGeom prst="rect">
            <a:avLst/>
          </a:prstGeom>
          <a:noFill/>
          <a:ln/>
        </p:spPr>
        <p:txBody>
          <a:bodyPr wrap="square" lIns="0" tIns="0" rIns="0" bIns="0" rtlCol="0" anchor="t">
            <a:normAutofit/>
          </a:bodyPr>
          <a:lstStyle/>
          <a:p>
            <a:pPr algn="l" indent="0" marL="0">
              <a:buNone/>
            </a:pPr>
            <a:r>
              <a:rPr lang="en-US" sz="2400" b="1" dirty="0">
                <a:solidFill>
                  <a:srgbClr val="141413"/>
                </a:solidFill>
                <a:latin typeface="Calibri" pitchFamily="34" charset="0"/>
                <a:ea typeface="Calibri" pitchFamily="34" charset="-122"/>
                <a:cs typeface="Calibri" pitchFamily="34" charset="-120"/>
              </a:rPr>
              <a:t>Evaluation</a:t>
            </a:r>
            <a:endParaRPr lang="en-US" sz="2400" dirty="0"/>
          </a:p>
        </p:txBody>
      </p:sp>
      <p:sp>
        <p:nvSpPr>
          <p:cNvPr id="18" name="Text 16"/>
          <p:cNvSpPr txBox="1"/>
          <p:nvPr/>
        </p:nvSpPr>
        <p:spPr>
          <a:xfrm>
            <a:off x="9336024" y="3337560"/>
            <a:ext cx="2075688" cy="1645920"/>
          </a:xfrm>
          <a:prstGeom prst="rect">
            <a:avLst/>
          </a:prstGeom>
          <a:noFill/>
          <a:ln/>
        </p:spPr>
        <p:txBody>
          <a:bodyPr wrap="square" lIns="0" tIns="0" rIns="0" bIns="0" rtlCol="0" anchor="t">
            <a:normAutofit/>
          </a:bodyPr>
          <a:lstStyle/>
          <a:p>
            <a:pPr algn="l" indent="0" marL="0">
              <a:buNone/>
            </a:pPr>
            <a:r>
              <a:rPr lang="en-US" sz="1800" dirty="0">
                <a:solidFill>
                  <a:srgbClr val="141413"/>
                </a:solidFill>
                <a:latin typeface="Calibri" pitchFamily="34" charset="0"/>
                <a:ea typeface="Calibri" pitchFamily="34" charset="-122"/>
                <a:cs typeface="Calibri" pitchFamily="34" charset="-120"/>
              </a:rPr>
              <a:t>A judgement and a decision: has not mastered comparing fractions, so a remedial activity before the summative test</a:t>
            </a:r>
            <a:endParaRPr lang="en-US" sz="1800" dirty="0"/>
          </a:p>
        </p:txBody>
      </p:sp>
      <p:sp>
        <p:nvSpPr>
          <p:cNvPr id="19" name="footer"/>
          <p:cNvSpPr/>
          <p:nvPr/>
        </p:nvSpPr>
        <p:spPr>
          <a:xfrm>
            <a:off x="548640" y="5349240"/>
            <a:ext cx="11091672" cy="777240"/>
          </a:xfrm>
          <a:prstGeom prst="roundRect">
            <a:avLst>
              <a:gd name="adj" fmla="val 14118"/>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914400" y="5349240"/>
            <a:ext cx="10360152" cy="777240"/>
          </a:xfrm>
          <a:prstGeom prst="rect">
            <a:avLst/>
          </a:prstGeom>
          <a:noFill/>
          <a:ln/>
        </p:spPr>
        <p:txBody>
          <a:bodyPr wrap="square" lIns="0" tIns="0" rIns="0" bIns="0" rtlCol="0" anchor="ctr">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Measurement gives a number; evaluation gives a decision</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Functions of evaluation: use determines function</a:t>
            </a:r>
            <a:endParaRPr lang="en-US" sz="3800" dirty="0"/>
          </a:p>
        </p:txBody>
      </p:sp>
      <p:graphicFrame>
        <p:nvGraphicFramePr>
          <p:cNvPr id="6"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002257"/>
                <a:gridCol w="1501129"/>
                <a:gridCol w="2835465"/>
                <a:gridCol w="3752821"/>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Function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When?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Question</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Example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Diagnostic</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Before instruction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What do they know?</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Questions before the electricity unit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Formative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During instruction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What is the next step?</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Exit tickets used to adjust tomorrow's lesson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Summative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End of the unit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What have they learned?</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End-of-unit test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System monitoring and accountability</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System level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Is the system achieving its goals?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National tests, then international ones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The same short quiz may be formative or summative depending on how its result is used</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Levels of measurement: what are you entitled to do with the numbers?</a:t>
            </a:r>
            <a:endParaRPr lang="en-US" sz="38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1095474"/>
                <a:gridCol w="5614303"/>
                <a:gridCol w="4381895"/>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Level</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School example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What is permissible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Nominal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Section or school code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Counts, proportions and the mode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Ordinal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Rubric levels 1 – 4</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The median and percentiles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Interval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Temperature in Celsius, the calendar year</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The mean and standard deviation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Ratio</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Words read in a minute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Ratios: twice and half</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Two equal means and two different realities</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A first group on a rubric: 4, 4, 1 and 1. A second group: 3, 2, 3 and 2.</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The mean is the same, yet the first is split and the second is homogeneous. With ordinal data, show the distribution or the median.</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The mean in both groups</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2.5</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One number hides two different pictures</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Zero on a test is not zero knowledge</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A student who scored 80 does not know twice as much as one who scored 40.</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Classroom scores are closer to ordinal, and we treat them as if they were interval. This is a common practical assumption, not a proven fact.</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Test score</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0</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Means they did not answer these items, not that they know nothing</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same score with two interpretations</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Norm-referenced interpretation</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Compares with peers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Sara is higher than 70% of her class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Suits selection and comparison</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Tells us the position, not what she knows</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Criterion-referenced interpretation</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Compares with a defined performance standard</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Sara mastered 4 of 5 outcomes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Suits diagnosis and remediation</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Tells the teacher what to do tomorrow</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14 out of 20 means nothing until we specify the reference for comparison</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course in four stages</a:t>
            </a:r>
            <a:endParaRPr lang="en-US" sz="3800" dirty="0"/>
          </a:p>
        </p:txBody>
      </p:sp>
      <p:sp>
        <p:nvSpPr>
          <p:cNvPr id="3" name="step-1"/>
          <p:cNvSpPr/>
          <p:nvPr/>
        </p:nvSpPr>
        <p:spPr>
          <a:xfrm>
            <a:off x="548640"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777240"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1424635"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 – 5</a:t>
            </a:r>
            <a:endParaRPr lang="en-US" sz="1700" dirty="0"/>
          </a:p>
        </p:txBody>
      </p:sp>
      <p:sp>
        <p:nvSpPr>
          <p:cNvPr id="6" name="Text 4"/>
          <p:cNvSpPr txBox="1"/>
          <p:nvPr/>
        </p:nvSpPr>
        <p:spPr>
          <a:xfrm>
            <a:off x="777240"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Foundations: concepts, functions, validity, reliability and fairness</a:t>
            </a:r>
            <a:endParaRPr lang="en-US" sz="2100" dirty="0"/>
          </a:p>
        </p:txBody>
      </p:sp>
      <p:sp>
        <p:nvSpPr>
          <p:cNvPr id="7" name="step-2"/>
          <p:cNvSpPr/>
          <p:nvPr/>
        </p:nvSpPr>
        <p:spPr>
          <a:xfrm>
            <a:off x="3390595"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3619195"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4265676"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6 – 10</a:t>
            </a:r>
            <a:endParaRPr lang="en-US" sz="1700" dirty="0"/>
          </a:p>
        </p:txBody>
      </p:sp>
      <p:sp>
        <p:nvSpPr>
          <p:cNvPr id="10" name="Text 8"/>
          <p:cNvSpPr txBox="1"/>
          <p:nvPr/>
        </p:nvSpPr>
        <p:spPr>
          <a:xfrm>
            <a:off x="3619195"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Construction: test blueprint, items and rubrics</a:t>
            </a:r>
            <a:endParaRPr lang="en-US" sz="2100" dirty="0"/>
          </a:p>
        </p:txBody>
      </p:sp>
      <p:sp>
        <p:nvSpPr>
          <p:cNvPr id="11" name="step-3"/>
          <p:cNvSpPr/>
          <p:nvPr/>
        </p:nvSpPr>
        <p:spPr>
          <a:xfrm>
            <a:off x="6231636"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6460236"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7107631"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11 – 13</a:t>
            </a:r>
            <a:endParaRPr lang="en-US" sz="1700" dirty="0"/>
          </a:p>
        </p:txBody>
      </p:sp>
      <p:sp>
        <p:nvSpPr>
          <p:cNvPr id="14" name="Text 12"/>
          <p:cNvSpPr txBox="1"/>
          <p:nvPr/>
        </p:nvSpPr>
        <p:spPr>
          <a:xfrm>
            <a:off x="6460236"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Data: item analysis, international tests and reports</a:t>
            </a:r>
            <a:endParaRPr lang="en-US" sz="2100" dirty="0"/>
          </a:p>
        </p:txBody>
      </p:sp>
      <p:sp>
        <p:nvSpPr>
          <p:cNvPr id="15" name="step-4"/>
          <p:cNvSpPr/>
          <p:nvPr/>
        </p:nvSpPr>
        <p:spPr>
          <a:xfrm>
            <a:off x="9072677" y="1508760"/>
            <a:ext cx="2567178" cy="3291840"/>
          </a:xfrm>
          <a:prstGeom prst="roundRect">
            <a:avLst>
              <a:gd name="adj" fmla="val 4274"/>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9302191"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4</a:t>
            </a:r>
            <a:endParaRPr lang="en-US" sz="4000" dirty="0"/>
          </a:p>
        </p:txBody>
      </p:sp>
      <p:sp>
        <p:nvSpPr>
          <p:cNvPr id="17" name="Text 15"/>
          <p:cNvSpPr txBox="1"/>
          <p:nvPr/>
        </p:nvSpPr>
        <p:spPr>
          <a:xfrm>
            <a:off x="9948672"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14 – 15</a:t>
            </a:r>
            <a:endParaRPr lang="en-US" sz="1700" dirty="0"/>
          </a:p>
        </p:txBody>
      </p:sp>
      <p:sp>
        <p:nvSpPr>
          <p:cNvPr id="18" name="Text 16"/>
          <p:cNvSpPr txBox="1"/>
          <p:nvPr/>
        </p:nvSpPr>
        <p:spPr>
          <a:xfrm>
            <a:off x="9301277" y="2468880"/>
            <a:ext cx="2109978" cy="219456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Integration: action research and oral defense</a:t>
            </a:r>
            <a:endParaRPr lang="en-US" sz="2100" dirty="0"/>
          </a:p>
        </p:txBody>
      </p:sp>
      <p:sp>
        <p:nvSpPr>
          <p:cNvPr id="19" name="Text 17"/>
          <p:cNvSpPr txBox="1"/>
          <p:nvPr/>
        </p:nvSpPr>
        <p:spPr>
          <a:xfrm>
            <a:off x="548640" y="5897880"/>
            <a:ext cx="11091672" cy="411480"/>
          </a:xfrm>
          <a:prstGeom prst="rect">
            <a:avLst/>
          </a:prstGeom>
          <a:noFill/>
          <a:ln/>
        </p:spPr>
        <p:txBody>
          <a:bodyPr wrap="square" lIns="0" tIns="0" rIns="0" bIns="0" rtlCol="0" anchor="t">
            <a:normAutofit/>
          </a:bodyPr>
          <a:lstStyle/>
          <a:p>
            <a:pPr algn="l" indent="0" marL="0">
              <a:buNone/>
            </a:pPr>
            <a:r>
              <a:rPr lang="en-US" sz="1800" dirty="0">
                <a:solidFill>
                  <a:srgbClr val="B0AEA5"/>
                </a:solidFill>
                <a:latin typeface="Calibri" pitchFamily="34" charset="0"/>
                <a:ea typeface="Calibri" pitchFamily="34" charset="-122"/>
                <a:cs typeface="Calibri" pitchFamily="34" charset="-120"/>
              </a:rPr>
              <a:t>Integrated project 35% · Action research 20% · Portfolio 15% · Midterm 10% · Oral defense and practical task 20%</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AI in assessment</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Opportunities</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Drafts of items and options in minutes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Analysing scores by running code</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Detailed feedback for each student</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Risks</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Validity of take-home tasks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Fabricated numbers and references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Privacy of student data</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Over-trust in automated scoring</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Every opportunity needs verification, and every risk is addressed through design, not through prohibition alone</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What we delegate does not match what we trust</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Anthropic's report on educators (August 2025): about 74,000 conversations; curriculum development 57% and assessing students about 7%.</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Yet educators saw grading as what AI does least well.</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of grading conversations</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48.9%</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were heavily automated delegation, not collaboration</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Use levels in the course</a:t>
            </a:r>
            <a:endParaRPr lang="en-US" sz="3800" dirty="0"/>
          </a:p>
        </p:txBody>
      </p:sp>
      <p:graphicFrame>
        <p:nvGraphicFramePr>
          <p:cNvPr id="14"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715592"/>
                <a:gridCol w="4532081"/>
                <a:gridCol w="5843999"/>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Level</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Meaning</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Example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0</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Prohibited</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The midterm and the oral defense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1</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Thinking support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Ideas for the action research problem</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2</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Documented collaboration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Drafting items with the conversation link</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3</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Full use with independent verification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Reliability analysis with code and cross-checking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Undisclosed use is an academic violation at all levels</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two-track approach</a:t>
            </a:r>
            <a:endParaRPr lang="en-US" sz="3800" dirty="0"/>
          </a:p>
        </p:txBody>
      </p:sp>
      <p:sp>
        <p:nvSpPr>
          <p:cNvPr id="3" name="panel-0"/>
          <p:cNvSpPr/>
          <p:nvPr/>
        </p:nvSpPr>
        <p:spPr>
          <a:xfrm>
            <a:off x="548640"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Shape 2"/>
          <p:cNvSpPr/>
          <p:nvPr/>
        </p:nvSpPr>
        <p:spPr>
          <a:xfrm>
            <a:off x="868680" y="1828800"/>
            <a:ext cx="457200" cy="457200"/>
          </a:xfrm>
          <a:prstGeom prst="ellipse">
            <a:avLst/>
          </a:prstGeom>
          <a:solidFill>
            <a:srgbClr val="788C5D"/>
          </a:solidFill>
          <a:ln w="12700">
            <a:solidFill>
              <a:srgbClr val="788C5D"/>
            </a:solidFill>
            <a:prstDash val="solid"/>
          </a:ln>
        </p:spPr>
      </p:sp>
      <p:sp>
        <p:nvSpPr>
          <p:cNvPr id="5" name="Text 3"/>
          <p:cNvSpPr txBox="1"/>
          <p:nvPr/>
        </p:nvSpPr>
        <p:spPr>
          <a:xfrm>
            <a:off x="1463040"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Secure track</a:t>
            </a:r>
            <a:endParaRPr lang="en-US" sz="2600" dirty="0"/>
          </a:p>
        </p:txBody>
      </p:sp>
      <p:sp>
        <p:nvSpPr>
          <p:cNvPr id="6" name="Text 4"/>
          <p:cNvSpPr txBox="1"/>
          <p:nvPr/>
        </p:nvSpPr>
        <p:spPr>
          <a:xfrm>
            <a:off x="822960"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Without AI and under supervised conditions</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Measures individual ability</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midterm and the oral defense</a:t>
            </a:r>
            <a:endParaRPr lang="en-US" sz="2000" dirty="0"/>
          </a:p>
        </p:txBody>
      </p:sp>
      <p:sp>
        <p:nvSpPr>
          <p:cNvPr id="7" name="panel-1"/>
          <p:cNvSpPr/>
          <p:nvPr/>
        </p:nvSpPr>
        <p:spPr>
          <a:xfrm>
            <a:off x="6323076" y="1554480"/>
            <a:ext cx="5317236" cy="3749040"/>
          </a:xfrm>
          <a:prstGeom prst="roundRect">
            <a:avLst>
              <a:gd name="adj" fmla="val 2927"/>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Shape 6"/>
          <p:cNvSpPr/>
          <p:nvPr/>
        </p:nvSpPr>
        <p:spPr>
          <a:xfrm>
            <a:off x="6643116" y="1828800"/>
            <a:ext cx="457200" cy="457200"/>
          </a:xfrm>
          <a:prstGeom prst="ellipse">
            <a:avLst/>
          </a:prstGeom>
          <a:solidFill>
            <a:srgbClr val="D97757"/>
          </a:solidFill>
          <a:ln w="12700">
            <a:solidFill>
              <a:srgbClr val="D97757"/>
            </a:solidFill>
            <a:prstDash val="solid"/>
          </a:ln>
        </p:spPr>
      </p:sp>
      <p:sp>
        <p:nvSpPr>
          <p:cNvPr id="9" name="Text 7"/>
          <p:cNvSpPr txBox="1"/>
          <p:nvPr/>
        </p:nvSpPr>
        <p:spPr>
          <a:xfrm>
            <a:off x="7237476" y="1783080"/>
            <a:ext cx="4128516" cy="640080"/>
          </a:xfrm>
          <a:prstGeom prst="rect">
            <a:avLst/>
          </a:prstGeom>
          <a:noFill/>
          <a:ln/>
        </p:spPr>
        <p:txBody>
          <a:bodyPr wrap="square" lIns="0" tIns="0" rIns="0" bIns="0" rtlCol="0" anchor="t">
            <a:normAutofit/>
          </a:bodyPr>
          <a:lstStyle/>
          <a:p>
            <a:pPr algn="l" indent="0" marL="0">
              <a:buNone/>
            </a:pPr>
            <a:r>
              <a:rPr lang="en-US" sz="2600" b="1" dirty="0">
                <a:solidFill>
                  <a:srgbClr val="141413"/>
                </a:solidFill>
                <a:latin typeface="Calibri" pitchFamily="34" charset="0"/>
                <a:ea typeface="Calibri" pitchFamily="34" charset="-122"/>
                <a:cs typeface="Calibri" pitchFamily="34" charset="-120"/>
              </a:rPr>
              <a:t>Open track</a:t>
            </a:r>
            <a:endParaRPr lang="en-US" sz="2600" dirty="0"/>
          </a:p>
        </p:txBody>
      </p:sp>
      <p:sp>
        <p:nvSpPr>
          <p:cNvPr id="10" name="Text 8"/>
          <p:cNvSpPr txBox="1"/>
          <p:nvPr/>
        </p:nvSpPr>
        <p:spPr>
          <a:xfrm>
            <a:off x="6597396" y="2560320"/>
            <a:ext cx="4768596" cy="2560320"/>
          </a:xfrm>
          <a:prstGeom prst="rect">
            <a:avLst/>
          </a:prstGeom>
          <a:noFill/>
          <a:ln/>
        </p:spPr>
        <p:txBody>
          <a:bodyPr wrap="square" lIns="0" tIns="0" rIns="0" bIns="0" rtlCol="0" anchor="t">
            <a:normAutofit/>
          </a:bodyPr>
          <a:lstStyle/>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AI permitted with documentation</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Measures the ability to use the tool well and judge it</a:t>
            </a:r>
            <a:endParaRPr lang="en-US" sz="2000" dirty="0"/>
          </a:p>
          <a:p>
            <a:pPr algn="l" marL="342900" indent="-342900">
              <a:spcAft>
                <a:spcPts val="1000"/>
              </a:spcAft>
              <a:buSzPct val="100000"/>
              <a:buChar char="•"/>
            </a:pPr>
            <a:r>
              <a:rPr lang="en-US" sz="2000" dirty="0">
                <a:solidFill>
                  <a:srgbClr val="141413"/>
                </a:solidFill>
                <a:latin typeface="Calibri" pitchFamily="34" charset="0"/>
                <a:ea typeface="Calibri" pitchFamily="34" charset="-122"/>
                <a:cs typeface="Calibri" pitchFamily="34" charset="-120"/>
              </a:rPr>
              <a:t>The workshops and the integrated project</a:t>
            </a:r>
            <a:endParaRPr lang="en-US" sz="2000" dirty="0"/>
          </a:p>
        </p:txBody>
      </p:sp>
      <p:sp>
        <p:nvSpPr>
          <p:cNvPr id="11" name="footer"/>
          <p:cNvSpPr/>
          <p:nvPr/>
        </p:nvSpPr>
        <p:spPr>
          <a:xfrm>
            <a:off x="548640" y="5486400"/>
            <a:ext cx="11091672" cy="685800"/>
          </a:xfrm>
          <a:prstGeom prst="roundRect">
            <a:avLst>
              <a:gd name="adj" fmla="val 160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914400" y="5486400"/>
            <a:ext cx="10360152" cy="685800"/>
          </a:xfrm>
          <a:prstGeom prst="rect">
            <a:avLst/>
          </a:prstGeom>
          <a:noFill/>
          <a:ln/>
        </p:spPr>
        <p:txBody>
          <a:bodyPr wrap="square" lIns="0" tIns="0" rIns="0" bIns="0" rtlCol="0" anchor="ctr">
            <a:normAutofit/>
          </a:bodyPr>
          <a:lstStyle/>
          <a:p>
            <a:pPr algn="l" indent="0" marL="0">
              <a:buNone/>
            </a:pPr>
            <a:r>
              <a:rPr lang="en-US" sz="1900" dirty="0">
                <a:solidFill>
                  <a:srgbClr val="FFFFFF"/>
                </a:solidFill>
                <a:latin typeface="Calibri" pitchFamily="34" charset="0"/>
                <a:ea typeface="Calibri" pitchFamily="34" charset="-122"/>
                <a:cs typeface="Calibri" pitchFamily="34" charset="-120"/>
              </a:rPr>
              <a:t>The approach comes from the University of Sydney · UAE University requires disclosure and treats undisclosed use as plagiarism</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professional framework and the UAE context</a:t>
            </a:r>
            <a:endParaRPr lang="en-US" sz="3800" dirty="0"/>
          </a:p>
        </p:txBody>
      </p:sp>
      <p:sp>
        <p:nvSpPr>
          <p:cNvPr id="3" name="Text 1"/>
          <p:cNvSpPr txBox="1"/>
          <p:nvPr/>
        </p:nvSpPr>
        <p:spPr>
          <a:xfrm>
            <a:off x="548640" y="1554480"/>
            <a:ext cx="5605272" cy="4389120"/>
          </a:xfrm>
          <a:prstGeom prst="rect">
            <a:avLst/>
          </a:prstGeom>
          <a:noFill/>
          <a:ln/>
        </p:spPr>
        <p:txBody>
          <a:bodyPr wrap="square" lIns="0" tIns="0" rIns="0" bIns="0" rtlCol="0" anchor="t">
            <a:normAutofit/>
          </a:bodyPr>
          <a:lstStyle/>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UNESCO's competency framework for teachers (2024): five dimensions including ethics and pedagogy, and three levels: acquire, deepen, create.</a:t>
            </a:r>
            <a:endParaRPr lang="en-US" sz="2200" dirty="0"/>
          </a:p>
          <a:p>
            <a:pPr algn="l" indent="0" marL="0">
              <a:spcAft>
                <a:spcPts val="1400"/>
              </a:spcAft>
              <a:buNone/>
            </a:pPr>
            <a:r>
              <a:rPr lang="en-US" sz="2200" dirty="0">
                <a:solidFill>
                  <a:srgbClr val="141413"/>
                </a:solidFill>
                <a:latin typeface="Calibri" pitchFamily="34" charset="0"/>
                <a:ea typeface="Calibri" pitchFamily="34" charset="-122"/>
                <a:cs typeface="Calibri" pitchFamily="34" charset="-120"/>
              </a:rPr>
              <a:t>Ministry of Education: an AI curriculum from kindergarten to Grade 12 starting from 2025 – 2026.</a:t>
            </a:r>
            <a:endParaRPr lang="en-US" sz="2200" dirty="0"/>
          </a:p>
        </p:txBody>
      </p:sp>
      <p:sp>
        <p:nvSpPr>
          <p:cNvPr id="4" name="stat"/>
          <p:cNvSpPr/>
          <p:nvPr/>
        </p:nvSpPr>
        <p:spPr>
          <a:xfrm>
            <a:off x="6611112" y="1554480"/>
            <a:ext cx="5029200" cy="4389120"/>
          </a:xfrm>
          <a:prstGeom prst="roundRect">
            <a:avLst>
              <a:gd name="adj" fmla="val 2500"/>
            </a:avLst>
          </a:prstGeom>
          <a:solidFill>
            <a:srgbClr val="141413"/>
          </a:solidFill>
          <a:ln w="12700">
            <a:solidFill>
              <a:srgbClr val="141413"/>
            </a:solidFill>
            <a:prstDash val="solid"/>
          </a:ln>
          <a:effectLst>
            <a:outerShdw sx="100000" sy="100000" kx="0" ky="0" algn="bl" rotWithShape="0" blurRad="76200" dist="25400" dir="5400000">
              <a:srgbClr val="000000">
                <a:alpha val="8000"/>
              </a:srgbClr>
            </a:outerShdw>
          </a:effectLst>
        </p:spPr>
      </p:sp>
      <p:sp>
        <p:nvSpPr>
          <p:cNvPr id="5" name="Text 3"/>
          <p:cNvSpPr txBox="1"/>
          <p:nvPr/>
        </p:nvSpPr>
        <p:spPr>
          <a:xfrm>
            <a:off x="6976872" y="1828800"/>
            <a:ext cx="4297680" cy="731520"/>
          </a:xfrm>
          <a:prstGeom prst="rect">
            <a:avLst/>
          </a:prstGeom>
          <a:noFill/>
          <a:ln/>
        </p:spPr>
        <p:txBody>
          <a:bodyPr wrap="square" lIns="0" tIns="0" rIns="0" bIns="0" rtlCol="0" anchor="t">
            <a:normAutofit/>
          </a:bodyPr>
          <a:lstStyle/>
          <a:p>
            <a:pPr algn="l" indent="0" marL="0">
              <a:buNone/>
            </a:pPr>
            <a:r>
              <a:rPr lang="en-US" sz="2400" dirty="0">
                <a:solidFill>
                  <a:srgbClr val="B0AEA5"/>
                </a:solidFill>
                <a:latin typeface="Calibri" pitchFamily="34" charset="0"/>
                <a:ea typeface="Calibri" pitchFamily="34" charset="-122"/>
                <a:cs typeface="Calibri" pitchFamily="34" charset="-120"/>
              </a:rPr>
              <a:t>competencies in the UNESCO framework</a:t>
            </a:r>
            <a:endParaRPr lang="en-US" sz="2400" dirty="0"/>
          </a:p>
        </p:txBody>
      </p:sp>
      <p:sp>
        <p:nvSpPr>
          <p:cNvPr id="6" name="Text 4"/>
          <p:cNvSpPr txBox="1"/>
          <p:nvPr/>
        </p:nvSpPr>
        <p:spPr>
          <a:xfrm>
            <a:off x="6976872" y="2560320"/>
            <a:ext cx="4297680" cy="1280160"/>
          </a:xfrm>
          <a:prstGeom prst="rect">
            <a:avLst/>
          </a:prstGeom>
          <a:noFill/>
          <a:ln/>
        </p:spPr>
        <p:txBody>
          <a:bodyPr wrap="square" lIns="0" tIns="0" rIns="0" bIns="0" rtlCol="0" anchor="ctr"/>
          <a:lstStyle/>
          <a:p>
            <a:pPr algn="l" indent="0" marL="0">
              <a:buNone/>
            </a:pPr>
            <a:r>
              <a:rPr lang="en-US" sz="7200" b="1" dirty="0">
                <a:solidFill>
                  <a:srgbClr val="D97757"/>
                </a:solidFill>
                <a:latin typeface="Calibri" pitchFamily="34" charset="0"/>
                <a:ea typeface="Calibri" pitchFamily="34" charset="-122"/>
                <a:cs typeface="Calibri" pitchFamily="34" charset="-120"/>
              </a:rPr>
              <a:t>15</a:t>
            </a:r>
            <a:endParaRPr lang="en-US" sz="7200" dirty="0"/>
          </a:p>
        </p:txBody>
      </p:sp>
      <p:sp>
        <p:nvSpPr>
          <p:cNvPr id="7" name="Text 5"/>
          <p:cNvSpPr txBox="1"/>
          <p:nvPr/>
        </p:nvSpPr>
        <p:spPr>
          <a:xfrm>
            <a:off x="6976872" y="3977640"/>
            <a:ext cx="4297680" cy="1737360"/>
          </a:xfrm>
          <a:prstGeom prst="rect">
            <a:avLst/>
          </a:prstGeom>
          <a:noFill/>
          <a:ln/>
        </p:spPr>
        <p:txBody>
          <a:bodyPr wrap="square" lIns="0" tIns="0" rIns="0" bIns="0" rtlCol="0" anchor="t">
            <a:normAutofit/>
          </a:bodyPr>
          <a:lstStyle/>
          <a:p>
            <a:pPr algn="l" indent="0" marL="0">
              <a:buNone/>
            </a:pPr>
            <a:r>
              <a:rPr lang="en-US" sz="2000" dirty="0">
                <a:solidFill>
                  <a:srgbClr val="FFFFFF"/>
                </a:solidFill>
                <a:latin typeface="Calibri" pitchFamily="34" charset="0"/>
                <a:ea typeface="Calibri" pitchFamily="34" charset="-122"/>
                <a:cs typeface="Calibri" pitchFamily="34" charset="-120"/>
              </a:rPr>
              <a:t>distributed across 5 dimensions and 3 levels</a:t>
            </a:r>
            <a:endParaRPr lang="en-US" sz="20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Five rules for effective prompts</a:t>
            </a:r>
            <a:endParaRPr lang="en-US" sz="3800" dirty="0"/>
          </a:p>
        </p:txBody>
      </p:sp>
      <p:graphicFrame>
        <p:nvGraphicFramePr>
          <p:cNvPr id="17" name="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3476494"/>
                <a:gridCol w="7615178"/>
              </a:tblGrid>
              <a:tr h="50292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Rule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Example</a:t>
                      </a:r>
                      <a:endParaRPr lang="en-US" sz="19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141413"/>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Context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Grade 5, outcome on comparing fractions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Role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Act as a critic looking for flaws in the items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Constraints</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5 items, four options, no negative wording</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Format</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Table: item, outcome, cognitive level</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r h="502920">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Justification or code</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41413"/>
                          </a:solidFill>
                          <a:latin typeface="Calibri" pitchFamily="34" charset="0"/>
                          <a:ea typeface="Calibri" pitchFamily="34" charset="-122"/>
                          <a:cs typeface="Calibri" pitchFamily="34" charset="-120"/>
                        </a:rPr>
                        <a:t>Show the code you used to calculate the mean</a:t>
                      </a:r>
                      <a:endParaRPr lang="en-US" sz="1800" dirty="0">
                        <a:latin typeface="Calibri" charset="0"/>
                        <a:ea typeface="Calibri" charset="0"/>
                        <a:cs typeface="Calibri" charset="0"/>
                      </a:endParaRPr>
                    </a:p>
                  </a:txBody>
                  <a:tcPr marL="101600" marR="101600" marT="50800" marB="50800" anchor="ctr">
                    <a:lnL w="9525" cap="flat" cmpd="sng" algn="ctr">
                      <a:solidFill>
                        <a:srgbClr val="E8E6DC"/>
                      </a:solidFill>
                      <a:prstDash val="solid"/>
                      <a:round/>
                      <a:headEnd type="none" w="med" len="med"/>
                      <a:tailEnd type="none" w="med" len="med"/>
                    </a:lnL>
                    <a:lnR w="9525" cap="flat" cmpd="sng" algn="ctr">
                      <a:solidFill>
                        <a:srgbClr val="E8E6DC"/>
                      </a:solidFill>
                      <a:prstDash val="solid"/>
                      <a:round/>
                      <a:headEnd type="none" w="med" len="med"/>
                      <a:tailEnd type="none" w="med" len="med"/>
                    </a:lnR>
                    <a:lnT w="9525" cap="flat" cmpd="sng" algn="ctr">
                      <a:solidFill>
                        <a:srgbClr val="E8E6DC"/>
                      </a:solidFill>
                      <a:prstDash val="solid"/>
                      <a:round/>
                      <a:headEnd type="none" w="med" len="med"/>
                      <a:tailEnd type="none" w="med" len="med"/>
                    </a:lnT>
                    <a:lnB w="9525" cap="flat" cmpd="sng" algn="ctr">
                      <a:solidFill>
                        <a:srgbClr val="E8E6DC"/>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806440"/>
            <a:ext cx="11091672"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Compare: «Write me a fractions test» versus a prompt that applies the five rules</a:t>
            </a:r>
            <a:endParaRPr lang="en-US" sz="17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822960"/>
          </a:xfrm>
          <a:prstGeom prst="rect">
            <a:avLst/>
          </a:prstGeom>
          <a:noFill/>
          <a:ln/>
        </p:spPr>
        <p:txBody>
          <a:bodyPr wrap="square" lIns="0" tIns="0" rIns="0" bIns="0" rtlCol="0" anchor="ctr"/>
          <a:lstStyle/>
          <a:p>
            <a:pPr algn="l" indent="0" marL="0">
              <a:buNone/>
            </a:pPr>
            <a:r>
              <a:rPr lang="en-US" sz="3800" b="1" dirty="0">
                <a:solidFill>
                  <a:srgbClr val="141413"/>
                </a:solidFill>
                <a:latin typeface="Calibri" pitchFamily="34" charset="0"/>
                <a:ea typeface="Calibri" pitchFamily="34" charset="-122"/>
                <a:cs typeface="Calibri" pitchFamily="34" charset="-120"/>
              </a:rPr>
              <a:t>The workshop: five steps in 70 minutes</a:t>
            </a:r>
            <a:endParaRPr lang="en-US" sz="3800" dirty="0"/>
          </a:p>
        </p:txBody>
      </p:sp>
      <p:sp>
        <p:nvSpPr>
          <p:cNvPr id="3" name="step-1"/>
          <p:cNvSpPr/>
          <p:nvPr/>
        </p:nvSpPr>
        <p:spPr>
          <a:xfrm>
            <a:off x="548640"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4" name="Text 2"/>
          <p:cNvSpPr txBox="1"/>
          <p:nvPr/>
        </p:nvSpPr>
        <p:spPr>
          <a:xfrm>
            <a:off x="777240"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1</a:t>
            </a:r>
            <a:endParaRPr lang="en-US" sz="4000" dirty="0"/>
          </a:p>
        </p:txBody>
      </p:sp>
      <p:sp>
        <p:nvSpPr>
          <p:cNvPr id="5" name="Text 3"/>
          <p:cNvSpPr txBox="1"/>
          <p:nvPr/>
        </p:nvSpPr>
        <p:spPr>
          <a:xfrm>
            <a:off x="2371039"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15 min</a:t>
            </a:r>
            <a:endParaRPr lang="en-US" sz="1700" dirty="0"/>
          </a:p>
        </p:txBody>
      </p:sp>
      <p:sp>
        <p:nvSpPr>
          <p:cNvPr id="6" name="Text 4"/>
          <p:cNvSpPr txBox="1"/>
          <p:nvPr/>
        </p:nvSpPr>
        <p:spPr>
          <a:xfrm>
            <a:off x="777240"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Set up the course project in Claude</a:t>
            </a:r>
            <a:endParaRPr lang="en-US" sz="2100" dirty="0"/>
          </a:p>
        </p:txBody>
      </p:sp>
      <p:sp>
        <p:nvSpPr>
          <p:cNvPr id="7" name="step-2"/>
          <p:cNvSpPr/>
          <p:nvPr/>
        </p:nvSpPr>
        <p:spPr>
          <a:xfrm>
            <a:off x="4336999"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8" name="Text 6"/>
          <p:cNvSpPr txBox="1"/>
          <p:nvPr/>
        </p:nvSpPr>
        <p:spPr>
          <a:xfrm>
            <a:off x="4565599"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2</a:t>
            </a:r>
            <a:endParaRPr lang="en-US" sz="4000" dirty="0"/>
          </a:p>
        </p:txBody>
      </p:sp>
      <p:sp>
        <p:nvSpPr>
          <p:cNvPr id="9" name="Text 7"/>
          <p:cNvSpPr txBox="1"/>
          <p:nvPr/>
        </p:nvSpPr>
        <p:spPr>
          <a:xfrm>
            <a:off x="6160313"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10 min</a:t>
            </a:r>
            <a:endParaRPr lang="en-US" sz="1700" dirty="0"/>
          </a:p>
        </p:txBody>
      </p:sp>
      <p:sp>
        <p:nvSpPr>
          <p:cNvPr id="10" name="Text 8"/>
          <p:cNvSpPr txBox="1"/>
          <p:nvPr/>
        </p:nvSpPr>
        <p:spPr>
          <a:xfrm>
            <a:off x="4565599"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Apply the five rules to a weak prompt</a:t>
            </a:r>
            <a:endParaRPr lang="en-US" sz="2100" dirty="0"/>
          </a:p>
        </p:txBody>
      </p:sp>
      <p:sp>
        <p:nvSpPr>
          <p:cNvPr id="11" name="step-3"/>
          <p:cNvSpPr/>
          <p:nvPr/>
        </p:nvSpPr>
        <p:spPr>
          <a:xfrm>
            <a:off x="8126273" y="150876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2" name="Text 10"/>
          <p:cNvSpPr txBox="1"/>
          <p:nvPr/>
        </p:nvSpPr>
        <p:spPr>
          <a:xfrm>
            <a:off x="8354873" y="169164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3</a:t>
            </a:r>
            <a:endParaRPr lang="en-US" sz="4000" dirty="0"/>
          </a:p>
        </p:txBody>
      </p:sp>
      <p:sp>
        <p:nvSpPr>
          <p:cNvPr id="13" name="Text 11"/>
          <p:cNvSpPr txBox="1"/>
          <p:nvPr/>
        </p:nvSpPr>
        <p:spPr>
          <a:xfrm>
            <a:off x="9948672" y="182880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20 min</a:t>
            </a:r>
            <a:endParaRPr lang="en-US" sz="1700" dirty="0"/>
          </a:p>
        </p:txBody>
      </p:sp>
      <p:sp>
        <p:nvSpPr>
          <p:cNvPr id="14" name="Text 12"/>
          <p:cNvSpPr txBox="1"/>
          <p:nvPr/>
        </p:nvSpPr>
        <p:spPr>
          <a:xfrm>
            <a:off x="8354873" y="246888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A Socratic dialogue, then verify Claude's claims</a:t>
            </a:r>
            <a:endParaRPr lang="en-US" sz="2100" dirty="0"/>
          </a:p>
        </p:txBody>
      </p:sp>
      <p:sp>
        <p:nvSpPr>
          <p:cNvPr id="15" name="step-4"/>
          <p:cNvSpPr/>
          <p:nvPr/>
        </p:nvSpPr>
        <p:spPr>
          <a:xfrm>
            <a:off x="548640"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16" name="Text 14"/>
          <p:cNvSpPr txBox="1"/>
          <p:nvPr/>
        </p:nvSpPr>
        <p:spPr>
          <a:xfrm>
            <a:off x="777240"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4</a:t>
            </a:r>
            <a:endParaRPr lang="en-US" sz="4000" dirty="0"/>
          </a:p>
        </p:txBody>
      </p:sp>
      <p:sp>
        <p:nvSpPr>
          <p:cNvPr id="17" name="Text 15"/>
          <p:cNvSpPr txBox="1"/>
          <p:nvPr/>
        </p:nvSpPr>
        <p:spPr>
          <a:xfrm>
            <a:off x="2371039"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20 min</a:t>
            </a:r>
            <a:endParaRPr lang="en-US" sz="1700" dirty="0"/>
          </a:p>
        </p:txBody>
      </p:sp>
      <p:sp>
        <p:nvSpPr>
          <p:cNvPr id="18" name="Text 16"/>
          <p:cNvSpPr txBox="1"/>
          <p:nvPr/>
        </p:nvSpPr>
        <p:spPr>
          <a:xfrm>
            <a:off x="777240"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Classify 5 tasks from your class; the remaining three are homework</a:t>
            </a:r>
            <a:endParaRPr lang="en-US" sz="2100" dirty="0"/>
          </a:p>
        </p:txBody>
      </p:sp>
      <p:sp>
        <p:nvSpPr>
          <p:cNvPr id="19" name="step-5"/>
          <p:cNvSpPr/>
          <p:nvPr/>
        </p:nvSpPr>
        <p:spPr>
          <a:xfrm>
            <a:off x="4336999" y="3749040"/>
            <a:ext cx="3514344" cy="1965960"/>
          </a:xfrm>
          <a:prstGeom prst="roundRect">
            <a:avLst>
              <a:gd name="adj" fmla="val 5581"/>
            </a:avLst>
          </a:prstGeom>
          <a:solidFill>
            <a:srgbClr val="FFFFFF"/>
          </a:solidFill>
          <a:ln w="12700">
            <a:solidFill>
              <a:srgbClr val="FFFFFF"/>
            </a:solidFill>
            <a:prstDash val="solid"/>
          </a:ln>
          <a:effectLst>
            <a:outerShdw sx="100000" sy="100000" kx="0" ky="0" algn="bl" rotWithShape="0" blurRad="76200" dist="25400" dir="5400000">
              <a:srgbClr val="000000">
                <a:alpha val="8000"/>
              </a:srgbClr>
            </a:outerShdw>
          </a:effectLst>
        </p:spPr>
      </p:sp>
      <p:sp>
        <p:nvSpPr>
          <p:cNvPr id="20" name="Text 18"/>
          <p:cNvSpPr txBox="1"/>
          <p:nvPr/>
        </p:nvSpPr>
        <p:spPr>
          <a:xfrm>
            <a:off x="4565599" y="3931920"/>
            <a:ext cx="640080" cy="731520"/>
          </a:xfrm>
          <a:prstGeom prst="rect">
            <a:avLst/>
          </a:prstGeom>
          <a:noFill/>
          <a:ln/>
        </p:spPr>
        <p:txBody>
          <a:bodyPr wrap="square" lIns="0" tIns="0" rIns="0" bIns="0" rtlCol="0" anchor="ctr"/>
          <a:lstStyle/>
          <a:p>
            <a:pPr algn="l" indent="0" marL="0">
              <a:buNone/>
            </a:pPr>
            <a:r>
              <a:rPr lang="en-US" sz="4000" b="1" dirty="0">
                <a:solidFill>
                  <a:srgbClr val="D97757"/>
                </a:solidFill>
                <a:latin typeface="Calibri" pitchFamily="34" charset="0"/>
                <a:ea typeface="Calibri" pitchFamily="34" charset="-122"/>
                <a:cs typeface="Calibri" pitchFamily="34" charset="-120"/>
              </a:rPr>
              <a:t>5</a:t>
            </a:r>
            <a:endParaRPr lang="en-US" sz="4000" dirty="0"/>
          </a:p>
        </p:txBody>
      </p:sp>
      <p:sp>
        <p:nvSpPr>
          <p:cNvPr id="21" name="Text 19"/>
          <p:cNvSpPr txBox="1"/>
          <p:nvPr/>
        </p:nvSpPr>
        <p:spPr>
          <a:xfrm>
            <a:off x="6160313" y="4069080"/>
            <a:ext cx="1463040" cy="457200"/>
          </a:xfrm>
          <a:prstGeom prst="rect">
            <a:avLst/>
          </a:prstGeom>
          <a:noFill/>
          <a:ln/>
        </p:spPr>
        <p:txBody>
          <a:bodyPr wrap="square" lIns="0" tIns="0" rIns="0" bIns="0" rtlCol="0" anchor="t">
            <a:normAutofit/>
          </a:bodyPr>
          <a:lstStyle/>
          <a:p>
            <a:pPr algn="l" indent="0" marL="0">
              <a:buNone/>
            </a:pPr>
            <a:r>
              <a:rPr lang="en-US" sz="1700" dirty="0">
                <a:solidFill>
                  <a:srgbClr val="B0AEA5"/>
                </a:solidFill>
                <a:latin typeface="Calibri" pitchFamily="34" charset="0"/>
                <a:ea typeface="Calibri" pitchFamily="34" charset="-122"/>
                <a:cs typeface="Calibri" pitchFamily="34" charset="-120"/>
              </a:rPr>
              <a:t>5 min</a:t>
            </a:r>
            <a:endParaRPr lang="en-US" sz="1700" dirty="0"/>
          </a:p>
        </p:txBody>
      </p:sp>
      <p:sp>
        <p:nvSpPr>
          <p:cNvPr id="22" name="Text 20"/>
          <p:cNvSpPr txBox="1"/>
          <p:nvPr/>
        </p:nvSpPr>
        <p:spPr>
          <a:xfrm>
            <a:off x="4565599" y="4709160"/>
            <a:ext cx="3057144" cy="868680"/>
          </a:xfrm>
          <a:prstGeom prst="rect">
            <a:avLst/>
          </a:prstGeom>
          <a:noFill/>
          <a:ln/>
        </p:spPr>
        <p:txBody>
          <a:bodyPr wrap="square" lIns="0" tIns="0" rIns="0" bIns="0" rtlCol="0" anchor="t">
            <a:normAutofit/>
          </a:bodyPr>
          <a:lstStyle/>
          <a:p>
            <a:pPr algn="l" indent="0" marL="0">
              <a:buNone/>
            </a:pPr>
            <a:r>
              <a:rPr lang="en-US" sz="2100" b="1" dirty="0">
                <a:solidFill>
                  <a:srgbClr val="141413"/>
                </a:solidFill>
                <a:latin typeface="Calibri" pitchFamily="34" charset="0"/>
                <a:ea typeface="Calibri" pitchFamily="34" charset="-122"/>
                <a:cs typeface="Calibri" pitchFamily="34" charset="-120"/>
              </a:rPr>
              <a:t>Sign the Responsible AI Use Pledge</a:t>
            </a:r>
            <a:endParaRPr lang="en-US" sz="2100" dirty="0"/>
          </a:p>
        </p:txBody>
      </p:sp>
      <p:sp>
        <p:nvSpPr>
          <p:cNvPr id="23" name="Text 21"/>
          <p:cNvSpPr txBox="1"/>
          <p:nvPr/>
        </p:nvSpPr>
        <p:spPr>
          <a:xfrm>
            <a:off x="548640" y="5897880"/>
            <a:ext cx="11091672" cy="411480"/>
          </a:xfrm>
          <a:prstGeom prst="rect">
            <a:avLst/>
          </a:prstGeom>
          <a:noFill/>
          <a:ln/>
        </p:spPr>
        <p:txBody>
          <a:bodyPr wrap="square" lIns="0" tIns="0" rIns="0" bIns="0" rtlCol="0" anchor="t">
            <a:normAutofit/>
          </a:bodyPr>
          <a:lstStyle/>
          <a:p>
            <a:pPr algn="l" indent="0" marL="0">
              <a:buNone/>
            </a:pPr>
            <a:r>
              <a:rPr lang="en-US" sz="1800" dirty="0">
                <a:solidFill>
                  <a:srgbClr val="B0AEA5"/>
                </a:solidFill>
                <a:latin typeface="Calibri" pitchFamily="34" charset="0"/>
                <a:ea typeface="Calibri" pitchFamily="34" charset="-122"/>
                <a:cs typeface="Calibri" pitchFamily="34" charset="-120"/>
              </a:rPr>
              <a:t>Do not upload any file containing real students' names</a:t>
            </a:r>
            <a:endParaRPr lang="en-US" sz="18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548640" y="822960"/>
            <a:ext cx="11091672" cy="640080"/>
          </a:xfrm>
          <a:prstGeom prst="rect">
            <a:avLst/>
          </a:prstGeom>
          <a:noFill/>
          <a:ln/>
        </p:spPr>
        <p:txBody>
          <a:bodyPr wrap="square" lIns="0" tIns="0" rIns="0" bIns="0" rtlCol="0" anchor="t">
            <a:normAutofit/>
          </a:bodyPr>
          <a:lstStyle/>
          <a:p>
            <a:pPr algn="l" indent="0" marL="0">
              <a:buNone/>
            </a:pPr>
            <a:r>
              <a:rPr lang="en-US" sz="2800" b="1" dirty="0">
                <a:solidFill>
                  <a:srgbClr val="D97757"/>
                </a:solidFill>
                <a:latin typeface="Calibri" pitchFamily="34" charset="0"/>
                <a:ea typeface="Calibri" pitchFamily="34" charset="-122"/>
                <a:cs typeface="Calibri" pitchFamily="34" charset="-120"/>
              </a:rPr>
              <a:t>Before you leave</a:t>
            </a:r>
            <a:endParaRPr lang="en-US" sz="2800" dirty="0"/>
          </a:p>
        </p:txBody>
      </p:sp>
      <p:sp>
        <p:nvSpPr>
          <p:cNvPr id="3" name="Text 1"/>
          <p:cNvSpPr txBox="1"/>
          <p:nvPr/>
        </p:nvSpPr>
        <p:spPr>
          <a:xfrm>
            <a:off x="548640" y="1463040"/>
            <a:ext cx="11091672" cy="1371600"/>
          </a:xfrm>
          <a:prstGeom prst="rect">
            <a:avLst/>
          </a:prstGeom>
          <a:noFill/>
          <a:ln/>
        </p:spPr>
        <p:txBody>
          <a:bodyPr wrap="square" lIns="0" tIns="0" rIns="0" bIns="0" rtlCol="0" anchor="ctr">
            <a:normAutofit/>
          </a:bodyPr>
          <a:lstStyle/>
          <a:p>
            <a:pPr algn="l" indent="0" marL="0">
              <a:buNone/>
            </a:pPr>
            <a:r>
              <a:rPr lang="en-US" sz="4800" b="1" dirty="0">
                <a:solidFill>
                  <a:srgbClr val="FFFFFF"/>
                </a:solidFill>
                <a:latin typeface="Calibri" pitchFamily="34" charset="0"/>
                <a:ea typeface="Calibri" pitchFamily="34" charset="-122"/>
                <a:cs typeface="Calibri" pitchFamily="34" charset="-120"/>
              </a:rPr>
              <a:t>Measurement gives a number; evaluation gives a decision</a:t>
            </a:r>
            <a:endParaRPr lang="en-US" sz="4800" dirty="0"/>
          </a:p>
        </p:txBody>
      </p:sp>
      <p:sp>
        <p:nvSpPr>
          <p:cNvPr id="4" name="Shape 2"/>
          <p:cNvSpPr/>
          <p:nvPr/>
        </p:nvSpPr>
        <p:spPr>
          <a:xfrm>
            <a:off x="548640" y="3200400"/>
            <a:ext cx="3453384" cy="2377440"/>
          </a:xfrm>
          <a:prstGeom prst="roundRect">
            <a:avLst>
              <a:gd name="adj" fmla="val 4615"/>
            </a:avLst>
          </a:prstGeom>
          <a:solidFill>
            <a:srgbClr val="2A2A28"/>
          </a:solidFill>
          <a:ln w="12700">
            <a:solidFill>
              <a:srgbClr val="2A2A28"/>
            </a:solidFill>
            <a:prstDash val="solid"/>
          </a:ln>
        </p:spPr>
      </p:sp>
      <p:sp>
        <p:nvSpPr>
          <p:cNvPr id="5" name="Text 3"/>
          <p:cNvSpPr txBox="1"/>
          <p:nvPr/>
        </p:nvSpPr>
        <p:spPr>
          <a:xfrm>
            <a:off x="822960"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Exit ticket</a:t>
            </a:r>
            <a:endParaRPr lang="en-US" sz="2500" dirty="0"/>
          </a:p>
        </p:txBody>
      </p:sp>
      <p:sp>
        <p:nvSpPr>
          <p:cNvPr id="6" name="Text 4"/>
          <p:cNvSpPr txBox="1"/>
          <p:nvPr/>
        </p:nvSpPr>
        <p:spPr>
          <a:xfrm>
            <a:off x="822960"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8 questions without AI · 15 minutes</a:t>
            </a:r>
            <a:endParaRPr lang="en-US" sz="1900" dirty="0"/>
          </a:p>
        </p:txBody>
      </p:sp>
      <p:sp>
        <p:nvSpPr>
          <p:cNvPr id="7" name="Shape 5"/>
          <p:cNvSpPr/>
          <p:nvPr/>
        </p:nvSpPr>
        <p:spPr>
          <a:xfrm>
            <a:off x="4368089" y="3200400"/>
            <a:ext cx="3453384" cy="2377440"/>
          </a:xfrm>
          <a:prstGeom prst="roundRect">
            <a:avLst>
              <a:gd name="adj" fmla="val 4615"/>
            </a:avLst>
          </a:prstGeom>
          <a:solidFill>
            <a:srgbClr val="2A2A28"/>
          </a:solidFill>
          <a:ln w="12700">
            <a:solidFill>
              <a:srgbClr val="2A2A28"/>
            </a:solidFill>
            <a:prstDash val="solid"/>
          </a:ln>
        </p:spPr>
      </p:sp>
      <p:sp>
        <p:nvSpPr>
          <p:cNvPr id="8" name="Text 6"/>
          <p:cNvSpPr txBox="1"/>
          <p:nvPr/>
        </p:nvSpPr>
        <p:spPr>
          <a:xfrm>
            <a:off x="4642409"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Portfolio</a:t>
            </a:r>
            <a:endParaRPr lang="en-US" sz="2500" dirty="0"/>
          </a:p>
        </p:txBody>
      </p:sp>
      <p:sp>
        <p:nvSpPr>
          <p:cNvPr id="9" name="Text 7"/>
          <p:cNvSpPr txBox="1"/>
          <p:nvPr/>
        </p:nvSpPr>
        <p:spPr>
          <a:xfrm>
            <a:off x="4642409"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The signed pledge and the task classification table: 5 in class and 3 as homework</a:t>
            </a:r>
            <a:endParaRPr lang="en-US" sz="1900" dirty="0"/>
          </a:p>
        </p:txBody>
      </p:sp>
      <p:sp>
        <p:nvSpPr>
          <p:cNvPr id="10" name="Shape 8"/>
          <p:cNvSpPr/>
          <p:nvPr/>
        </p:nvSpPr>
        <p:spPr>
          <a:xfrm>
            <a:off x="8186623" y="3200400"/>
            <a:ext cx="3453384" cy="2377440"/>
          </a:xfrm>
          <a:prstGeom prst="roundRect">
            <a:avLst>
              <a:gd name="adj" fmla="val 4615"/>
            </a:avLst>
          </a:prstGeom>
          <a:solidFill>
            <a:srgbClr val="2A2A28"/>
          </a:solidFill>
          <a:ln w="12700">
            <a:solidFill>
              <a:srgbClr val="2A2A28"/>
            </a:solidFill>
            <a:prstDash val="solid"/>
          </a:ln>
        </p:spPr>
      </p:sp>
      <p:sp>
        <p:nvSpPr>
          <p:cNvPr id="11" name="Text 9"/>
          <p:cNvSpPr txBox="1"/>
          <p:nvPr/>
        </p:nvSpPr>
        <p:spPr>
          <a:xfrm>
            <a:off x="8460943" y="3429000"/>
            <a:ext cx="2904744" cy="731520"/>
          </a:xfrm>
          <a:prstGeom prst="rect">
            <a:avLst/>
          </a:prstGeom>
          <a:noFill/>
          <a:ln/>
        </p:spPr>
        <p:txBody>
          <a:bodyPr wrap="square" lIns="0" tIns="0" rIns="0" bIns="0" rtlCol="0" anchor="t">
            <a:normAutofit/>
          </a:bodyPr>
          <a:lstStyle/>
          <a:p>
            <a:pPr algn="l" indent="0" marL="0">
              <a:buNone/>
            </a:pPr>
            <a:r>
              <a:rPr lang="en-US" sz="2500" b="1" dirty="0">
                <a:solidFill>
                  <a:srgbClr val="D97757"/>
                </a:solidFill>
                <a:latin typeface="Calibri" pitchFamily="34" charset="0"/>
                <a:ea typeface="Calibri" pitchFamily="34" charset="-122"/>
                <a:cs typeface="Calibri" pitchFamily="34" charset="-120"/>
              </a:rPr>
              <a:t>Week 2</a:t>
            </a:r>
            <a:endParaRPr lang="en-US" sz="2500" dirty="0"/>
          </a:p>
        </p:txBody>
      </p:sp>
      <p:sp>
        <p:nvSpPr>
          <p:cNvPr id="12" name="Text 10"/>
          <p:cNvSpPr txBox="1"/>
          <p:nvPr/>
        </p:nvSpPr>
        <p:spPr>
          <a:xfrm>
            <a:off x="8460943" y="4160520"/>
            <a:ext cx="2904744" cy="1280160"/>
          </a:xfrm>
          <a:prstGeom prst="rect">
            <a:avLst/>
          </a:prstGeom>
          <a:noFill/>
          <a:ln/>
        </p:spPr>
        <p:txBody>
          <a:bodyPr wrap="square" lIns="0" tIns="0" rIns="0" bIns="0" rtlCol="0" anchor="t">
            <a:normAutofit/>
          </a:bodyPr>
          <a:lstStyle/>
          <a:p>
            <a:pPr algn="l" indent="0" marL="0">
              <a:buNone/>
            </a:pPr>
            <a:r>
              <a:rPr lang="en-US" sz="1900" dirty="0">
                <a:solidFill>
                  <a:srgbClr val="E8E6DC"/>
                </a:solidFill>
                <a:latin typeface="Calibri" pitchFamily="34" charset="0"/>
                <a:ea typeface="Calibri" pitchFamily="34" charset="-122"/>
                <a:cs typeface="Calibri" pitchFamily="34" charset="-120"/>
              </a:rPr>
              <a:t>Diagnostic, formative and summative assessment · Note down an assessment problem from your class</a:t>
            </a:r>
            <a:endParaRPr lang="en-US" sz="1900" dirty="0"/>
          </a:p>
        </p:txBody>
      </p:sp>
      <p:sp>
        <p:nvSpPr>
          <p:cNvPr id="25" name="Slide Number Placeholder 0"/>
          <p:cNvSpPr>
            <a:spLocks noGrp="1"/>
          </p:cNvSpPr>
          <p:nvPr>
            <p:ph type="sldNum" sz="quarter" idx="4294967295"/>
          </p:nvPr>
        </p:nvSpPr>
        <p:spPr>
          <a:xfrm>
            <a:off x="11274552" y="635508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0AEA5"/>
                </a:solidFill>
                <a:latin typeface="Calibri"/>
                <a:ea typeface="Calibri"/>
                <a:cs typeface="Calibri"/>
              </a:defRPr>
            </a:lvl1pPr>
          </a:lstStyle>
          <a:p>
            <a:pPr algn="l"/>
            <a:fld id="{F7021451-1387-4CA6-816F-3879F97B5CBC}" type="slidenum">
              <a:rPr b="0" lang="en-US"/>
              <a:t>18</a:t>
            </a:fld>
            <a:endParaRPr lang="en-US"/>
          </a:p>
        </p:txBody>
      </p:sp>
    </p:spTree>
  </p:cSld>
  <p:clrMapOvr>
    <a:masterClrMapping/>
  </p:clrMapOvr>
</p:sld>
</file>

<file path=ppt/theme/theme1.xml><?xml version="1.0" encoding="utf-8"?>
<a:theme xmlns:a="http://schemas.openxmlformats.org/drawingml/2006/main" name="Anthropic English">
  <a:themeElements>
    <a:clrScheme name="Anthropic English">
      <a:dk1>
        <a:srgbClr val="141413"/>
      </a:dk1>
      <a:lt1>
        <a:srgbClr val="FFFFFF"/>
      </a:lt1>
      <a:dk2>
        <a:srgbClr val="141413"/>
      </a:dk2>
      <a:lt2>
        <a:srgbClr val="FAF9F5"/>
      </a:lt2>
      <a:accent1>
        <a:srgbClr val="D97757"/>
      </a:accent1>
      <a:accent2>
        <a:srgbClr val="6A9BCC"/>
      </a:accent2>
      <a:accent3>
        <a:srgbClr val="788C5D"/>
      </a:accent3>
      <a:accent4>
        <a:srgbClr val="B0AEA5"/>
      </a:accent4>
      <a:accent5>
        <a:srgbClr val="E8E6DC"/>
      </a:accent5>
      <a:accent6>
        <a:srgbClr val="141413"/>
      </a:accent6>
      <a:hlink>
        <a:srgbClr val="6A9BCC"/>
      </a:hlink>
      <a:folHlink>
        <a:srgbClr val="788C5D"/>
      </a:folHlink>
    </a:clrScheme>
    <a:fontScheme name="Anthropic English">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18</Slides>
  <Notes>18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18</vt:i4>
      </vt:variant>
    </vt:vector>
  </HeadingPairs>
  <TitlesOfParts>
    <vt:vector size="21"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1</dc:title>
  <dc:subject>PptxGenJS Presentation</dc:subject>
  <dc:creator>PptxGenJS</dc:creator>
  <cp:lastModifiedBy>PptxGenJS</cp:lastModifiedBy>
  <cp:revision>1</cp:revision>
  <dcterms:created xsi:type="dcterms:W3CDTF">2026-10-15T04:05:59Z</dcterms:created>
  <dcterms:modified xsi:type="dcterms:W3CDTF">2026-10-15T04:05:59Z</dcterms:modified>
</cp:coreProperties>
</file>