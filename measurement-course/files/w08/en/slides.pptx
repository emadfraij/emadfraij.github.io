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b27d909-6832-9c9b-d855-6065e60e7c4b}">
          <p14:sldIdLst>
            <p14:sldId id="256"/>
            <p14:sldId id="257"/>
          </p14:sldIdLst>
        </p14:section>
        <p14:section name="Content" id="{103607aa-dc8a-f359-a9cc-cf77c28fe35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losing" id="{ff1de63e-ce97-9ae9-15e0-99ce87326337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sub-scores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Exact agreement</c:v>
                  </c:pt>
                  <c:pt idx="1">
                    <c:v>Exact or adjacent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</c:v>
                </c:pt>
                <c:pt idx="1">
                  <c:v>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test and the break, we start with a practical question: how do we give a written response a score that two scorers agree on? Today's product is a calibrated rubric that feeds into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response is R7. Collect the students' estimates on the board without comment, and return to them at the end of the lecture: the benchmark score is 2 out of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the test blueprint in Week 6: where are the outcomes that a multiple-choice item does not measure?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rubric is written together with the task, not after reading the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if the rubric were holistic, would we have seen that R6 is strong in steps and weak in explanation?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Brookhart (2013) prefers the general rubric in formative assessment because students learn its criteria through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read the twelve descriptors in the file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exercise: rewrite "a good and convincing explanation" to make it observable.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consequences to the five sources of validity evidence in the international Standards (2014).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Week 4: 100% adjacent agreement with a kappa of 0.41. Adjacent agreement alone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fourth index: the number of responses whose total differs from the benchmark by two or more points, because the student receives the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together: six differences, all −1, one in variables, two in steps and three in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reveal the benchmark scores now. Only ask them to score one criterion across all responses before moving on to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what faculty say and what they do is the subject of the workshop. About 74,000 conversations, with assessing student performance about 7%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opens the benchmark scores sheet before Step 5. Make sure the individual scoring was done before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now, then the Phase 2 task. Return to the R7 numbers on the board: the benchmark is 2 out of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Constructed-Response Items and Rubrics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score what the student writes fairly and consistently?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is a chemical reaction between iron, oxygen and water. Salt increases the speed of this reaction, which is why iron objects near the sea rust faster.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design an experiment, identify the variables and explain. How much out of 9 would you give this response?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task again: what was asked for and not written?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constructed-response items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word, a number or a sentence. Scored with a key of acceptable answers.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response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paragraphs showing thinking: a design, an explanation or a justification. Scored with a rubric.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we use them?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outcome needs production rather than recognition, especially at the Reasoning level.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cost: a narrower sample of content, longer scoring time, and weaker inter-rater agreement.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task that states the expectation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wording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you know about the rusting of iron and salt water.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does not know what will be assessed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task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experiment to test the statement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variables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expected result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explicit verbs, and each verb corresponds to a criterion in the rubric.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or holistic rubric?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for each criterion, then the total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the strengths and weaknesses lie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and suits formative assessment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score for the whole response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score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weakness may be lost inside a general impression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rubric is analytic: 3 criteria from 0 to 3, and the total is out of 9.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or task-specific?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rubric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Suits a family of tasks, and is announced to students before the task without revealing the answer.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rubric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expected content itself, so it raises inter-rater agreement, but it is not announced before the test.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rubric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almost general criteria, and the explanation criterion is task-specific because it names the rusting mechanism.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rubric: what distinguishes the higher level</a:t>
            </a:r>
            <a:endParaRPr lang="en-US" sz="3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033473"/>
                <a:gridCol w="3974516"/>
                <a:gridCol w="5083683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and 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and dependent, and one constant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two or more constants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steps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Workable, with a way of observing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Repeatable, a duration, and clear measurement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explanation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mechanism, and that salt speeds it 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suggests how the results would confirm or refute 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rubric is in the "Rubric" sheet in the Excel file.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descriptors (Brookhart, 2013)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descriptor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understanding of variables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and convincing explanation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long paragraph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descriptor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independent and dependent variables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rusting to the reaction of iron with oxygen and water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a duration and a way of measuring the rust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Observable, descriptive not evaluative, distinct from its neighbour, describing quality not length.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quality: Jonsson and Svingby (2007)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under conditions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rises with a task-specific analytic rubric, anchor responses, and scorer training.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does not come on its own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rubric may measure length or language rather than the outcome. We review its criteria against the outcome.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Announcing the criteria clarifies expectations and supports self-assessment. And a rubric that rewards length teaches padding.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calibration: agreement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each sub-score with the benchmark: 8 responses × 3 criteria = 24 sub-scores.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% = identical sub-scores / 24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adjacent agreement: the proportion of scores whose difference does not exceed one point. We do not recalculate kappa from Week 4: the number is small and our purpose is diagnostic.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leniency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criterion: we subtract the benchmark score from the scorer's score, and take the mean over the eight responses.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 = Σ(scorer − reference) / 8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is leniency, and negative is severity. And zero may hide leniency and severity that cancel each other out.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hypothetical scorer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out of 24 exact, and 24 out of 24 adjacent.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difference: −0.13, −0.25 and −0.38.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severe, most severe on explanation, and one response whose total fell by two points.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traps in the workshop responses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806667"/>
                <a:gridCol w="6352503"/>
                <a:gridCol w="393250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contains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about ships without an experiment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off-task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steps and a weak explanation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Halo effect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fluent explanation without an experiment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Rewarding fluency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variables and explanation, and "I put them in and watch"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descriptor boundary between 1 and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responses were written for the course as a training sample; they are not from real students.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with Claude: fast, but it needs calibration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drift between two conversations, be lenient towards length and fluency, and miss a scientific error.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the human is the decision-maker, Claude is calibrated like any new scorer, and it is asked to quote the evidence for each criterion.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grading conversations were automation-oriented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faculty rated grading the weakest of AI's tasks (Anthropic, August 2025)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workshop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rubric before the responses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alone without any tool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scores, quoting the evidence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Claude's evidence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three in Excel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disagreement and amend a descriptor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benchmark scores from the copy you upload to Claude.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take with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task first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verbs that correspond to the rubric criteria, and the rubric is written with the task, not after the responses.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criterion on its own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Observable, distinct descriptors and evidence from the text for every score protect against halo and fluency.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 new scorer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calibrated with exact and adjacent agreement and the mean difference, and the decision stays yours.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</dc:title>
  <dc:subject>PptxGenJS Presentation</dc:subject>
  <dc:creator>PptxGenJS</dc:creator>
  <cp:lastModifiedBy>PptxGenJS</cp:lastModifiedBy>
  <cp:revision>1</cp:revision>
  <dcterms:created xsi:type="dcterms:W3CDTF">2026-10-15T04:06:11Z</dcterms:created>
  <dcterms:modified xsi:type="dcterms:W3CDTF">2026-10-15T04:06:11Z</dcterms:modified>
</cp:coreProperties>
</file>