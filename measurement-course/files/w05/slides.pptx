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356d7fca-da76-3d3d-9e32-3f8bd3b7a314}">
          <p14:sldIdLst>
            <p14:sldId id="256"/>
            <p14:sldId id="257"/>
          </p14:sldIdLst>
        </p14:section>
        <p14:section name="المحتوى" id="{052efc70-01a5-e4f8-d3df-9328824aa2c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263ee7c3-5de5-6351-831f-3817d7072c48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الفرق الخام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فقرة أ</c:v>
                  </c:pt>
                  <c:pt idx="1">
                    <c:v>فقرة ب</c:v>
                  </c:pt>
                  <c:pt idx="2">
                    <c:v>فقرة ج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0.12</c:v>
                </c:pt>
                <c:pt idx="1">
                  <c:v>-0.02</c:v>
                </c:pt>
                <c:pt idx="2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مؤشر التوحيد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فقرة أ</c:v>
                  </c:pt>
                  <c:pt idx="1">
                    <c:v>فقرة ب</c:v>
                  </c:pt>
                  <c:pt idx="2">
                    <c:v>فقرة ج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0.01</c:v>
                </c:pt>
                <c:pt idx="1">
                  <c:v>-0.11</c:v>
                </c:pt>
                <c:pt idx="2">
                  <c:v>0.15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نبدأ بسؤال عملي: متى يكون الفرق بين مجموعتين دليلاً على تحيّز الاختبار؟ في نهاية المحاضرة سنحكم على فقرات حقيقية الشكل.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اترك الطلبة يتناقشون في أزواج دقيقتين. اجمع ثلاث إجابات دون تعليق، وعد إليها في آخر المحاضرة.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بالأسبوع 3: التباين الذي لا يرتبط بالبنية. إذا قاست درجة الرياضيات القراءة أيضاً، فتفسيرها أضعف لمن يقرأ بلغة ليست لغته.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مثالاً من صفوف الطلبة لكل مصدر. نبّه إلى أن اللغة جزء من المهارة في اختبار القراءة، وليست كذلك في اختبار الرياضيات.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أهم فكرة في الأسبوع. اطلب من طالب أن يعيد التشبيه بكلماته قبل الانتقال.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البيانات محاكاة وليست لطلبة حقيقيين. الفرق في المستوى حقيقي في البيانات، والاختبار العادل يجب أن يُظهره.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هذا هو فرق المستوى الذي نضبطه. داخل كل فئة نقارن نسبة الصواب بين المجموعتين.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دورانز وكوليك (1986). حل المثال الافتراضي في القسم 5.1 على السبورة: الناتج −0.09 تقريباً.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الحدان في ورقة المقارنة المضبوطة بجوار عنواني «حد يستحق الفحص» و«حد فرق كبير». يُحدَّدان قبل التحليل، ولا يُعدَّلان لتوافق نتيجة نريدها.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المجموعة المركّز عليها في هذا المثال أقوى عموماً. اسأل: أي فقرة كنتم ستتهمونها من الأعمدة الخام وحدها؟ وأي فقرة كانت ستفوتكم؟ ثم ابحثوا عن النمطين في ملف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الأرقام افتراضية. لا تكشف نتائج الملف هنا: سيكتشف الطلبة في المشغل هل في البيانات فقرة من هذا النمط.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قد يكون الفرق في فرص التعلم لا في الفقرة، وعلاجه حينئذ في التدريس. في المشغل سيراجع الطلبة مع كلود فقرات من هذه الأنماط.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أخطر ما في التعديل أن نصلح التحيّز فنفسد القياس: مسألة من خطوتين تصبح خطوة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مخاطر محتملة تُفحص في كل مخرَج، لا نتائج مؤكدة في كل مرة. كل فقرة يولّدها كلود تمر بالمراجعة نفسها.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قراءة النص بصوت مرتفع تسهيل في الرياضيات، وتعديل في اختبار القراءة. القاعدة: ما الذي أقيسه؟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بالقاعدة: كلود يقترح، والطالب يحكم ويوثّق، والبيانات تفصل.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عد إلى شكوى ولي الأمر في الافتتاح. ثم تذكرة الخروج. الأسبوع القادم: نواتج التعلم وجدول المواصفات.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العدالة والتحيّز ومخاطر الذكاء الاصطناعي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تعامل الفقرة كل الطلبة بالعدل نفسه؟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أغلب فقرات الاختبار أجاب طلبة لغة البيت غير العربية أفضل من زملائهم. ولي أمر يشتكي: الاختبار منحاز.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هل تقبل الشكوى؟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لو كانت هذه المجموعة أقوى في الرياضيات أصلاً؟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العدالة جزء من الصدق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المعاملة أثناء التطبيق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تعليمات واحدة، ووقت مناسب، وظروف لا تميّز مجموعة على أخرى.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غياب التحيّز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ألا تعمل الفقرة بصورة مختلفة لمجموعة معيّنة من الطلبة.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الوصول إلى ما يُقاس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ألا تحجب لغة أو صيغة أو إعاقة ما يعرفه الطالب فعلاً.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تفسير صحيح لكل فرد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 يصح معنى الدرجة للطالب الفرد، لا للمتوسط العام فقط.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المعايير الدولية للاختبارات التربوية والنفسية (2014)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مصادر للتحيّز في الفقرات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العبء اللغوي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جمل طويلة، مبني للمجهول، ألفاظ نادرة، أعداد بالحروف.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السياق الثقافي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وحدات أو مواقف أو عادات مألوفة لمجموعة دون أخرى.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الصيغة غير المألوفة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تمثيل أو رمز أو نوع سؤال لم يتدرّب عليه بعض الطلبة.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عوائق الوصول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 صغير، وقت غير كافٍ، رسم غير واضح، غياب تسهيل.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السؤال الحاسم دائماً: هل هذا العنصر جزء مما أريد قياسه؟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الخام ليس تحيّزاً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الأثر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فرق في نسبة الصواب بين مجموعتين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يراعي مستوى الطلبة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 يعكس فرقاً حقيقياً في المستوى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الأداء التفاضلي للفقرة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طلبة من المستوى نفسه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يختلف أداؤهم لأنهم من مجموعتين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هذا ما نسميه تحيّزاً محتملاً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عدّاءان متساويان يتأخر أحدهما دائماً في مضمار واحد: المشكلة في المضمار. الفقرة هي المضمار.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بيانات المشغل: محاكاة لاختبار رياضيات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فقرة، و480 طالباً: 300 لغة البيت لديهم العربية، و180 لغة البيت لديهم غير العربية.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متوسط الدرجة الكلية 9.32 للعربية و10.41 لغير العربية. المجموعة المركّز عليها أقوى قليلاً.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فرق المتوسطين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لصالح لغة البيت غير العربية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نقارن طلبة المستوى نفسه: خمس فئات</a:t>
            </a:r>
            <a:endParaRPr lang="en-US" sz="3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485954"/>
                <a:gridCol w="2218334"/>
                <a:gridCol w="538738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غير العربية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العربية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فئة الدرجة الكلية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– 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– 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– 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– 20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طلبة العربية يتركّزون في الفئات الدنيا، وغير العربية موزعون بالتساوي تقريباً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 التوحيد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كل فئة نطرح صواب المجموعة المرجعية من صواب المجموعة المركّز عليها، ثم نأخذ متوسطاً موزوناً.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= Σ n_f (p_f − p_r) / Σ n_f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الوزن عدد طلبة المجموعة المركّز عليها في كل فئة. السالب: الفقرة أصعب عليها من نظرائها.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حدود إرشادية لا قوانين</a:t>
            </a:r>
            <a:endParaRPr lang="en-US" sz="3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4159377"/>
                <a:gridCol w="2772918"/>
                <a:gridCol w="4159377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الإجراء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الحكم في الملف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القيمة المطلقة للمؤشر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لا إجراء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مهمل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أقل من 0.05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قراءة متأنية ومتابعة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يستحق الفحص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– 0.10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مراجعة المحتوى واللغة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فرق كبير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أكثر من 0.10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 نحو 36 طالباً في كل فئة قد يظهر فرق قريب من 0.05 بالصدفة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 افتراضي: ماذا يفعل الضبط؟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أرقام افتراضية للتوضيح، وليست من ملف المشغل.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أ: فرق خام كبير يختفي بعد الضبط. الفقرتان ب وج تتجاوزان 0.10 بالقيمة المطلقة بعد الضبط.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الفقرة ب: تحيّز أخفاه فرق المستوى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فرقها الخام −0.02 فقط، فلا يلفت النظر في المقارنة الخام.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المجموعة المركّز عليها أقوى، فالمتوقع أن تتفوّق. تساوي المجموعتين يخفي صعوبة إضافية عليها في هذه الفقرة.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بعد الضبط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 افتراضي، من −0.02 قبل الضبط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أنماط شائعة في المراجعة</a:t>
            </a:r>
            <a:endParaRPr lang="en-US" sz="38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3961311"/>
                <a:gridCol w="4753574"/>
                <a:gridCol w="2376787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الفرضية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كيف يبدو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النمط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تقيس القراءة مع الرياضيات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مسألة لفظية طويلة بلغة معقدة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عبء لغوي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 السياق شرط خفي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سوق شعبي ووحدة غير معرّفة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سياق ثقافي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ألفة الصيغة لا المهارة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مصطلح أو تمثيل من منهج دون آخر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صيغة غير مألوفة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الفرضيات فرضيات، والعدالة تعمل في الاتجاهين: فقرة تحابي مجموعة غير عادلة مع الأخرى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الإشارة ليست حكماً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الإحصاء يقول أين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مؤشر التوحيد يحدد الفقرات التي تحتاج إلى نظر، ولا يفسّر السبب.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المراجعة تقول لماذا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لغة؟ سياق؟ صيغة؟ أم فرق حقيقي في فرص التعلم؟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التعديل يحفظ المهارة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الخطوات نفسها، والأعداد نفسها، والإجابة نفسها، ثم إعادة التجريب.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مخاطر الذكاء الاصطناعي على العدالة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تحيّز في المخرجات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صور نمطية محتملة في الفقرات والتغذية الراجعة المولّدة.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عدم تكافؤ الوصول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أداة أفضل أو تدريب أسبق يمنح ميزة لا علاقة لها بالتعلم.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الخصوصية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أسماء ولا أرقام هوية، وأقل قدر من البيانات يكفي للمهمة.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الاعتماد المفرط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حكم كلود بأن فقرة عادلة رأي يحتاج إلى دليل.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إرشادات اليونسكو للذكاء الاصطناعي التوليدي في التعليم والبحث (2023)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العدالة في الصف: تسهيل أم تعديل؟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تسهيل يحفظ المهارة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وقت إضافي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 أكبر ومكان هادئ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قراءة نص مسألة رياضية بصوت مرتفع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تعديل يغيّر المهارة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فقرات أقل صعوبة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حذف خطوة من المسألة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آلة حاسبة في اختبار الحساب الذهني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التصميم الشامل واللغة الواضحة يزيلان كثيراً من العوائق قبل التطبيق.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مشغل اليوم مع كلود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الاتهام الأول من المقارنة الخام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المقارنة المضبوطة والتحقق اليدوي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مراجعة ثلاث فقرات مع كلود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التحقق من حفظ المهارة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تقرير عدالة الفقرات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صور نمطية في مسائل مولّدة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مستوى استخدام الذكاء الاصطناعي 2: تعاون موثّق. لا حاجة إلى رفع ملف الإكسل.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الفرق ليس تحيّزاً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قارن طلبة المستوى نفسه قبل أن تتهم أي فقرة.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الإشارة دعوة إلى المراجعة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الرقم يقول أين تنظر، والمراجعة تقول لماذا، والتعديل يحفظ المهارة.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يوسّع نظرك ولا يحكم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راجع مخرجاته بالمعايير نفسها، ووثّق ما قبلته وما رفضته.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5</dc:title>
  <dc:subject>PptxGenJS Presentation</dc:subject>
  <dc:creator>PptxGenJS</dc:creator>
  <cp:lastModifiedBy>PptxGenJS</cp:lastModifiedBy>
  <cp:revision>1</cp:revision>
  <dcterms:created xsi:type="dcterms:W3CDTF">2026-10-07T19:24:47Z</dcterms:created>
  <dcterms:modified xsi:type="dcterms:W3CDTF">2026-10-07T19:24:47Z</dcterms:modified>
</cp:coreProperties>
</file>