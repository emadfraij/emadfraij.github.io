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e628941-b113-64a2-a257-79c5dbdd1b63}">
          <p14:sldIdLst>
            <p14:sldId id="256"/>
            <p14:sldId id="257"/>
          </p14:sldIdLst>
        </p14:section>
        <p14:section name="Content" id="{556ce5a5-f2ad-d6ce-15f7-8dde728d4444}">
          <p14:sldIdLst>
            <p14:sldId id="258"/>
            <p14:sldId id="259"/>
            <p14:sldId id="260"/>
            <p14:sldId id="261"/>
            <p14:sldId id="262"/>
            <p14:sldId id="263"/>
            <p14:sldId id="264"/>
            <p14:sldId id="265"/>
            <p14:sldId id="266"/>
            <p14:sldId id="267"/>
            <p14:sldId id="268"/>
            <p14:sldId id="269"/>
            <p14:sldId id="270"/>
            <p14:sldId id="271"/>
          </p14:sldIdLst>
        </p14:section>
        <p14:section name="Closing" id="{28186fc6-55f6-0381-5819-ebb2aee53fd1}">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Raw difference</c:v>
                </c:pt>
              </c:strCache>
            </c:strRef>
          </c:tx>
          <c:spPr>
            <a:solidFill>
              <a:srgbClr val="D97757"/>
            </a:solidFill>
            <a:effectLst/>
          </c:spPr>
          <c:invertIfNegative val="0"/>
          <c:dLbls>
            <c:numFmt formatCode="0.00" sourceLinked="0"/>
            <c:txPr>
              <a:bodyPr/>
              <a:lstStyle/>
              <a:p>
                <a:pPr>
                  <a:defRPr b="0" i="0" strike="noStrike" sz="1200" u="none">
                    <a:solidFill>
                      <a:srgbClr val="141413"/>
                    </a:solidFill>
                    <a:latin typeface="+mn-lt"/>
                  </a:defRPr>
                </a:pPr>
              </a:p>
            </c:txPr>
            <c:showLegendKey val="0"/>
            <c:showVal val="1"/>
            <c:showCatName val="0"/>
            <c:showSerName val="0"/>
            <c:showPercent val="0"/>
            <c:showBubbleSize val="0"/>
            <c:showLeaderLines val="0"/>
          </c:dLbls>
          <c:cat>
            <c:multiLvlStrRef>
              <c:f>Sheet1!$A$2:$A$4</c:f>
              <c:multiLvlStrCache>
                <c:ptCount val="3"/>
                <c:lvl>
                  <c:pt idx="0">
                    <c:v>Item A</c:v>
                  </c:pt>
                  <c:pt idx="1">
                    <c:v>Item B</c:v>
                  </c:pt>
                  <c:pt idx="2">
                    <c:v>Item C</c:v>
                  </c:pt>
                </c:lvl>
              </c:multiLvlStrCache>
            </c:multiLvlStrRef>
          </c:cat>
          <c:val>
            <c:numRef>
              <c:f>Sheet1!$B$2:$B$4</c:f>
              <c:numCache>
                <c:formatCode>General</c:formatCode>
                <c:ptCount val="3"/>
                <c:pt idx="0">
                  <c:v>0.12</c:v>
                </c:pt>
                <c:pt idx="1">
                  <c:v>-0.02</c:v>
                </c:pt>
                <c:pt idx="2">
                  <c:v>0.2</c:v>
                </c:pt>
              </c:numCache>
            </c:numRef>
          </c:val>
        </c:ser>
        <c:ser>
          <c:idx val="1"/>
          <c:order val="1"/>
          <c:tx>
            <c:strRef>
              <c:f>Sheet1!$C$1</c:f>
              <c:strCache>
                <c:ptCount val="1"/>
                <c:pt idx="0">
                  <c:v>Standardization index</c:v>
                </c:pt>
              </c:strCache>
            </c:strRef>
          </c:tx>
          <c:spPr>
            <a:solidFill>
              <a:srgbClr val="B0AEA5"/>
            </a:solidFill>
            <a:effectLst/>
          </c:spPr>
          <c:invertIfNegative val="0"/>
          <c:dLbls>
            <c:numFmt formatCode="0.00" sourceLinked="0"/>
            <c:txPr>
              <a:bodyPr/>
              <a:lstStyle/>
              <a:p>
                <a:pPr>
                  <a:defRPr b="0" i="0" strike="noStrike" sz="1200" u="none">
                    <a:solidFill>
                      <a:srgbClr val="141413"/>
                    </a:solidFill>
                    <a:latin typeface="+mn-lt"/>
                  </a:defRPr>
                </a:pPr>
              </a:p>
            </c:txPr>
            <c:showLegendKey val="0"/>
            <c:showVal val="1"/>
            <c:showCatName val="0"/>
            <c:showSerName val="0"/>
            <c:showPercent val="0"/>
            <c:showBubbleSize val="0"/>
            <c:showLeaderLines val="0"/>
          </c:dLbls>
          <c:cat>
            <c:multiLvlStrRef>
              <c:f>Sheet1!$A$2:$A$4</c:f>
              <c:multiLvlStrCache>
                <c:ptCount val="3"/>
                <c:lvl>
                  <c:pt idx="0">
                    <c:v>Item A</c:v>
                  </c:pt>
                  <c:pt idx="1">
                    <c:v>Item B</c:v>
                  </c:pt>
                  <c:pt idx="2">
                    <c:v>Item C</c:v>
                  </c:pt>
                </c:lvl>
              </c:multiLvlStrCache>
            </c:multiLvlStrRef>
          </c:cat>
          <c:val>
            <c:numRef>
              <c:f>Sheet1!$C$2:$C$4</c:f>
              <c:numCache>
                <c:formatCode>General</c:formatCode>
                <c:ptCount val="3"/>
                <c:pt idx="0">
                  <c:v>0.01</c:v>
                </c:pt>
                <c:pt idx="1">
                  <c:v>-0.11</c:v>
                </c:pt>
                <c:pt idx="2">
                  <c:v>0.15</c:v>
                </c:pt>
              </c:numCache>
            </c:numRef>
          </c:val>
        </c:ser>
        <c:dLbls>
          <c:numFmt formatCode="0.00" sourceLinked="0"/>
          <c:txPr>
            <a:bodyPr/>
            <a:lstStyle/>
            <a:p>
              <a:pPr>
                <a:defRPr b="0" i="0" strike="noStrike" sz="1200" u="none">
                  <a:solidFill>
                    <a:srgbClr val="14141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141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6D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B0AEA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with a practical question: when is a difference between two groups evidence that the test is biased? By the end of the lecture we will judge realistic-looking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discuss in pairs for two minutes. Collect three answers without comment, and return to them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Week 3: construct-irrelevant variance. If a mathematics score also measures reading, its interpretation is weaker for someone reading in a language that is not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an example from the students' own classes for each source. Point out that language is part of the skill in a reading test, but not in a mathematics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idea of the week. Ask a student to restate the analogy in their own words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are simulated, not from real students. The ability difference is real in the data, and a fair test should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ability difference we control for. Within each band we compare the proportion correct between the two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Dorans and Kulick (1986). Solve the hypothetical example in section 5.1 on the board: the result is about −0.09.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thresholds are in the Matched comparison sheet next to the labels "Worth examining" threshold and "Large difference" threshold. They are set before the analysis, and are not adjusted to fit a result we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the focal group is generally stronger. Ask: which item would you have accused from the raw bars alone? And which item would you have missed? Then look for the two patterns in the workshop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are hypothetical. Do not reveal the file's results here: students will discover in the workshop whether the data contain an item of this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 may lie in opportunity to learn rather than in the item, and the remedy is then in teaching. In the workshop, students will review items of these patterns with 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greatest danger in revision is that we fix the bias and spoil the measurement: a two-step problem becomes a single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potential risks to be checked in every output, not results confirmed every time. Every item Claude generates goes through the same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text aloud is an accommodation in mathematics, and a modification in a reading test. The rule: what am I measuring?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them of the rule: Claude proposes, the student judges and documents, and the data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parent's complaint from the opening. Then the exit ticket. Next week: learning outcomes and the test blueprint.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1413"/>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AF9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rtlCol="0"/>
          <a:lstStyle>
            <a:lvl1pPr algn="l" indent="0" marL="0">
              <a:buNone/>
              <a:defRPr lang="en-US" sz="3800" b="1" dirty="0">
                <a:solidFill>
                  <a:srgbClr val="141413"/>
                </a:solidFill>
                <a:latin typeface="Calibri" pitchFamily="34" charset="0"/>
                <a:ea typeface="Calibri" pitchFamily="34" charset="-122"/>
                <a:cs typeface="Calibri" pitchFamily="34" charset="-120"/>
              </a:defRPr>
            </a:lvl1pPr>
          </a:lstStyle>
          <a:p>
            <a:pPr algn="l" indent="0" marL="0">
              <a:buNone/>
            </a:pPr>
            <a:endParaRPr lang="en-US" sz="3800" dirty="0"/>
          </a:p>
        </p:txBody>
      </p:sp>
      <p:sp>
        <p:nvSpPr>
          <p:cNvPr id="3" name="Text 0"/>
          <p:cNvSpPr/>
          <p:nvPr/>
        </p:nvSpPr>
        <p:spPr>
          <a:xfrm>
            <a:off x="548640" y="6355080"/>
            <a:ext cx="5696712" cy="274320"/>
          </a:xfrm>
          <a:prstGeom prst="rect">
            <a:avLst/>
          </a:prstGeom>
          <a:noFill/>
          <a:ln/>
        </p:spPr>
        <p:txBody>
          <a:bodyPr wrap="square" lIns="0" tIns="0" rIns="0" bIns="0" rtlCol="0" anchor="ctr"/>
          <a:lstStyle/>
          <a:p>
            <a:pPr algn="l" indent="0" marL="0">
              <a:buNone/>
            </a:pPr>
            <a:r>
              <a:rPr lang="en-US" sz="1200" dirty="0">
                <a:solidFill>
                  <a:srgbClr val="B0AEA5"/>
                </a:solidFill>
                <a:latin typeface="Calibri" pitchFamily="34" charset="0"/>
                <a:ea typeface="Calibri" pitchFamily="34" charset="-122"/>
                <a:cs typeface="Calibri" pitchFamily="34" charset="-120"/>
              </a:rPr>
              <a:t>Educational Measurement and Evaluation · Week 5</a:t>
            </a:r>
            <a:endParaRPr lang="en-US" sz="12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1091672" cy="640080"/>
          </a:xfrm>
          <a:prstGeom prst="rect">
            <a:avLst/>
          </a:prstGeom>
          <a:noFill/>
          <a:ln/>
        </p:spPr>
        <p:txBody>
          <a:bodyPr wrap="square" lIns="0" tIns="0" rIns="0" bIns="0" rtlCol="0" anchor="t">
            <a:normAutofit/>
          </a:bodyPr>
          <a:lstStyle/>
          <a:p>
            <a:pPr algn="l" indent="0" marL="0">
              <a:buNone/>
            </a:pPr>
            <a:r>
              <a:rPr lang="en-US" sz="2800" b="1" dirty="0">
                <a:solidFill>
                  <a:srgbClr val="D97757"/>
                </a:solidFill>
                <a:latin typeface="Calibri" pitchFamily="34" charset="0"/>
                <a:ea typeface="Calibri" pitchFamily="34" charset="-122"/>
                <a:cs typeface="Calibri" pitchFamily="34" charset="-120"/>
              </a:rPr>
              <a:t>Week 5</a:t>
            </a:r>
            <a:endParaRPr lang="en-US" sz="2800" dirty="0"/>
          </a:p>
        </p:txBody>
      </p:sp>
      <p:sp>
        <p:nvSpPr>
          <p:cNvPr id="3" name="Text 1"/>
          <p:cNvSpPr txBox="1"/>
          <p:nvPr/>
        </p:nvSpPr>
        <p:spPr>
          <a:xfrm>
            <a:off x="548640" y="2011680"/>
            <a:ext cx="11091672" cy="1645920"/>
          </a:xfrm>
          <a:prstGeom prst="rect">
            <a:avLst/>
          </a:prstGeom>
          <a:noFill/>
          <a:ln/>
        </p:spPr>
        <p:txBody>
          <a:bodyPr wrap="square" lIns="0" tIns="0" rIns="0" bIns="0" rtlCol="0" anchor="ctr">
            <a:normAutofit/>
          </a:bodyPr>
          <a:lstStyle/>
          <a:p>
            <a:pPr algn="l" indent="0" marL="0">
              <a:buNone/>
            </a:pPr>
            <a:r>
              <a:rPr lang="en-US" sz="5400" b="1" dirty="0">
                <a:solidFill>
                  <a:srgbClr val="FFFFFF"/>
                </a:solidFill>
                <a:latin typeface="Calibri" pitchFamily="34" charset="0"/>
                <a:ea typeface="Calibri" pitchFamily="34" charset="-122"/>
                <a:cs typeface="Calibri" pitchFamily="34" charset="-120"/>
              </a:rPr>
              <a:t>Fairness, Bias and the Risks of Artificial Intelligence</a:t>
            </a:r>
            <a:endParaRPr lang="en-US" sz="5400" dirty="0"/>
          </a:p>
        </p:txBody>
      </p:sp>
      <p:sp>
        <p:nvSpPr>
          <p:cNvPr id="4" name="Text 2"/>
          <p:cNvSpPr txBox="1"/>
          <p:nvPr/>
        </p:nvSpPr>
        <p:spPr>
          <a:xfrm>
            <a:off x="548640" y="3840480"/>
            <a:ext cx="11091672" cy="822960"/>
          </a:xfrm>
          <a:prstGeom prst="rect">
            <a:avLst/>
          </a:prstGeom>
          <a:noFill/>
          <a:ln/>
        </p:spPr>
        <p:txBody>
          <a:bodyPr wrap="square" lIns="0" tIns="0" rIns="0" bIns="0" rtlCol="0" anchor="t">
            <a:normAutofit/>
          </a:bodyPr>
          <a:lstStyle/>
          <a:p>
            <a:pPr algn="l" indent="0" marL="0">
              <a:buNone/>
            </a:pPr>
            <a:r>
              <a:rPr lang="en-US" sz="2400" dirty="0">
                <a:solidFill>
                  <a:srgbClr val="B0AEA5"/>
                </a:solidFill>
                <a:latin typeface="Calibri" pitchFamily="34" charset="0"/>
                <a:ea typeface="Calibri" pitchFamily="34" charset="-122"/>
                <a:cs typeface="Calibri" pitchFamily="34" charset="-120"/>
              </a:rPr>
              <a:t>Does the item treat all students equally fairly?</a:t>
            </a:r>
            <a:endParaRPr lang="en-US" sz="24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097280" cy="1280160"/>
          </a:xfrm>
          <a:prstGeom prst="rect">
            <a:avLst/>
          </a:prstGeom>
          <a:noFill/>
          <a:ln/>
        </p:spPr>
        <p:txBody>
          <a:bodyPr wrap="square" lIns="0" tIns="0" rIns="0" bIns="0" rtlCol="0" anchor="t">
            <a:normAutofit/>
          </a:bodyPr>
          <a:lstStyle/>
          <a:p>
            <a:pPr algn="l" indent="0" marL="0">
              <a:buNone/>
            </a:pPr>
            <a:r>
              <a:rPr lang="en-US" sz="12000" b="1" dirty="0">
                <a:solidFill>
                  <a:srgbClr val="D97757"/>
                </a:solidFill>
                <a:latin typeface="Calibri" pitchFamily="34" charset="0"/>
                <a:ea typeface="Calibri" pitchFamily="34" charset="-122"/>
                <a:cs typeface="Calibri" pitchFamily="34" charset="-120"/>
              </a:rPr>
              <a:t>“</a:t>
            </a:r>
            <a:endParaRPr lang="en-US" sz="12000" dirty="0"/>
          </a:p>
        </p:txBody>
      </p:sp>
      <p:sp>
        <p:nvSpPr>
          <p:cNvPr id="3" name="Text 1"/>
          <p:cNvSpPr txBox="1"/>
          <p:nvPr/>
        </p:nvSpPr>
        <p:spPr>
          <a:xfrm>
            <a:off x="548640" y="1463040"/>
            <a:ext cx="10543032" cy="2286000"/>
          </a:xfrm>
          <a:prstGeom prst="rect">
            <a:avLst/>
          </a:prstGeom>
          <a:noFill/>
          <a:ln/>
        </p:spPr>
        <p:txBody>
          <a:bodyPr wrap="square" lIns="0" tIns="0" rIns="0" bIns="0" rtlCol="0" anchor="ctr">
            <a:normAutofit/>
          </a:bodyPr>
          <a:lstStyle/>
          <a:p>
            <a:pPr algn="l" indent="0" marL="0">
              <a:buNone/>
            </a:pPr>
            <a:r>
              <a:rPr lang="en-US" sz="3400" dirty="0">
                <a:solidFill>
                  <a:srgbClr val="FFFFFF"/>
                </a:solidFill>
                <a:latin typeface="Calibri" pitchFamily="34" charset="0"/>
                <a:ea typeface="Calibri" pitchFamily="34" charset="-122"/>
                <a:cs typeface="Calibri" pitchFamily="34" charset="-120"/>
              </a:rPr>
              <a:t>On most test items, students whose home language is not Arabic answered better than their classmates. A parent complains: the test is biased.</a:t>
            </a:r>
            <a:endParaRPr lang="en-US" sz="3400" dirty="0"/>
          </a:p>
        </p:txBody>
      </p:sp>
      <p:sp>
        <p:nvSpPr>
          <p:cNvPr id="4" name="Text 2"/>
          <p:cNvSpPr txBox="1"/>
          <p:nvPr/>
        </p:nvSpPr>
        <p:spPr>
          <a:xfrm>
            <a:off x="548640" y="4023360"/>
            <a:ext cx="10543032" cy="914400"/>
          </a:xfrm>
          <a:prstGeom prst="rect">
            <a:avLst/>
          </a:prstGeom>
          <a:noFill/>
          <a:ln/>
        </p:spPr>
        <p:txBody>
          <a:bodyPr wrap="square" lIns="0" tIns="0" rIns="0" bIns="0" rtlCol="0" anchor="t">
            <a:normAutofit/>
          </a:bodyPr>
          <a:lstStyle/>
          <a:p>
            <a:pPr algn="l" indent="0" marL="0">
              <a:buNone/>
            </a:pPr>
            <a:r>
              <a:rPr lang="en-US" sz="3200" b="1" dirty="0">
                <a:solidFill>
                  <a:srgbClr val="D97757"/>
                </a:solidFill>
                <a:latin typeface="Calibri" pitchFamily="34" charset="0"/>
                <a:ea typeface="Calibri" pitchFamily="34" charset="-122"/>
                <a:cs typeface="Calibri" pitchFamily="34" charset="-120"/>
              </a:rPr>
              <a:t>Do you accept the complaint?</a:t>
            </a:r>
            <a:endParaRPr lang="en-US" sz="3200" dirty="0"/>
          </a:p>
        </p:txBody>
      </p:sp>
      <p:sp>
        <p:nvSpPr>
          <p:cNvPr id="5" name="Text 3"/>
          <p:cNvSpPr txBox="1"/>
          <p:nvPr/>
        </p:nvSpPr>
        <p:spPr>
          <a:xfrm>
            <a:off x="548640" y="5029200"/>
            <a:ext cx="10543032" cy="548640"/>
          </a:xfrm>
          <a:prstGeom prst="rect">
            <a:avLst/>
          </a:prstGeom>
          <a:noFill/>
          <a:ln/>
        </p:spPr>
        <p:txBody>
          <a:bodyPr wrap="square" lIns="0" tIns="0" rIns="0" bIns="0" rtlCol="0" anchor="t">
            <a:normAutofit/>
          </a:bodyPr>
          <a:lstStyle/>
          <a:p>
            <a:pPr algn="l" indent="0" marL="0">
              <a:buNone/>
            </a:pPr>
            <a:r>
              <a:rPr lang="en-US" sz="2000" dirty="0">
                <a:solidFill>
                  <a:srgbClr val="B0AEA5"/>
                </a:solidFill>
                <a:latin typeface="Calibri" pitchFamily="34" charset="0"/>
                <a:ea typeface="Calibri" pitchFamily="34" charset="-122"/>
                <a:cs typeface="Calibri" pitchFamily="34" charset="-120"/>
              </a:rPr>
              <a:t>What if this group is stronger in mathematics to begin with?</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Fairness is part of validity</a:t>
            </a:r>
            <a:endParaRPr lang="en-US" sz="3800" dirty="0"/>
          </a:p>
        </p:txBody>
      </p:sp>
      <p:sp>
        <p:nvSpPr>
          <p:cNvPr id="3" name="card-0"/>
          <p:cNvSpPr/>
          <p:nvPr/>
        </p:nvSpPr>
        <p:spPr>
          <a:xfrm>
            <a:off x="548640"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783080"/>
            <a:ext cx="457200" cy="457200"/>
          </a:xfrm>
          <a:prstGeom prst="ellipse">
            <a:avLst/>
          </a:prstGeom>
          <a:solidFill>
            <a:srgbClr val="D97757"/>
          </a:solidFill>
          <a:ln w="12700">
            <a:solidFill>
              <a:srgbClr val="D97757"/>
            </a:solidFill>
            <a:prstDash val="solid"/>
          </a:ln>
        </p:spPr>
      </p:sp>
      <p:sp>
        <p:nvSpPr>
          <p:cNvPr id="5" name="Text 3"/>
          <p:cNvSpPr txBox="1"/>
          <p:nvPr/>
        </p:nvSpPr>
        <p:spPr>
          <a:xfrm>
            <a:off x="777240"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Treatment during administration</a:t>
            </a:r>
            <a:endParaRPr lang="en-US" sz="2400" dirty="0"/>
          </a:p>
        </p:txBody>
      </p:sp>
      <p:sp>
        <p:nvSpPr>
          <p:cNvPr id="6" name="Text 4"/>
          <p:cNvSpPr txBox="1"/>
          <p:nvPr/>
        </p:nvSpPr>
        <p:spPr>
          <a:xfrm>
            <a:off x="777240"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The same instructions, appropriate time, and conditions that do not favour one group over another.</a:t>
            </a:r>
            <a:endParaRPr lang="en-US" sz="1800" dirty="0"/>
          </a:p>
        </p:txBody>
      </p:sp>
      <p:sp>
        <p:nvSpPr>
          <p:cNvPr id="7" name="card-1"/>
          <p:cNvSpPr/>
          <p:nvPr/>
        </p:nvSpPr>
        <p:spPr>
          <a:xfrm>
            <a:off x="3401568"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3721608" y="1783080"/>
            <a:ext cx="457200" cy="457200"/>
          </a:xfrm>
          <a:prstGeom prst="ellipse">
            <a:avLst/>
          </a:prstGeom>
          <a:solidFill>
            <a:srgbClr val="6A9BCC"/>
          </a:solidFill>
          <a:ln w="12700">
            <a:solidFill>
              <a:srgbClr val="6A9BCC"/>
            </a:solidFill>
            <a:prstDash val="solid"/>
          </a:ln>
        </p:spPr>
      </p:sp>
      <p:sp>
        <p:nvSpPr>
          <p:cNvPr id="9" name="Text 7"/>
          <p:cNvSpPr txBox="1"/>
          <p:nvPr/>
        </p:nvSpPr>
        <p:spPr>
          <a:xfrm>
            <a:off x="3630168"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Absence of bias</a:t>
            </a:r>
            <a:endParaRPr lang="en-US" sz="2400" dirty="0"/>
          </a:p>
        </p:txBody>
      </p:sp>
      <p:sp>
        <p:nvSpPr>
          <p:cNvPr id="10" name="Text 8"/>
          <p:cNvSpPr txBox="1"/>
          <p:nvPr/>
        </p:nvSpPr>
        <p:spPr>
          <a:xfrm>
            <a:off x="3630168"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That the item does not function differently for a particular group of students.</a:t>
            </a:r>
            <a:endParaRPr lang="en-US" sz="1800" dirty="0"/>
          </a:p>
        </p:txBody>
      </p:sp>
      <p:sp>
        <p:nvSpPr>
          <p:cNvPr id="11" name="card-2"/>
          <p:cNvSpPr/>
          <p:nvPr/>
        </p:nvSpPr>
        <p:spPr>
          <a:xfrm>
            <a:off x="6254496"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Shape 10"/>
          <p:cNvSpPr/>
          <p:nvPr/>
        </p:nvSpPr>
        <p:spPr>
          <a:xfrm>
            <a:off x="6574536" y="1783080"/>
            <a:ext cx="457200" cy="457200"/>
          </a:xfrm>
          <a:prstGeom prst="ellipse">
            <a:avLst/>
          </a:prstGeom>
          <a:solidFill>
            <a:srgbClr val="788C5D"/>
          </a:solidFill>
          <a:ln w="12700">
            <a:solidFill>
              <a:srgbClr val="788C5D"/>
            </a:solidFill>
            <a:prstDash val="solid"/>
          </a:ln>
        </p:spPr>
      </p:sp>
      <p:sp>
        <p:nvSpPr>
          <p:cNvPr id="13" name="Text 11"/>
          <p:cNvSpPr txBox="1"/>
          <p:nvPr/>
        </p:nvSpPr>
        <p:spPr>
          <a:xfrm>
            <a:off x="6483096"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Access to what is measured</a:t>
            </a:r>
            <a:endParaRPr lang="en-US" sz="2400" dirty="0"/>
          </a:p>
        </p:txBody>
      </p:sp>
      <p:sp>
        <p:nvSpPr>
          <p:cNvPr id="14" name="Text 12"/>
          <p:cNvSpPr txBox="1"/>
          <p:nvPr/>
        </p:nvSpPr>
        <p:spPr>
          <a:xfrm>
            <a:off x="6483096"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That language, format or disability does not obscure what the student actually knows.</a:t>
            </a:r>
            <a:endParaRPr lang="en-US" sz="1800" dirty="0"/>
          </a:p>
        </p:txBody>
      </p:sp>
      <p:sp>
        <p:nvSpPr>
          <p:cNvPr id="15" name="card-3"/>
          <p:cNvSpPr/>
          <p:nvPr/>
        </p:nvSpPr>
        <p:spPr>
          <a:xfrm>
            <a:off x="9107424"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6" name="Shape 14"/>
          <p:cNvSpPr/>
          <p:nvPr/>
        </p:nvSpPr>
        <p:spPr>
          <a:xfrm>
            <a:off x="9427464" y="1783080"/>
            <a:ext cx="457200" cy="457200"/>
          </a:xfrm>
          <a:prstGeom prst="ellipse">
            <a:avLst/>
          </a:prstGeom>
          <a:solidFill>
            <a:srgbClr val="B0AEA5"/>
          </a:solidFill>
          <a:ln w="12700">
            <a:solidFill>
              <a:srgbClr val="B0AEA5"/>
            </a:solidFill>
            <a:prstDash val="solid"/>
          </a:ln>
        </p:spPr>
      </p:sp>
      <p:sp>
        <p:nvSpPr>
          <p:cNvPr id="17" name="Text 15"/>
          <p:cNvSpPr txBox="1"/>
          <p:nvPr/>
        </p:nvSpPr>
        <p:spPr>
          <a:xfrm>
            <a:off x="9336024"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Valid interpretation for each individual</a:t>
            </a:r>
            <a:endParaRPr lang="en-US" sz="2400" dirty="0"/>
          </a:p>
        </p:txBody>
      </p:sp>
      <p:sp>
        <p:nvSpPr>
          <p:cNvPr id="18" name="Text 16"/>
          <p:cNvSpPr txBox="1"/>
          <p:nvPr/>
        </p:nvSpPr>
        <p:spPr>
          <a:xfrm>
            <a:off x="9336024"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That the meaning of the score holds for the individual student, not only for the overall mean.</a:t>
            </a:r>
            <a:endParaRPr lang="en-US" sz="1800" dirty="0"/>
          </a:p>
        </p:txBody>
      </p:sp>
      <p:sp>
        <p:nvSpPr>
          <p:cNvPr id="19" name="footer"/>
          <p:cNvSpPr/>
          <p:nvPr/>
        </p:nvSpPr>
        <p:spPr>
          <a:xfrm>
            <a:off x="548640" y="5349240"/>
            <a:ext cx="11091672" cy="777240"/>
          </a:xfrm>
          <a:prstGeom prst="roundRect">
            <a:avLst>
              <a:gd name="adj" fmla="val 14118"/>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20" name="Text 18"/>
          <p:cNvSpPr txBox="1"/>
          <p:nvPr/>
        </p:nvSpPr>
        <p:spPr>
          <a:xfrm>
            <a:off x="914400" y="5349240"/>
            <a:ext cx="10360152" cy="777240"/>
          </a:xfrm>
          <a:prstGeom prst="rect">
            <a:avLst/>
          </a:prstGeom>
          <a:noFill/>
          <a:ln/>
        </p:spPr>
        <p:txBody>
          <a:bodyPr wrap="square" lIns="0" tIns="0" rIns="0" bIns="0" rtlCol="0" anchor="ctr">
            <a:normAutofit/>
          </a:bodyPr>
          <a:lstStyle/>
          <a:p>
            <a:pPr algn="l" indent="0" marL="0">
              <a:buNone/>
            </a:pPr>
            <a:r>
              <a:rPr lang="en-US" sz="2000" dirty="0">
                <a:solidFill>
                  <a:srgbClr val="FFFFFF"/>
                </a:solidFill>
                <a:latin typeface="Calibri" pitchFamily="34" charset="0"/>
                <a:ea typeface="Calibri" pitchFamily="34" charset="-122"/>
                <a:cs typeface="Calibri" pitchFamily="34" charset="-120"/>
              </a:rPr>
              <a:t>Standards for Educational and Psychological Testing (2014)</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Four sources of bias in items</a:t>
            </a:r>
            <a:endParaRPr lang="en-US" sz="3800" dirty="0"/>
          </a:p>
        </p:txBody>
      </p:sp>
      <p:sp>
        <p:nvSpPr>
          <p:cNvPr id="3" name="card-0"/>
          <p:cNvSpPr/>
          <p:nvPr/>
        </p:nvSpPr>
        <p:spPr>
          <a:xfrm>
            <a:off x="548640"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783080"/>
            <a:ext cx="457200" cy="457200"/>
          </a:xfrm>
          <a:prstGeom prst="ellipse">
            <a:avLst/>
          </a:prstGeom>
          <a:solidFill>
            <a:srgbClr val="D97757"/>
          </a:solidFill>
          <a:ln w="12700">
            <a:solidFill>
              <a:srgbClr val="D97757"/>
            </a:solidFill>
            <a:prstDash val="solid"/>
          </a:ln>
        </p:spPr>
      </p:sp>
      <p:sp>
        <p:nvSpPr>
          <p:cNvPr id="5" name="Text 3"/>
          <p:cNvSpPr txBox="1"/>
          <p:nvPr/>
        </p:nvSpPr>
        <p:spPr>
          <a:xfrm>
            <a:off x="777240"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Linguistic load</a:t>
            </a:r>
            <a:endParaRPr lang="en-US" sz="2400" dirty="0"/>
          </a:p>
        </p:txBody>
      </p:sp>
      <p:sp>
        <p:nvSpPr>
          <p:cNvPr id="6" name="Text 4"/>
          <p:cNvSpPr txBox="1"/>
          <p:nvPr/>
        </p:nvSpPr>
        <p:spPr>
          <a:xfrm>
            <a:off x="777240"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Long sentences, passive voice, rare words, numbers in words.</a:t>
            </a:r>
            <a:endParaRPr lang="en-US" sz="1800" dirty="0"/>
          </a:p>
        </p:txBody>
      </p:sp>
      <p:sp>
        <p:nvSpPr>
          <p:cNvPr id="7" name="card-1"/>
          <p:cNvSpPr/>
          <p:nvPr/>
        </p:nvSpPr>
        <p:spPr>
          <a:xfrm>
            <a:off x="3401568"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3721608" y="1783080"/>
            <a:ext cx="457200" cy="457200"/>
          </a:xfrm>
          <a:prstGeom prst="ellipse">
            <a:avLst/>
          </a:prstGeom>
          <a:solidFill>
            <a:srgbClr val="6A9BCC"/>
          </a:solidFill>
          <a:ln w="12700">
            <a:solidFill>
              <a:srgbClr val="6A9BCC"/>
            </a:solidFill>
            <a:prstDash val="solid"/>
          </a:ln>
        </p:spPr>
      </p:sp>
      <p:sp>
        <p:nvSpPr>
          <p:cNvPr id="9" name="Text 7"/>
          <p:cNvSpPr txBox="1"/>
          <p:nvPr/>
        </p:nvSpPr>
        <p:spPr>
          <a:xfrm>
            <a:off x="3630168"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Cultural context</a:t>
            </a:r>
            <a:endParaRPr lang="en-US" sz="2400" dirty="0"/>
          </a:p>
        </p:txBody>
      </p:sp>
      <p:sp>
        <p:nvSpPr>
          <p:cNvPr id="10" name="Text 8"/>
          <p:cNvSpPr txBox="1"/>
          <p:nvPr/>
        </p:nvSpPr>
        <p:spPr>
          <a:xfrm>
            <a:off x="3630168"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Units, situations or customs familiar to one group but not another.</a:t>
            </a:r>
            <a:endParaRPr lang="en-US" sz="1800" dirty="0"/>
          </a:p>
        </p:txBody>
      </p:sp>
      <p:sp>
        <p:nvSpPr>
          <p:cNvPr id="11" name="card-2"/>
          <p:cNvSpPr/>
          <p:nvPr/>
        </p:nvSpPr>
        <p:spPr>
          <a:xfrm>
            <a:off x="6254496"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Shape 10"/>
          <p:cNvSpPr/>
          <p:nvPr/>
        </p:nvSpPr>
        <p:spPr>
          <a:xfrm>
            <a:off x="6574536" y="1783080"/>
            <a:ext cx="457200" cy="457200"/>
          </a:xfrm>
          <a:prstGeom prst="ellipse">
            <a:avLst/>
          </a:prstGeom>
          <a:solidFill>
            <a:srgbClr val="788C5D"/>
          </a:solidFill>
          <a:ln w="12700">
            <a:solidFill>
              <a:srgbClr val="788C5D"/>
            </a:solidFill>
            <a:prstDash val="solid"/>
          </a:ln>
        </p:spPr>
      </p:sp>
      <p:sp>
        <p:nvSpPr>
          <p:cNvPr id="13" name="Text 11"/>
          <p:cNvSpPr txBox="1"/>
          <p:nvPr/>
        </p:nvSpPr>
        <p:spPr>
          <a:xfrm>
            <a:off x="6483096"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Unfamiliar format</a:t>
            </a:r>
            <a:endParaRPr lang="en-US" sz="2400" dirty="0"/>
          </a:p>
        </p:txBody>
      </p:sp>
      <p:sp>
        <p:nvSpPr>
          <p:cNvPr id="14" name="Text 12"/>
          <p:cNvSpPr txBox="1"/>
          <p:nvPr/>
        </p:nvSpPr>
        <p:spPr>
          <a:xfrm>
            <a:off x="6483096"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A representation, symbol or question type that some students have not practised.</a:t>
            </a:r>
            <a:endParaRPr lang="en-US" sz="1800" dirty="0"/>
          </a:p>
        </p:txBody>
      </p:sp>
      <p:sp>
        <p:nvSpPr>
          <p:cNvPr id="15" name="card-3"/>
          <p:cNvSpPr/>
          <p:nvPr/>
        </p:nvSpPr>
        <p:spPr>
          <a:xfrm>
            <a:off x="9107424"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6" name="Shape 14"/>
          <p:cNvSpPr/>
          <p:nvPr/>
        </p:nvSpPr>
        <p:spPr>
          <a:xfrm>
            <a:off x="9427464" y="1783080"/>
            <a:ext cx="457200" cy="457200"/>
          </a:xfrm>
          <a:prstGeom prst="ellipse">
            <a:avLst/>
          </a:prstGeom>
          <a:solidFill>
            <a:srgbClr val="B0AEA5"/>
          </a:solidFill>
          <a:ln w="12700">
            <a:solidFill>
              <a:srgbClr val="B0AEA5"/>
            </a:solidFill>
            <a:prstDash val="solid"/>
          </a:ln>
        </p:spPr>
      </p:sp>
      <p:sp>
        <p:nvSpPr>
          <p:cNvPr id="17" name="Text 15"/>
          <p:cNvSpPr txBox="1"/>
          <p:nvPr/>
        </p:nvSpPr>
        <p:spPr>
          <a:xfrm>
            <a:off x="9336024"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Access barriers</a:t>
            </a:r>
            <a:endParaRPr lang="en-US" sz="2400" dirty="0"/>
          </a:p>
        </p:txBody>
      </p:sp>
      <p:sp>
        <p:nvSpPr>
          <p:cNvPr id="18" name="Text 16"/>
          <p:cNvSpPr txBox="1"/>
          <p:nvPr/>
        </p:nvSpPr>
        <p:spPr>
          <a:xfrm>
            <a:off x="9336024"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Small print, insufficient time, an unclear diagram, a missing accommodation.</a:t>
            </a:r>
            <a:endParaRPr lang="en-US" sz="1800" dirty="0"/>
          </a:p>
        </p:txBody>
      </p:sp>
      <p:sp>
        <p:nvSpPr>
          <p:cNvPr id="19" name="footer"/>
          <p:cNvSpPr/>
          <p:nvPr/>
        </p:nvSpPr>
        <p:spPr>
          <a:xfrm>
            <a:off x="548640" y="5349240"/>
            <a:ext cx="11091672" cy="777240"/>
          </a:xfrm>
          <a:prstGeom prst="roundRect">
            <a:avLst>
              <a:gd name="adj" fmla="val 14118"/>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20" name="Text 18"/>
          <p:cNvSpPr txBox="1"/>
          <p:nvPr/>
        </p:nvSpPr>
        <p:spPr>
          <a:xfrm>
            <a:off x="914400" y="5349240"/>
            <a:ext cx="10360152" cy="777240"/>
          </a:xfrm>
          <a:prstGeom prst="rect">
            <a:avLst/>
          </a:prstGeom>
          <a:noFill/>
          <a:ln/>
        </p:spPr>
        <p:txBody>
          <a:bodyPr wrap="square" lIns="0" tIns="0" rIns="0" bIns="0" rtlCol="0" anchor="ctr">
            <a:normAutofit/>
          </a:bodyPr>
          <a:lstStyle/>
          <a:p>
            <a:pPr algn="l" indent="0" marL="0">
              <a:buNone/>
            </a:pPr>
            <a:r>
              <a:rPr lang="en-US" sz="2000" dirty="0">
                <a:solidFill>
                  <a:srgbClr val="FFFFFF"/>
                </a:solidFill>
                <a:latin typeface="Calibri" pitchFamily="34" charset="0"/>
                <a:ea typeface="Calibri" pitchFamily="34" charset="-122"/>
                <a:cs typeface="Calibri" pitchFamily="34" charset="-120"/>
              </a:rPr>
              <a:t>The decisive question is always: is this element part of what I want to measure?</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A raw difference is not bias</a:t>
            </a:r>
            <a:endParaRPr lang="en-US" sz="3800" dirty="0"/>
          </a:p>
        </p:txBody>
      </p:sp>
      <p:sp>
        <p:nvSpPr>
          <p:cNvPr id="3" name="panel-0"/>
          <p:cNvSpPr/>
          <p:nvPr/>
        </p:nvSpPr>
        <p:spPr>
          <a:xfrm>
            <a:off x="548640"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828800"/>
            <a:ext cx="457200" cy="457200"/>
          </a:xfrm>
          <a:prstGeom prst="ellipse">
            <a:avLst/>
          </a:prstGeom>
          <a:solidFill>
            <a:srgbClr val="788C5D"/>
          </a:solidFill>
          <a:ln w="12700">
            <a:solidFill>
              <a:srgbClr val="788C5D"/>
            </a:solidFill>
            <a:prstDash val="solid"/>
          </a:ln>
        </p:spPr>
      </p:sp>
      <p:sp>
        <p:nvSpPr>
          <p:cNvPr id="5" name="Text 3"/>
          <p:cNvSpPr txBox="1"/>
          <p:nvPr/>
        </p:nvSpPr>
        <p:spPr>
          <a:xfrm>
            <a:off x="1463040"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Impact</a:t>
            </a:r>
            <a:endParaRPr lang="en-US" sz="2600" dirty="0"/>
          </a:p>
        </p:txBody>
      </p:sp>
      <p:sp>
        <p:nvSpPr>
          <p:cNvPr id="6" name="Text 4"/>
          <p:cNvSpPr txBox="1"/>
          <p:nvPr/>
        </p:nvSpPr>
        <p:spPr>
          <a:xfrm>
            <a:off x="822960"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A difference in proportion correct between two groups</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Does not take students' ability into account</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May reflect a real difference in ability</a:t>
            </a:r>
            <a:endParaRPr lang="en-US" sz="2000" dirty="0"/>
          </a:p>
        </p:txBody>
      </p:sp>
      <p:sp>
        <p:nvSpPr>
          <p:cNvPr id="7" name="panel-1"/>
          <p:cNvSpPr/>
          <p:nvPr/>
        </p:nvSpPr>
        <p:spPr>
          <a:xfrm>
            <a:off x="6323076"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6643116" y="1828800"/>
            <a:ext cx="457200" cy="457200"/>
          </a:xfrm>
          <a:prstGeom prst="ellipse">
            <a:avLst/>
          </a:prstGeom>
          <a:solidFill>
            <a:srgbClr val="D97757"/>
          </a:solidFill>
          <a:ln w="12700">
            <a:solidFill>
              <a:srgbClr val="D97757"/>
            </a:solidFill>
            <a:prstDash val="solid"/>
          </a:ln>
        </p:spPr>
      </p:sp>
      <p:sp>
        <p:nvSpPr>
          <p:cNvPr id="9" name="Text 7"/>
          <p:cNvSpPr txBox="1"/>
          <p:nvPr/>
        </p:nvSpPr>
        <p:spPr>
          <a:xfrm>
            <a:off x="7237476"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Differential item functioning</a:t>
            </a:r>
            <a:endParaRPr lang="en-US" sz="2600" dirty="0"/>
          </a:p>
        </p:txBody>
      </p:sp>
      <p:sp>
        <p:nvSpPr>
          <p:cNvPr id="10" name="Text 8"/>
          <p:cNvSpPr txBox="1"/>
          <p:nvPr/>
        </p:nvSpPr>
        <p:spPr>
          <a:xfrm>
            <a:off x="6597396"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Students of the same ability level</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Perform differently because they are from two groups</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This is what we call potential bias</a:t>
            </a:r>
            <a:endParaRPr lang="en-US" sz="2000" dirty="0"/>
          </a:p>
        </p:txBody>
      </p:sp>
      <p:sp>
        <p:nvSpPr>
          <p:cNvPr id="11" name="footer"/>
          <p:cNvSpPr/>
          <p:nvPr/>
        </p:nvSpPr>
        <p:spPr>
          <a:xfrm>
            <a:off x="548640" y="5486400"/>
            <a:ext cx="11091672" cy="685800"/>
          </a:xfrm>
          <a:prstGeom prst="roundRect">
            <a:avLst>
              <a:gd name="adj" fmla="val 160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914400" y="5486400"/>
            <a:ext cx="10360152" cy="685800"/>
          </a:xfrm>
          <a:prstGeom prst="rect">
            <a:avLst/>
          </a:prstGeom>
          <a:noFill/>
          <a:ln/>
        </p:spPr>
        <p:txBody>
          <a:bodyPr wrap="square" lIns="0" tIns="0" rIns="0" bIns="0" rtlCol="0" anchor="ctr">
            <a:normAutofit/>
          </a:bodyPr>
          <a:lstStyle/>
          <a:p>
            <a:pPr algn="l" indent="0" marL="0">
              <a:buNone/>
            </a:pPr>
            <a:r>
              <a:rPr lang="en-US" sz="1900" dirty="0">
                <a:solidFill>
                  <a:srgbClr val="FFFFFF"/>
                </a:solidFill>
                <a:latin typeface="Calibri" pitchFamily="34" charset="0"/>
                <a:ea typeface="Calibri" pitchFamily="34" charset="-122"/>
                <a:cs typeface="Calibri" pitchFamily="34" charset="-120"/>
              </a:rPr>
              <a:t>Two equal runners, one of whom always falls behind on one track: the problem is with the track. The item is the track.</a:t>
            </a:r>
            <a:endParaRPr lang="en-US" sz="19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The workshop data: a simulated mathematics test</a:t>
            </a:r>
            <a:endParaRPr lang="en-US" sz="3800" dirty="0"/>
          </a:p>
        </p:txBody>
      </p:sp>
      <p:sp>
        <p:nvSpPr>
          <p:cNvPr id="3" name="Text 1"/>
          <p:cNvSpPr txBox="1"/>
          <p:nvPr/>
        </p:nvSpPr>
        <p:spPr>
          <a:xfrm>
            <a:off x="548640" y="1554480"/>
            <a:ext cx="5605272" cy="4389120"/>
          </a:xfrm>
          <a:prstGeom prst="rect">
            <a:avLst/>
          </a:prstGeom>
          <a:noFill/>
          <a:ln/>
        </p:spPr>
        <p:txBody>
          <a:bodyPr wrap="square" lIns="0" tIns="0" rIns="0" bIns="0" rtlCol="0" anchor="t">
            <a:normAutofit/>
          </a:bodyPr>
          <a:lstStyle/>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20 items and 480 students: 300 whose home language is Arabic, and 180 whose home language is not Arabic.</a:t>
            </a:r>
            <a:endParaRPr lang="en-US" sz="2200" dirty="0"/>
          </a:p>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The mean total score is 9.32 for Arabic and 10.41 for Non-Arabic. The focal group is slightly stronger.</a:t>
            </a:r>
            <a:endParaRPr lang="en-US" sz="2200" dirty="0"/>
          </a:p>
        </p:txBody>
      </p:sp>
      <p:sp>
        <p:nvSpPr>
          <p:cNvPr id="4" name="stat"/>
          <p:cNvSpPr/>
          <p:nvPr/>
        </p:nvSpPr>
        <p:spPr>
          <a:xfrm>
            <a:off x="6611112" y="1554480"/>
            <a:ext cx="5029200" cy="4389120"/>
          </a:xfrm>
          <a:prstGeom prst="roundRect">
            <a:avLst>
              <a:gd name="adj" fmla="val 25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6976872" y="1828800"/>
            <a:ext cx="4297680" cy="731520"/>
          </a:xfrm>
          <a:prstGeom prst="rect">
            <a:avLst/>
          </a:prstGeom>
          <a:noFill/>
          <a:ln/>
        </p:spPr>
        <p:txBody>
          <a:bodyPr wrap="square" lIns="0" tIns="0" rIns="0" bIns="0" rtlCol="0" anchor="t">
            <a:normAutofit/>
          </a:bodyPr>
          <a:lstStyle/>
          <a:p>
            <a:pPr algn="l" indent="0" marL="0">
              <a:buNone/>
            </a:pPr>
            <a:r>
              <a:rPr lang="en-US" sz="2400" dirty="0">
                <a:solidFill>
                  <a:srgbClr val="B0AEA5"/>
                </a:solidFill>
                <a:latin typeface="Calibri" pitchFamily="34" charset="0"/>
                <a:ea typeface="Calibri" pitchFamily="34" charset="-122"/>
                <a:cs typeface="Calibri" pitchFamily="34" charset="-120"/>
              </a:rPr>
              <a:t>Difference between the means</a:t>
            </a:r>
            <a:endParaRPr lang="en-US" sz="2400" dirty="0"/>
          </a:p>
        </p:txBody>
      </p:sp>
      <p:sp>
        <p:nvSpPr>
          <p:cNvPr id="6" name="Text 4"/>
          <p:cNvSpPr txBox="1"/>
          <p:nvPr/>
        </p:nvSpPr>
        <p:spPr>
          <a:xfrm>
            <a:off x="6976872" y="2560320"/>
            <a:ext cx="4297680" cy="1280160"/>
          </a:xfrm>
          <a:prstGeom prst="rect">
            <a:avLst/>
          </a:prstGeom>
          <a:noFill/>
          <a:ln/>
        </p:spPr>
        <p:txBody>
          <a:bodyPr wrap="square" lIns="0" tIns="0" rIns="0" bIns="0" rtlCol="0" anchor="ctr"/>
          <a:lstStyle/>
          <a:p>
            <a:pPr algn="l" indent="0" marL="0">
              <a:buNone/>
            </a:pPr>
            <a:r>
              <a:rPr lang="en-US" sz="7200" b="1" dirty="0">
                <a:solidFill>
                  <a:srgbClr val="D97757"/>
                </a:solidFill>
                <a:latin typeface="Calibri" pitchFamily="34" charset="0"/>
                <a:ea typeface="Calibri" pitchFamily="34" charset="-122"/>
                <a:cs typeface="Calibri" pitchFamily="34" charset="-120"/>
              </a:rPr>
              <a:t>1.09</a:t>
            </a:r>
            <a:endParaRPr lang="en-US" sz="7200" dirty="0"/>
          </a:p>
        </p:txBody>
      </p:sp>
      <p:sp>
        <p:nvSpPr>
          <p:cNvPr id="7" name="Text 5"/>
          <p:cNvSpPr txBox="1"/>
          <p:nvPr/>
        </p:nvSpPr>
        <p:spPr>
          <a:xfrm>
            <a:off x="6976872" y="3977640"/>
            <a:ext cx="4297680" cy="1737360"/>
          </a:xfrm>
          <a:prstGeom prst="rect">
            <a:avLst/>
          </a:prstGeom>
          <a:noFill/>
          <a:ln/>
        </p:spPr>
        <p:txBody>
          <a:bodyPr wrap="square" lIns="0" tIns="0" rIns="0" bIns="0" rtlCol="0" anchor="t">
            <a:normAutofit/>
          </a:bodyPr>
          <a:lstStyle/>
          <a:p>
            <a:pPr algn="l" indent="0" marL="0">
              <a:buNone/>
            </a:pPr>
            <a:r>
              <a:rPr lang="en-US" sz="2000" dirty="0">
                <a:solidFill>
                  <a:srgbClr val="FFFFFF"/>
                </a:solidFill>
                <a:latin typeface="Calibri" pitchFamily="34" charset="0"/>
                <a:ea typeface="Calibri" pitchFamily="34" charset="-122"/>
                <a:cs typeface="Calibri" pitchFamily="34" charset="-120"/>
              </a:rPr>
              <a:t>In favour of the non-Arabic home language group</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We compare students of the same ability: five bands</a:t>
            </a:r>
            <a:endParaRPr lang="en-US" sz="38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5545836"/>
                <a:gridCol w="2079689"/>
                <a:gridCol w="3466148"/>
              </a:tblGrid>
              <a:tr h="50292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Total-score band</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Arabic</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Non-Arabic</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0 – 4</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76</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36</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5 – 8</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65</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36</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9 – 12</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71</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37</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13 – 16</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48</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35</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17 – 20</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40</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36</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06440"/>
            <a:ext cx="11091672"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Arabic-group students are concentrated in the lower bands, while Non-Arabic students are spread almost evenly</a:t>
            </a:r>
            <a:endParaRPr lang="en-US" sz="17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The standardization index</a:t>
            </a:r>
            <a:endParaRPr lang="en-US" sz="3800" dirty="0"/>
          </a:p>
        </p:txBody>
      </p:sp>
      <p:sp>
        <p:nvSpPr>
          <p:cNvPr id="3" name="Text 1"/>
          <p:cNvSpPr txBox="1"/>
          <p:nvPr/>
        </p:nvSpPr>
        <p:spPr>
          <a:xfrm>
            <a:off x="548640" y="1554480"/>
            <a:ext cx="11091672" cy="1188720"/>
          </a:xfrm>
          <a:prstGeom prst="rect">
            <a:avLst/>
          </a:prstGeom>
          <a:noFill/>
          <a:ln/>
        </p:spPr>
        <p:txBody>
          <a:bodyPr wrap="square" lIns="0" tIns="0" rIns="0" bIns="0" rtlCol="0" anchor="t">
            <a:normAutofit/>
          </a:bodyPr>
          <a:lstStyle/>
          <a:p>
            <a:pPr algn="l" indent="0" marL="0">
              <a:buNone/>
            </a:pPr>
            <a:r>
              <a:rPr lang="en-US" sz="2400" dirty="0">
                <a:solidFill>
                  <a:srgbClr val="141413"/>
                </a:solidFill>
                <a:latin typeface="Calibri" pitchFamily="34" charset="0"/>
                <a:ea typeface="Calibri" pitchFamily="34" charset="-122"/>
                <a:cs typeface="Calibri" pitchFamily="34" charset="-120"/>
              </a:rPr>
              <a:t>In each band we subtract the reference group's proportion correct from the focal group's, then take a weighted mean.</a:t>
            </a:r>
            <a:endParaRPr lang="en-US" sz="2400" dirty="0"/>
          </a:p>
        </p:txBody>
      </p:sp>
      <p:sp>
        <p:nvSpPr>
          <p:cNvPr id="4" name="formula"/>
          <p:cNvSpPr/>
          <p:nvPr/>
        </p:nvSpPr>
        <p:spPr>
          <a:xfrm>
            <a:off x="2194560" y="2880360"/>
            <a:ext cx="7799832" cy="960120"/>
          </a:xfrm>
          <a:prstGeom prst="roundRect">
            <a:avLst>
              <a:gd name="adj" fmla="val 11429"/>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2194560" y="2880360"/>
            <a:ext cx="7799832" cy="960120"/>
          </a:xfrm>
          <a:prstGeom prst="rect">
            <a:avLst/>
          </a:prstGeom>
          <a:noFill/>
          <a:ln/>
        </p:spPr>
        <p:txBody>
          <a:bodyPr wrap="square" lIns="0" tIns="0" rIns="0" bIns="0" rtlCol="0" anchor="ctr"/>
          <a:lstStyle/>
          <a:p>
            <a:pPr algn="ctr" indent="0" marL="0">
              <a:buNone/>
            </a:pPr>
            <a:r>
              <a:rPr lang="en-US" sz="2800" dirty="0">
                <a:solidFill>
                  <a:srgbClr val="141413"/>
                </a:solidFill>
                <a:latin typeface="Calibri" pitchFamily="34" charset="0"/>
                <a:ea typeface="Calibri" pitchFamily="34" charset="-122"/>
                <a:cs typeface="Calibri" pitchFamily="34" charset="-120"/>
              </a:rPr>
              <a:t>STD = Σ n_f (p_f − p_r) / Σ n_f</a:t>
            </a:r>
            <a:endParaRPr lang="en-US" sz="2800" dirty="0"/>
          </a:p>
        </p:txBody>
      </p:sp>
      <p:sp>
        <p:nvSpPr>
          <p:cNvPr id="6" name="after"/>
          <p:cNvSpPr/>
          <p:nvPr/>
        </p:nvSpPr>
        <p:spPr>
          <a:xfrm>
            <a:off x="548640" y="4206240"/>
            <a:ext cx="11091672" cy="1645920"/>
          </a:xfrm>
          <a:prstGeom prst="roundRect">
            <a:avLst>
              <a:gd name="adj" fmla="val 6667"/>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7" name="Text 5"/>
          <p:cNvSpPr txBox="1"/>
          <p:nvPr/>
        </p:nvSpPr>
        <p:spPr>
          <a:xfrm>
            <a:off x="914400" y="4206240"/>
            <a:ext cx="10360152" cy="1645920"/>
          </a:xfrm>
          <a:prstGeom prst="rect">
            <a:avLst/>
          </a:prstGeom>
          <a:noFill/>
          <a:ln/>
        </p:spPr>
        <p:txBody>
          <a:bodyPr wrap="square" lIns="0" tIns="0" rIns="0" bIns="0" rtlCol="0" anchor="ctr">
            <a:normAutofit/>
          </a:bodyPr>
          <a:lstStyle/>
          <a:p>
            <a:pPr algn="l" indent="0" marL="0">
              <a:buNone/>
            </a:pPr>
            <a:r>
              <a:rPr lang="en-US" sz="2200" dirty="0">
                <a:solidFill>
                  <a:srgbClr val="FFFFFF"/>
                </a:solidFill>
                <a:latin typeface="Calibri" pitchFamily="34" charset="0"/>
                <a:ea typeface="Calibri" pitchFamily="34" charset="-122"/>
                <a:cs typeface="Calibri" pitchFamily="34" charset="-120"/>
              </a:rPr>
              <a:t>The weight is the number of focal-group students in each band. Negative: the item is harder for them than for their peers.</a:t>
            </a:r>
            <a:endParaRPr lang="en-US" sz="22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Guideline thresholds, not laws</a:t>
            </a:r>
            <a:endParaRPr lang="en-US" sz="38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3839425"/>
                <a:gridCol w="2986219"/>
                <a:gridCol w="4266028"/>
              </a:tblGrid>
              <a:tr h="50292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Absolute value of the index</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Judgement in the file</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Action</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Below 0.05</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Negligible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No action</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0.05 – 0.10</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Worth examining</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Careful reading and monitoring</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Above 0.10</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Large difference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Content and language review</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06440"/>
            <a:ext cx="11091672"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With about 36 students in each band, a difference close to 0.05 may appear by chance</a:t>
            </a:r>
            <a:endParaRPr lang="en-US" sz="17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A hypothetical example: what does matching do?</a:t>
            </a:r>
            <a:endParaRPr lang="en-US" sz="3800" dirty="0"/>
          </a:p>
        </p:txBody>
      </p:sp>
      <p:graphicFrame>
        <p:nvGraphicFramePr>
          <p:cNvPr id="3" name="chart" descr=""/>
          <p:cNvGraphicFramePr/>
          <p:nvPr/>
        </p:nvGraphicFramePr>
        <p:xfrm>
          <a:off x="4873752" y="137160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1554480"/>
            <a:ext cx="3959352" cy="43891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100" dirty="0">
                <a:solidFill>
                  <a:srgbClr val="141413"/>
                </a:solidFill>
                <a:latin typeface="Calibri" pitchFamily="34" charset="0"/>
                <a:ea typeface="Calibri" pitchFamily="34" charset="-122"/>
                <a:cs typeface="Calibri" pitchFamily="34" charset="-120"/>
              </a:rPr>
              <a:t>Hypothetical numbers for illustration, not from the workshop file.</a:t>
            </a:r>
            <a:endParaRPr lang="en-US" sz="2100" dirty="0"/>
          </a:p>
          <a:p>
            <a:pPr algn="l" marL="342900" indent="-342900">
              <a:spcAft>
                <a:spcPts val="1000"/>
              </a:spcAft>
              <a:buSzPct val="100000"/>
              <a:buChar char="•"/>
            </a:pPr>
            <a:r>
              <a:rPr lang="en-US" sz="2100" dirty="0">
                <a:solidFill>
                  <a:srgbClr val="141413"/>
                </a:solidFill>
                <a:latin typeface="Calibri" pitchFamily="34" charset="0"/>
                <a:ea typeface="Calibri" pitchFamily="34" charset="-122"/>
                <a:cs typeface="Calibri" pitchFamily="34" charset="-120"/>
              </a:rPr>
              <a:t>Item A: a large raw difference disappears after matching. Items B and C exceed 0.10 in absolute value after matching.</a:t>
            </a:r>
            <a:endParaRPr lang="en-US" sz="21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Item B: bias hidden by the ability difference</a:t>
            </a:r>
            <a:endParaRPr lang="en-US" sz="3800" dirty="0"/>
          </a:p>
        </p:txBody>
      </p:sp>
      <p:sp>
        <p:nvSpPr>
          <p:cNvPr id="3" name="Text 1"/>
          <p:cNvSpPr txBox="1"/>
          <p:nvPr/>
        </p:nvSpPr>
        <p:spPr>
          <a:xfrm>
            <a:off x="548640" y="1554480"/>
            <a:ext cx="5605272" cy="4389120"/>
          </a:xfrm>
          <a:prstGeom prst="rect">
            <a:avLst/>
          </a:prstGeom>
          <a:noFill/>
          <a:ln/>
        </p:spPr>
        <p:txBody>
          <a:bodyPr wrap="square" lIns="0" tIns="0" rIns="0" bIns="0" rtlCol="0" anchor="t">
            <a:normAutofit/>
          </a:bodyPr>
          <a:lstStyle/>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Its raw difference is only −0.02, so it does not attract attention in the raw comparison.</a:t>
            </a:r>
            <a:endParaRPr lang="en-US" sz="2200" dirty="0"/>
          </a:p>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The focal group is stronger, so it is expected to do better. The equality of the two groups hides an additional difficulty for them on this item.</a:t>
            </a:r>
            <a:endParaRPr lang="en-US" sz="2200" dirty="0"/>
          </a:p>
        </p:txBody>
      </p:sp>
      <p:sp>
        <p:nvSpPr>
          <p:cNvPr id="4" name="stat"/>
          <p:cNvSpPr/>
          <p:nvPr/>
        </p:nvSpPr>
        <p:spPr>
          <a:xfrm>
            <a:off x="6611112" y="1554480"/>
            <a:ext cx="5029200" cy="4389120"/>
          </a:xfrm>
          <a:prstGeom prst="roundRect">
            <a:avLst>
              <a:gd name="adj" fmla="val 25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6976872" y="1828800"/>
            <a:ext cx="4297680" cy="731520"/>
          </a:xfrm>
          <a:prstGeom prst="rect">
            <a:avLst/>
          </a:prstGeom>
          <a:noFill/>
          <a:ln/>
        </p:spPr>
        <p:txBody>
          <a:bodyPr wrap="square" lIns="0" tIns="0" rIns="0" bIns="0" rtlCol="0" anchor="t">
            <a:normAutofit/>
          </a:bodyPr>
          <a:lstStyle/>
          <a:p>
            <a:pPr algn="l" indent="0" marL="0">
              <a:buNone/>
            </a:pPr>
            <a:r>
              <a:rPr lang="en-US" sz="2400" dirty="0">
                <a:solidFill>
                  <a:srgbClr val="B0AEA5"/>
                </a:solidFill>
                <a:latin typeface="Calibri" pitchFamily="34" charset="0"/>
                <a:ea typeface="Calibri" pitchFamily="34" charset="-122"/>
                <a:cs typeface="Calibri" pitchFamily="34" charset="-120"/>
              </a:rPr>
              <a:t>After matching</a:t>
            </a:r>
            <a:endParaRPr lang="en-US" sz="2400" dirty="0"/>
          </a:p>
        </p:txBody>
      </p:sp>
      <p:sp>
        <p:nvSpPr>
          <p:cNvPr id="6" name="Text 4"/>
          <p:cNvSpPr txBox="1"/>
          <p:nvPr/>
        </p:nvSpPr>
        <p:spPr>
          <a:xfrm>
            <a:off x="6976872" y="2560320"/>
            <a:ext cx="4297680" cy="1280160"/>
          </a:xfrm>
          <a:prstGeom prst="rect">
            <a:avLst/>
          </a:prstGeom>
          <a:noFill/>
          <a:ln/>
        </p:spPr>
        <p:txBody>
          <a:bodyPr wrap="square" lIns="0" tIns="0" rIns="0" bIns="0" rtlCol="0" anchor="ctr"/>
          <a:lstStyle/>
          <a:p>
            <a:pPr algn="l" indent="0" marL="0">
              <a:buNone/>
            </a:pPr>
            <a:r>
              <a:rPr lang="en-US" sz="7200" b="1" dirty="0">
                <a:solidFill>
                  <a:srgbClr val="D97757"/>
                </a:solidFill>
                <a:latin typeface="Calibri" pitchFamily="34" charset="0"/>
                <a:ea typeface="Calibri" pitchFamily="34" charset="-122"/>
                <a:cs typeface="Calibri" pitchFamily="34" charset="-120"/>
              </a:rPr>
              <a:t>−0.11</a:t>
            </a:r>
            <a:endParaRPr lang="en-US" sz="7200" dirty="0"/>
          </a:p>
        </p:txBody>
      </p:sp>
      <p:sp>
        <p:nvSpPr>
          <p:cNvPr id="7" name="Text 5"/>
          <p:cNvSpPr txBox="1"/>
          <p:nvPr/>
        </p:nvSpPr>
        <p:spPr>
          <a:xfrm>
            <a:off x="6976872" y="3977640"/>
            <a:ext cx="4297680" cy="1737360"/>
          </a:xfrm>
          <a:prstGeom prst="rect">
            <a:avLst/>
          </a:prstGeom>
          <a:noFill/>
          <a:ln/>
        </p:spPr>
        <p:txBody>
          <a:bodyPr wrap="square" lIns="0" tIns="0" rIns="0" bIns="0" rtlCol="0" anchor="t">
            <a:normAutofit/>
          </a:bodyPr>
          <a:lstStyle/>
          <a:p>
            <a:pPr algn="l" indent="0" marL="0">
              <a:buNone/>
            </a:pPr>
            <a:r>
              <a:rPr lang="en-US" sz="2000" dirty="0">
                <a:solidFill>
                  <a:srgbClr val="FFFFFF"/>
                </a:solidFill>
                <a:latin typeface="Calibri" pitchFamily="34" charset="0"/>
                <a:ea typeface="Calibri" pitchFamily="34" charset="-122"/>
                <a:cs typeface="Calibri" pitchFamily="34" charset="-120"/>
              </a:rPr>
              <a:t>A hypothetical example, from −0.02 before matching</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Common patterns in review</a:t>
            </a:r>
            <a:endParaRPr lang="en-US" sz="38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1496495"/>
                <a:gridCol w="5281749"/>
                <a:gridCol w="4313428"/>
              </a:tblGrid>
              <a:tr h="50292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Pattern</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What it looks like</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Hypothesis</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Linguistic load</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A long word problem in complex language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It measures reading along with mathematics</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Cultural context</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A traditional souq and an undefined unit</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Knowledge of the context is a hidden prerequisite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Unfamiliar format</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A term or representation from one curriculum but not another</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Familiarity with the format, not the skill</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06440"/>
            <a:ext cx="11091672"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Hypotheses are hypotheses, and fairness works in both directions: an item that favours one group is unfair to the other</a:t>
            </a:r>
            <a:endParaRPr lang="en-US" sz="17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A signal is not a verdict</a:t>
            </a:r>
            <a:endParaRPr lang="en-US" sz="3800" dirty="0"/>
          </a:p>
        </p:txBody>
      </p:sp>
      <p:sp>
        <p:nvSpPr>
          <p:cNvPr id="3" name="card-0"/>
          <p:cNvSpPr/>
          <p:nvPr/>
        </p:nvSpPr>
        <p:spPr>
          <a:xfrm>
            <a:off x="548640" y="1554480"/>
            <a:ext cx="3483864" cy="4206240"/>
          </a:xfrm>
          <a:prstGeom prst="roundRect">
            <a:avLst>
              <a:gd name="adj" fmla="val 3150"/>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783080"/>
            <a:ext cx="457200" cy="457200"/>
          </a:xfrm>
          <a:prstGeom prst="ellipse">
            <a:avLst/>
          </a:prstGeom>
          <a:solidFill>
            <a:srgbClr val="D97757"/>
          </a:solidFill>
          <a:ln w="12700">
            <a:solidFill>
              <a:srgbClr val="D97757"/>
            </a:solidFill>
            <a:prstDash val="solid"/>
          </a:ln>
        </p:spPr>
      </p:sp>
      <p:sp>
        <p:nvSpPr>
          <p:cNvPr id="5" name="Text 3"/>
          <p:cNvSpPr txBox="1"/>
          <p:nvPr/>
        </p:nvSpPr>
        <p:spPr>
          <a:xfrm>
            <a:off x="777240" y="2377440"/>
            <a:ext cx="3026664" cy="914400"/>
          </a:xfrm>
          <a:prstGeom prst="rect">
            <a:avLst/>
          </a:prstGeom>
          <a:noFill/>
          <a:ln/>
        </p:spPr>
        <p:txBody>
          <a:bodyPr wrap="square" lIns="0" tIns="0" rIns="0" bIns="0" rtlCol="0" anchor="t">
            <a:normAutofit/>
          </a:bodyPr>
          <a:lstStyle/>
          <a:p>
            <a:pPr algn="l" indent="0" marL="0">
              <a:buNone/>
            </a:pPr>
            <a:r>
              <a:rPr lang="en-US" sz="2700" b="1" dirty="0">
                <a:solidFill>
                  <a:srgbClr val="141413"/>
                </a:solidFill>
                <a:latin typeface="Calibri" pitchFamily="34" charset="0"/>
                <a:ea typeface="Calibri" pitchFamily="34" charset="-122"/>
                <a:cs typeface="Calibri" pitchFamily="34" charset="-120"/>
              </a:rPr>
              <a:t>Statistics say where</a:t>
            </a:r>
            <a:endParaRPr lang="en-US" sz="2700" dirty="0"/>
          </a:p>
        </p:txBody>
      </p:sp>
      <p:sp>
        <p:nvSpPr>
          <p:cNvPr id="6" name="Text 4"/>
          <p:cNvSpPr txBox="1"/>
          <p:nvPr/>
        </p:nvSpPr>
        <p:spPr>
          <a:xfrm>
            <a:off x="777240" y="3337560"/>
            <a:ext cx="3026664" cy="2286000"/>
          </a:xfrm>
          <a:prstGeom prst="rect">
            <a:avLst/>
          </a:prstGeom>
          <a:noFill/>
          <a:ln/>
        </p:spPr>
        <p:txBody>
          <a:bodyPr wrap="square" lIns="0" tIns="0" rIns="0" bIns="0" rtlCol="0" anchor="t">
            <a:normAutofit/>
          </a:bodyPr>
          <a:lstStyle/>
          <a:p>
            <a:pPr algn="l" indent="0" marL="0">
              <a:buNone/>
            </a:pPr>
            <a:r>
              <a:rPr lang="en-US" sz="2000" dirty="0">
                <a:solidFill>
                  <a:srgbClr val="141413"/>
                </a:solidFill>
                <a:latin typeface="Calibri" pitchFamily="34" charset="0"/>
                <a:ea typeface="Calibri" pitchFamily="34" charset="-122"/>
                <a:cs typeface="Calibri" pitchFamily="34" charset="-120"/>
              </a:rPr>
              <a:t>The standardization index identifies the items that need attention, and does not explain the cause.</a:t>
            </a:r>
            <a:endParaRPr lang="en-US" sz="2000" dirty="0"/>
          </a:p>
        </p:txBody>
      </p:sp>
      <p:sp>
        <p:nvSpPr>
          <p:cNvPr id="7" name="card-1"/>
          <p:cNvSpPr/>
          <p:nvPr/>
        </p:nvSpPr>
        <p:spPr>
          <a:xfrm>
            <a:off x="4352544" y="1554480"/>
            <a:ext cx="3483864" cy="4206240"/>
          </a:xfrm>
          <a:prstGeom prst="roundRect">
            <a:avLst>
              <a:gd name="adj" fmla="val 3150"/>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4672584" y="1783080"/>
            <a:ext cx="457200" cy="457200"/>
          </a:xfrm>
          <a:prstGeom prst="ellipse">
            <a:avLst/>
          </a:prstGeom>
          <a:solidFill>
            <a:srgbClr val="6A9BCC"/>
          </a:solidFill>
          <a:ln w="12700">
            <a:solidFill>
              <a:srgbClr val="6A9BCC"/>
            </a:solidFill>
            <a:prstDash val="solid"/>
          </a:ln>
        </p:spPr>
      </p:sp>
      <p:sp>
        <p:nvSpPr>
          <p:cNvPr id="9" name="Text 7"/>
          <p:cNvSpPr txBox="1"/>
          <p:nvPr/>
        </p:nvSpPr>
        <p:spPr>
          <a:xfrm>
            <a:off x="4581144" y="2377440"/>
            <a:ext cx="3026664" cy="914400"/>
          </a:xfrm>
          <a:prstGeom prst="rect">
            <a:avLst/>
          </a:prstGeom>
          <a:noFill/>
          <a:ln/>
        </p:spPr>
        <p:txBody>
          <a:bodyPr wrap="square" lIns="0" tIns="0" rIns="0" bIns="0" rtlCol="0" anchor="t">
            <a:normAutofit/>
          </a:bodyPr>
          <a:lstStyle/>
          <a:p>
            <a:pPr algn="l" indent="0" marL="0">
              <a:buNone/>
            </a:pPr>
            <a:r>
              <a:rPr lang="en-US" sz="2700" b="1" dirty="0">
                <a:solidFill>
                  <a:srgbClr val="141413"/>
                </a:solidFill>
                <a:latin typeface="Calibri" pitchFamily="34" charset="0"/>
                <a:ea typeface="Calibri" pitchFamily="34" charset="-122"/>
                <a:cs typeface="Calibri" pitchFamily="34" charset="-120"/>
              </a:rPr>
              <a:t>Review says why</a:t>
            </a:r>
            <a:endParaRPr lang="en-US" sz="2700" dirty="0"/>
          </a:p>
        </p:txBody>
      </p:sp>
      <p:sp>
        <p:nvSpPr>
          <p:cNvPr id="10" name="Text 8"/>
          <p:cNvSpPr txBox="1"/>
          <p:nvPr/>
        </p:nvSpPr>
        <p:spPr>
          <a:xfrm>
            <a:off x="4581144" y="3337560"/>
            <a:ext cx="3026664" cy="2286000"/>
          </a:xfrm>
          <a:prstGeom prst="rect">
            <a:avLst/>
          </a:prstGeom>
          <a:noFill/>
          <a:ln/>
        </p:spPr>
        <p:txBody>
          <a:bodyPr wrap="square" lIns="0" tIns="0" rIns="0" bIns="0" rtlCol="0" anchor="t">
            <a:normAutofit/>
          </a:bodyPr>
          <a:lstStyle/>
          <a:p>
            <a:pPr algn="l" indent="0" marL="0">
              <a:buNone/>
            </a:pPr>
            <a:r>
              <a:rPr lang="en-US" sz="2000" dirty="0">
                <a:solidFill>
                  <a:srgbClr val="141413"/>
                </a:solidFill>
                <a:latin typeface="Calibri" pitchFamily="34" charset="0"/>
                <a:ea typeface="Calibri" pitchFamily="34" charset="-122"/>
                <a:cs typeface="Calibri" pitchFamily="34" charset="-120"/>
              </a:rPr>
              <a:t>Language? Context? Format? Or a real difference in opportunity to learn?</a:t>
            </a:r>
            <a:endParaRPr lang="en-US" sz="2000" dirty="0"/>
          </a:p>
        </p:txBody>
      </p:sp>
      <p:sp>
        <p:nvSpPr>
          <p:cNvPr id="11" name="card-2"/>
          <p:cNvSpPr/>
          <p:nvPr/>
        </p:nvSpPr>
        <p:spPr>
          <a:xfrm>
            <a:off x="8156448" y="1554480"/>
            <a:ext cx="3483864" cy="4206240"/>
          </a:xfrm>
          <a:prstGeom prst="roundRect">
            <a:avLst>
              <a:gd name="adj" fmla="val 3150"/>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Shape 10"/>
          <p:cNvSpPr/>
          <p:nvPr/>
        </p:nvSpPr>
        <p:spPr>
          <a:xfrm>
            <a:off x="8476488" y="1783080"/>
            <a:ext cx="457200" cy="457200"/>
          </a:xfrm>
          <a:prstGeom prst="ellipse">
            <a:avLst/>
          </a:prstGeom>
          <a:solidFill>
            <a:srgbClr val="788C5D"/>
          </a:solidFill>
          <a:ln w="12700">
            <a:solidFill>
              <a:srgbClr val="788C5D"/>
            </a:solidFill>
            <a:prstDash val="solid"/>
          </a:ln>
        </p:spPr>
      </p:sp>
      <p:sp>
        <p:nvSpPr>
          <p:cNvPr id="13" name="Text 11"/>
          <p:cNvSpPr txBox="1"/>
          <p:nvPr/>
        </p:nvSpPr>
        <p:spPr>
          <a:xfrm>
            <a:off x="8385048" y="2377440"/>
            <a:ext cx="3026664" cy="914400"/>
          </a:xfrm>
          <a:prstGeom prst="rect">
            <a:avLst/>
          </a:prstGeom>
          <a:noFill/>
          <a:ln/>
        </p:spPr>
        <p:txBody>
          <a:bodyPr wrap="square" lIns="0" tIns="0" rIns="0" bIns="0" rtlCol="0" anchor="t">
            <a:normAutofit/>
          </a:bodyPr>
          <a:lstStyle/>
          <a:p>
            <a:pPr algn="l" indent="0" marL="0">
              <a:buNone/>
            </a:pPr>
            <a:r>
              <a:rPr lang="en-US" sz="2700" b="1" dirty="0">
                <a:solidFill>
                  <a:srgbClr val="141413"/>
                </a:solidFill>
                <a:latin typeface="Calibri" pitchFamily="34" charset="0"/>
                <a:ea typeface="Calibri" pitchFamily="34" charset="-122"/>
                <a:cs typeface="Calibri" pitchFamily="34" charset="-120"/>
              </a:rPr>
              <a:t>Revision preserves the skill</a:t>
            </a:r>
            <a:endParaRPr lang="en-US" sz="2700" dirty="0"/>
          </a:p>
        </p:txBody>
      </p:sp>
      <p:sp>
        <p:nvSpPr>
          <p:cNvPr id="14" name="Text 12"/>
          <p:cNvSpPr txBox="1"/>
          <p:nvPr/>
        </p:nvSpPr>
        <p:spPr>
          <a:xfrm>
            <a:off x="8385048" y="3337560"/>
            <a:ext cx="3026664" cy="2286000"/>
          </a:xfrm>
          <a:prstGeom prst="rect">
            <a:avLst/>
          </a:prstGeom>
          <a:noFill/>
          <a:ln/>
        </p:spPr>
        <p:txBody>
          <a:bodyPr wrap="square" lIns="0" tIns="0" rIns="0" bIns="0" rtlCol="0" anchor="t">
            <a:normAutofit/>
          </a:bodyPr>
          <a:lstStyle/>
          <a:p>
            <a:pPr algn="l" indent="0" marL="0">
              <a:buNone/>
            </a:pPr>
            <a:r>
              <a:rPr lang="en-US" sz="2000" dirty="0">
                <a:solidFill>
                  <a:srgbClr val="141413"/>
                </a:solidFill>
                <a:latin typeface="Calibri" pitchFamily="34" charset="0"/>
                <a:ea typeface="Calibri" pitchFamily="34" charset="-122"/>
                <a:cs typeface="Calibri" pitchFamily="34" charset="-120"/>
              </a:rPr>
              <a:t>The same steps, the same numbers, the same answer, then re-trialling.</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The risks of artificial intelligence to fairness</a:t>
            </a:r>
            <a:endParaRPr lang="en-US" sz="3800" dirty="0"/>
          </a:p>
        </p:txBody>
      </p:sp>
      <p:sp>
        <p:nvSpPr>
          <p:cNvPr id="3" name="card-0"/>
          <p:cNvSpPr/>
          <p:nvPr/>
        </p:nvSpPr>
        <p:spPr>
          <a:xfrm>
            <a:off x="548640"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783080"/>
            <a:ext cx="457200" cy="457200"/>
          </a:xfrm>
          <a:prstGeom prst="ellipse">
            <a:avLst/>
          </a:prstGeom>
          <a:solidFill>
            <a:srgbClr val="D97757"/>
          </a:solidFill>
          <a:ln w="12700">
            <a:solidFill>
              <a:srgbClr val="D97757"/>
            </a:solidFill>
            <a:prstDash val="solid"/>
          </a:ln>
        </p:spPr>
      </p:sp>
      <p:sp>
        <p:nvSpPr>
          <p:cNvPr id="5" name="Text 3"/>
          <p:cNvSpPr txBox="1"/>
          <p:nvPr/>
        </p:nvSpPr>
        <p:spPr>
          <a:xfrm>
            <a:off x="777240"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Bias in outputs</a:t>
            </a:r>
            <a:endParaRPr lang="en-US" sz="2400" dirty="0"/>
          </a:p>
        </p:txBody>
      </p:sp>
      <p:sp>
        <p:nvSpPr>
          <p:cNvPr id="6" name="Text 4"/>
          <p:cNvSpPr txBox="1"/>
          <p:nvPr/>
        </p:nvSpPr>
        <p:spPr>
          <a:xfrm>
            <a:off x="777240"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Potential stereotypes in generated items and feedback.</a:t>
            </a:r>
            <a:endParaRPr lang="en-US" sz="1800" dirty="0"/>
          </a:p>
        </p:txBody>
      </p:sp>
      <p:sp>
        <p:nvSpPr>
          <p:cNvPr id="7" name="card-1"/>
          <p:cNvSpPr/>
          <p:nvPr/>
        </p:nvSpPr>
        <p:spPr>
          <a:xfrm>
            <a:off x="3401568"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3721608" y="1783080"/>
            <a:ext cx="457200" cy="457200"/>
          </a:xfrm>
          <a:prstGeom prst="ellipse">
            <a:avLst/>
          </a:prstGeom>
          <a:solidFill>
            <a:srgbClr val="6A9BCC"/>
          </a:solidFill>
          <a:ln w="12700">
            <a:solidFill>
              <a:srgbClr val="6A9BCC"/>
            </a:solidFill>
            <a:prstDash val="solid"/>
          </a:ln>
        </p:spPr>
      </p:sp>
      <p:sp>
        <p:nvSpPr>
          <p:cNvPr id="9" name="Text 7"/>
          <p:cNvSpPr txBox="1"/>
          <p:nvPr/>
        </p:nvSpPr>
        <p:spPr>
          <a:xfrm>
            <a:off x="3630168"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Unequal access</a:t>
            </a:r>
            <a:endParaRPr lang="en-US" sz="2400" dirty="0"/>
          </a:p>
        </p:txBody>
      </p:sp>
      <p:sp>
        <p:nvSpPr>
          <p:cNvPr id="10" name="Text 8"/>
          <p:cNvSpPr txBox="1"/>
          <p:nvPr/>
        </p:nvSpPr>
        <p:spPr>
          <a:xfrm>
            <a:off x="3630168"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A better tool or earlier training gives an advantage unrelated to learning.</a:t>
            </a:r>
            <a:endParaRPr lang="en-US" sz="1800" dirty="0"/>
          </a:p>
        </p:txBody>
      </p:sp>
      <p:sp>
        <p:nvSpPr>
          <p:cNvPr id="11" name="card-2"/>
          <p:cNvSpPr/>
          <p:nvPr/>
        </p:nvSpPr>
        <p:spPr>
          <a:xfrm>
            <a:off x="6254496"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Shape 10"/>
          <p:cNvSpPr/>
          <p:nvPr/>
        </p:nvSpPr>
        <p:spPr>
          <a:xfrm>
            <a:off x="6574536" y="1783080"/>
            <a:ext cx="457200" cy="457200"/>
          </a:xfrm>
          <a:prstGeom prst="ellipse">
            <a:avLst/>
          </a:prstGeom>
          <a:solidFill>
            <a:srgbClr val="788C5D"/>
          </a:solidFill>
          <a:ln w="12700">
            <a:solidFill>
              <a:srgbClr val="788C5D"/>
            </a:solidFill>
            <a:prstDash val="solid"/>
          </a:ln>
        </p:spPr>
      </p:sp>
      <p:sp>
        <p:nvSpPr>
          <p:cNvPr id="13" name="Text 11"/>
          <p:cNvSpPr txBox="1"/>
          <p:nvPr/>
        </p:nvSpPr>
        <p:spPr>
          <a:xfrm>
            <a:off x="6483096"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Privacy</a:t>
            </a:r>
            <a:endParaRPr lang="en-US" sz="2400" dirty="0"/>
          </a:p>
        </p:txBody>
      </p:sp>
      <p:sp>
        <p:nvSpPr>
          <p:cNvPr id="14" name="Text 12"/>
          <p:cNvSpPr txBox="1"/>
          <p:nvPr/>
        </p:nvSpPr>
        <p:spPr>
          <a:xfrm>
            <a:off x="6483096"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No names and no ID numbers, and the minimum data sufficient for the task.</a:t>
            </a:r>
            <a:endParaRPr lang="en-US" sz="1800" dirty="0"/>
          </a:p>
        </p:txBody>
      </p:sp>
      <p:sp>
        <p:nvSpPr>
          <p:cNvPr id="15" name="card-3"/>
          <p:cNvSpPr/>
          <p:nvPr/>
        </p:nvSpPr>
        <p:spPr>
          <a:xfrm>
            <a:off x="9107424"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6" name="Shape 14"/>
          <p:cNvSpPr/>
          <p:nvPr/>
        </p:nvSpPr>
        <p:spPr>
          <a:xfrm>
            <a:off x="9427464" y="1783080"/>
            <a:ext cx="457200" cy="457200"/>
          </a:xfrm>
          <a:prstGeom prst="ellipse">
            <a:avLst/>
          </a:prstGeom>
          <a:solidFill>
            <a:srgbClr val="B0AEA5"/>
          </a:solidFill>
          <a:ln w="12700">
            <a:solidFill>
              <a:srgbClr val="B0AEA5"/>
            </a:solidFill>
            <a:prstDash val="solid"/>
          </a:ln>
        </p:spPr>
      </p:sp>
      <p:sp>
        <p:nvSpPr>
          <p:cNvPr id="17" name="Text 15"/>
          <p:cNvSpPr txBox="1"/>
          <p:nvPr/>
        </p:nvSpPr>
        <p:spPr>
          <a:xfrm>
            <a:off x="9336024"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Over-reliance</a:t>
            </a:r>
            <a:endParaRPr lang="en-US" sz="2400" dirty="0"/>
          </a:p>
        </p:txBody>
      </p:sp>
      <p:sp>
        <p:nvSpPr>
          <p:cNvPr id="18" name="Text 16"/>
          <p:cNvSpPr txBox="1"/>
          <p:nvPr/>
        </p:nvSpPr>
        <p:spPr>
          <a:xfrm>
            <a:off x="9336024"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Claude's judgement that an item is fair is an opinion that needs evidence.</a:t>
            </a:r>
            <a:endParaRPr lang="en-US" sz="1800" dirty="0"/>
          </a:p>
        </p:txBody>
      </p:sp>
      <p:sp>
        <p:nvSpPr>
          <p:cNvPr id="19" name="footer"/>
          <p:cNvSpPr/>
          <p:nvPr/>
        </p:nvSpPr>
        <p:spPr>
          <a:xfrm>
            <a:off x="548640" y="5349240"/>
            <a:ext cx="11091672" cy="777240"/>
          </a:xfrm>
          <a:prstGeom prst="roundRect">
            <a:avLst>
              <a:gd name="adj" fmla="val 14118"/>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20" name="Text 18"/>
          <p:cNvSpPr txBox="1"/>
          <p:nvPr/>
        </p:nvSpPr>
        <p:spPr>
          <a:xfrm>
            <a:off x="914400" y="5349240"/>
            <a:ext cx="10360152" cy="777240"/>
          </a:xfrm>
          <a:prstGeom prst="rect">
            <a:avLst/>
          </a:prstGeom>
          <a:noFill/>
          <a:ln/>
        </p:spPr>
        <p:txBody>
          <a:bodyPr wrap="square" lIns="0" tIns="0" rIns="0" bIns="0" rtlCol="0" anchor="ctr">
            <a:normAutofit/>
          </a:bodyPr>
          <a:lstStyle/>
          <a:p>
            <a:pPr algn="l" indent="0" marL="0">
              <a:buNone/>
            </a:pPr>
            <a:r>
              <a:rPr lang="en-US" sz="2000" dirty="0">
                <a:solidFill>
                  <a:srgbClr val="FFFFFF"/>
                </a:solidFill>
                <a:latin typeface="Calibri" pitchFamily="34" charset="0"/>
                <a:ea typeface="Calibri" pitchFamily="34" charset="-122"/>
                <a:cs typeface="Calibri" pitchFamily="34" charset="-120"/>
              </a:rPr>
              <a:t>UNESCO Guidance for Generative AI in Education and Research (2023)</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Fairness in the classroom: accommodation or modification?</a:t>
            </a:r>
            <a:endParaRPr lang="en-US" sz="3800" dirty="0"/>
          </a:p>
        </p:txBody>
      </p:sp>
      <p:sp>
        <p:nvSpPr>
          <p:cNvPr id="3" name="panel-0"/>
          <p:cNvSpPr/>
          <p:nvPr/>
        </p:nvSpPr>
        <p:spPr>
          <a:xfrm>
            <a:off x="548640"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828800"/>
            <a:ext cx="457200" cy="457200"/>
          </a:xfrm>
          <a:prstGeom prst="ellipse">
            <a:avLst/>
          </a:prstGeom>
          <a:solidFill>
            <a:srgbClr val="788C5D"/>
          </a:solidFill>
          <a:ln w="12700">
            <a:solidFill>
              <a:srgbClr val="788C5D"/>
            </a:solidFill>
            <a:prstDash val="solid"/>
          </a:ln>
        </p:spPr>
      </p:sp>
      <p:sp>
        <p:nvSpPr>
          <p:cNvPr id="5" name="Text 3"/>
          <p:cNvSpPr txBox="1"/>
          <p:nvPr/>
        </p:nvSpPr>
        <p:spPr>
          <a:xfrm>
            <a:off x="1463040"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An accommodation that preserves the skill</a:t>
            </a:r>
            <a:endParaRPr lang="en-US" sz="2600" dirty="0"/>
          </a:p>
        </p:txBody>
      </p:sp>
      <p:sp>
        <p:nvSpPr>
          <p:cNvPr id="6" name="Text 4"/>
          <p:cNvSpPr txBox="1"/>
          <p:nvPr/>
        </p:nvSpPr>
        <p:spPr>
          <a:xfrm>
            <a:off x="822960"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Extra time</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Larger print and a quiet place</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Reading the text of a mathematics problem aloud</a:t>
            </a:r>
            <a:endParaRPr lang="en-US" sz="2000" dirty="0"/>
          </a:p>
        </p:txBody>
      </p:sp>
      <p:sp>
        <p:nvSpPr>
          <p:cNvPr id="7" name="panel-1"/>
          <p:cNvSpPr/>
          <p:nvPr/>
        </p:nvSpPr>
        <p:spPr>
          <a:xfrm>
            <a:off x="6323076"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6643116" y="1828800"/>
            <a:ext cx="457200" cy="457200"/>
          </a:xfrm>
          <a:prstGeom prst="ellipse">
            <a:avLst/>
          </a:prstGeom>
          <a:solidFill>
            <a:srgbClr val="D97757"/>
          </a:solidFill>
          <a:ln w="12700">
            <a:solidFill>
              <a:srgbClr val="D97757"/>
            </a:solidFill>
            <a:prstDash val="solid"/>
          </a:ln>
        </p:spPr>
      </p:sp>
      <p:sp>
        <p:nvSpPr>
          <p:cNvPr id="9" name="Text 7"/>
          <p:cNvSpPr txBox="1"/>
          <p:nvPr/>
        </p:nvSpPr>
        <p:spPr>
          <a:xfrm>
            <a:off x="7237476"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A modification that changes the skill</a:t>
            </a:r>
            <a:endParaRPr lang="en-US" sz="2600" dirty="0"/>
          </a:p>
        </p:txBody>
      </p:sp>
      <p:sp>
        <p:nvSpPr>
          <p:cNvPr id="10" name="Text 8"/>
          <p:cNvSpPr txBox="1"/>
          <p:nvPr/>
        </p:nvSpPr>
        <p:spPr>
          <a:xfrm>
            <a:off x="6597396"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Less difficult items</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Removing a step from the problem</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A calculator in a mental arithmetic test</a:t>
            </a:r>
            <a:endParaRPr lang="en-US" sz="2000" dirty="0"/>
          </a:p>
        </p:txBody>
      </p:sp>
      <p:sp>
        <p:nvSpPr>
          <p:cNvPr id="11" name="footer"/>
          <p:cNvSpPr/>
          <p:nvPr/>
        </p:nvSpPr>
        <p:spPr>
          <a:xfrm>
            <a:off x="548640" y="5486400"/>
            <a:ext cx="11091672" cy="685800"/>
          </a:xfrm>
          <a:prstGeom prst="roundRect">
            <a:avLst>
              <a:gd name="adj" fmla="val 160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914400" y="5486400"/>
            <a:ext cx="10360152" cy="685800"/>
          </a:xfrm>
          <a:prstGeom prst="rect">
            <a:avLst/>
          </a:prstGeom>
          <a:noFill/>
          <a:ln/>
        </p:spPr>
        <p:txBody>
          <a:bodyPr wrap="square" lIns="0" tIns="0" rIns="0" bIns="0" rtlCol="0" anchor="ctr">
            <a:normAutofit/>
          </a:bodyPr>
          <a:lstStyle/>
          <a:p>
            <a:pPr algn="l" indent="0" marL="0">
              <a:buNone/>
            </a:pPr>
            <a:r>
              <a:rPr lang="en-US" sz="1900" dirty="0">
                <a:solidFill>
                  <a:srgbClr val="FFFFFF"/>
                </a:solidFill>
                <a:latin typeface="Calibri" pitchFamily="34" charset="0"/>
                <a:ea typeface="Calibri" pitchFamily="34" charset="-122"/>
                <a:cs typeface="Calibri" pitchFamily="34" charset="-120"/>
              </a:rPr>
              <a:t>Universal design and plain language remove many barriers before administration.</a:t>
            </a:r>
            <a:endParaRPr lang="en-US" sz="19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Today's workshop with Claude</a:t>
            </a:r>
            <a:endParaRPr lang="en-US" sz="3800" dirty="0"/>
          </a:p>
        </p:txBody>
      </p:sp>
      <p:sp>
        <p:nvSpPr>
          <p:cNvPr id="3" name="step-1"/>
          <p:cNvSpPr/>
          <p:nvPr/>
        </p:nvSpPr>
        <p:spPr>
          <a:xfrm>
            <a:off x="548640" y="150876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Text 2"/>
          <p:cNvSpPr txBox="1"/>
          <p:nvPr/>
        </p:nvSpPr>
        <p:spPr>
          <a:xfrm>
            <a:off x="777240" y="169164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1</a:t>
            </a:r>
            <a:endParaRPr lang="en-US" sz="4000" dirty="0"/>
          </a:p>
        </p:txBody>
      </p:sp>
      <p:sp>
        <p:nvSpPr>
          <p:cNvPr id="5" name="Text 3"/>
          <p:cNvSpPr txBox="1"/>
          <p:nvPr/>
        </p:nvSpPr>
        <p:spPr>
          <a:xfrm>
            <a:off x="2371039" y="182880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10 min</a:t>
            </a:r>
            <a:endParaRPr lang="en-US" sz="1700" dirty="0"/>
          </a:p>
        </p:txBody>
      </p:sp>
      <p:sp>
        <p:nvSpPr>
          <p:cNvPr id="6" name="Text 4"/>
          <p:cNvSpPr txBox="1"/>
          <p:nvPr/>
        </p:nvSpPr>
        <p:spPr>
          <a:xfrm>
            <a:off x="777240" y="246888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The first accusation from the raw comparison</a:t>
            </a:r>
            <a:endParaRPr lang="en-US" sz="2100" dirty="0"/>
          </a:p>
        </p:txBody>
      </p:sp>
      <p:sp>
        <p:nvSpPr>
          <p:cNvPr id="7" name="step-2"/>
          <p:cNvSpPr/>
          <p:nvPr/>
        </p:nvSpPr>
        <p:spPr>
          <a:xfrm>
            <a:off x="4336999" y="150876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4565599" y="169164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2</a:t>
            </a:r>
            <a:endParaRPr lang="en-US" sz="4000" dirty="0"/>
          </a:p>
        </p:txBody>
      </p:sp>
      <p:sp>
        <p:nvSpPr>
          <p:cNvPr id="9" name="Text 7"/>
          <p:cNvSpPr txBox="1"/>
          <p:nvPr/>
        </p:nvSpPr>
        <p:spPr>
          <a:xfrm>
            <a:off x="6160313" y="182880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15 min</a:t>
            </a:r>
            <a:endParaRPr lang="en-US" sz="1700" dirty="0"/>
          </a:p>
        </p:txBody>
      </p:sp>
      <p:sp>
        <p:nvSpPr>
          <p:cNvPr id="10" name="Text 8"/>
          <p:cNvSpPr txBox="1"/>
          <p:nvPr/>
        </p:nvSpPr>
        <p:spPr>
          <a:xfrm>
            <a:off x="4565599" y="246888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The matched comparison and hand verification</a:t>
            </a:r>
            <a:endParaRPr lang="en-US" sz="2100" dirty="0"/>
          </a:p>
        </p:txBody>
      </p:sp>
      <p:sp>
        <p:nvSpPr>
          <p:cNvPr id="11" name="step-3"/>
          <p:cNvSpPr/>
          <p:nvPr/>
        </p:nvSpPr>
        <p:spPr>
          <a:xfrm>
            <a:off x="8126273" y="150876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8354873" y="169164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3</a:t>
            </a:r>
            <a:endParaRPr lang="en-US" sz="4000" dirty="0"/>
          </a:p>
        </p:txBody>
      </p:sp>
      <p:sp>
        <p:nvSpPr>
          <p:cNvPr id="13" name="Text 11"/>
          <p:cNvSpPr txBox="1"/>
          <p:nvPr/>
        </p:nvSpPr>
        <p:spPr>
          <a:xfrm>
            <a:off x="9948672" y="182880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15 min</a:t>
            </a:r>
            <a:endParaRPr lang="en-US" sz="1700" dirty="0"/>
          </a:p>
        </p:txBody>
      </p:sp>
      <p:sp>
        <p:nvSpPr>
          <p:cNvPr id="14" name="Text 12"/>
          <p:cNvSpPr txBox="1"/>
          <p:nvPr/>
        </p:nvSpPr>
        <p:spPr>
          <a:xfrm>
            <a:off x="8354873" y="246888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Reviewing three items with Claude</a:t>
            </a:r>
            <a:endParaRPr lang="en-US" sz="2100" dirty="0"/>
          </a:p>
        </p:txBody>
      </p:sp>
      <p:sp>
        <p:nvSpPr>
          <p:cNvPr id="15" name="step-4"/>
          <p:cNvSpPr/>
          <p:nvPr/>
        </p:nvSpPr>
        <p:spPr>
          <a:xfrm>
            <a:off x="548640" y="374904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6" name="Text 14"/>
          <p:cNvSpPr txBox="1"/>
          <p:nvPr/>
        </p:nvSpPr>
        <p:spPr>
          <a:xfrm>
            <a:off x="777240" y="393192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4</a:t>
            </a:r>
            <a:endParaRPr lang="en-US" sz="4000" dirty="0"/>
          </a:p>
        </p:txBody>
      </p:sp>
      <p:sp>
        <p:nvSpPr>
          <p:cNvPr id="17" name="Text 15"/>
          <p:cNvSpPr txBox="1"/>
          <p:nvPr/>
        </p:nvSpPr>
        <p:spPr>
          <a:xfrm>
            <a:off x="2371039" y="406908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10 min</a:t>
            </a:r>
            <a:endParaRPr lang="en-US" sz="1700" dirty="0"/>
          </a:p>
        </p:txBody>
      </p:sp>
      <p:sp>
        <p:nvSpPr>
          <p:cNvPr id="18" name="Text 16"/>
          <p:cNvSpPr txBox="1"/>
          <p:nvPr/>
        </p:nvSpPr>
        <p:spPr>
          <a:xfrm>
            <a:off x="777240" y="470916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Checking that the skill is preserved</a:t>
            </a:r>
            <a:endParaRPr lang="en-US" sz="2100" dirty="0"/>
          </a:p>
        </p:txBody>
      </p:sp>
      <p:sp>
        <p:nvSpPr>
          <p:cNvPr id="19" name="step-5"/>
          <p:cNvSpPr/>
          <p:nvPr/>
        </p:nvSpPr>
        <p:spPr>
          <a:xfrm>
            <a:off x="4336999" y="374904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0" name="Text 18"/>
          <p:cNvSpPr txBox="1"/>
          <p:nvPr/>
        </p:nvSpPr>
        <p:spPr>
          <a:xfrm>
            <a:off x="4565599" y="393192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5</a:t>
            </a:r>
            <a:endParaRPr lang="en-US" sz="4000" dirty="0"/>
          </a:p>
        </p:txBody>
      </p:sp>
      <p:sp>
        <p:nvSpPr>
          <p:cNvPr id="21" name="Text 19"/>
          <p:cNvSpPr txBox="1"/>
          <p:nvPr/>
        </p:nvSpPr>
        <p:spPr>
          <a:xfrm>
            <a:off x="6160313" y="406908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10 min</a:t>
            </a:r>
            <a:endParaRPr lang="en-US" sz="1700" dirty="0"/>
          </a:p>
        </p:txBody>
      </p:sp>
      <p:sp>
        <p:nvSpPr>
          <p:cNvPr id="22" name="Text 20"/>
          <p:cNvSpPr txBox="1"/>
          <p:nvPr/>
        </p:nvSpPr>
        <p:spPr>
          <a:xfrm>
            <a:off x="4565599" y="470916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Item fairness report</a:t>
            </a:r>
            <a:endParaRPr lang="en-US" sz="2100" dirty="0"/>
          </a:p>
        </p:txBody>
      </p:sp>
      <p:sp>
        <p:nvSpPr>
          <p:cNvPr id="23" name="step-6"/>
          <p:cNvSpPr/>
          <p:nvPr/>
        </p:nvSpPr>
        <p:spPr>
          <a:xfrm>
            <a:off x="8126273" y="374904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4" name="Text 22"/>
          <p:cNvSpPr txBox="1"/>
          <p:nvPr/>
        </p:nvSpPr>
        <p:spPr>
          <a:xfrm>
            <a:off x="8354873" y="393192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6</a:t>
            </a:r>
            <a:endParaRPr lang="en-US" sz="4000" dirty="0"/>
          </a:p>
        </p:txBody>
      </p:sp>
      <p:sp>
        <p:nvSpPr>
          <p:cNvPr id="25" name="Text 23"/>
          <p:cNvSpPr txBox="1"/>
          <p:nvPr/>
        </p:nvSpPr>
        <p:spPr>
          <a:xfrm>
            <a:off x="9948672" y="406908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10 min</a:t>
            </a:r>
            <a:endParaRPr lang="en-US" sz="1700" dirty="0"/>
          </a:p>
        </p:txBody>
      </p:sp>
      <p:sp>
        <p:nvSpPr>
          <p:cNvPr id="26" name="Text 24"/>
          <p:cNvSpPr txBox="1"/>
          <p:nvPr/>
        </p:nvSpPr>
        <p:spPr>
          <a:xfrm>
            <a:off x="8354873" y="470916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Stereotypes in generated problems</a:t>
            </a:r>
            <a:endParaRPr lang="en-US" sz="2100" dirty="0"/>
          </a:p>
        </p:txBody>
      </p:sp>
      <p:sp>
        <p:nvSpPr>
          <p:cNvPr id="27" name="Text 25"/>
          <p:cNvSpPr txBox="1"/>
          <p:nvPr/>
        </p:nvSpPr>
        <p:spPr>
          <a:xfrm>
            <a:off x="548640" y="5897880"/>
            <a:ext cx="11091672" cy="411480"/>
          </a:xfrm>
          <a:prstGeom prst="rect">
            <a:avLst/>
          </a:prstGeom>
          <a:noFill/>
          <a:ln/>
        </p:spPr>
        <p:txBody>
          <a:bodyPr wrap="square" lIns="0" tIns="0" rIns="0" bIns="0" rtlCol="0" anchor="t">
            <a:normAutofit/>
          </a:bodyPr>
          <a:lstStyle/>
          <a:p>
            <a:pPr algn="l" indent="0" marL="0">
              <a:buNone/>
            </a:pPr>
            <a:r>
              <a:rPr lang="en-US" sz="1800" dirty="0">
                <a:solidFill>
                  <a:srgbClr val="B0AEA5"/>
                </a:solidFill>
                <a:latin typeface="Calibri" pitchFamily="34" charset="0"/>
                <a:ea typeface="Calibri" pitchFamily="34" charset="-122"/>
                <a:cs typeface="Calibri" pitchFamily="34" charset="-120"/>
              </a:rPr>
              <a:t>AI use level 2: Documented collaboration. No need to upload the Excel file.</a:t>
            </a:r>
            <a:endParaRPr lang="en-US" sz="18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822960"/>
            <a:ext cx="11091672" cy="640080"/>
          </a:xfrm>
          <a:prstGeom prst="rect">
            <a:avLst/>
          </a:prstGeom>
          <a:noFill/>
          <a:ln/>
        </p:spPr>
        <p:txBody>
          <a:bodyPr wrap="square" lIns="0" tIns="0" rIns="0" bIns="0" rtlCol="0" anchor="t">
            <a:normAutofit/>
          </a:bodyPr>
          <a:lstStyle/>
          <a:p>
            <a:pPr algn="l" indent="0" marL="0">
              <a:buNone/>
            </a:pPr>
            <a:r>
              <a:rPr lang="en-US" sz="2800" b="1" dirty="0">
                <a:solidFill>
                  <a:srgbClr val="D97757"/>
                </a:solidFill>
                <a:latin typeface="Calibri" pitchFamily="34" charset="0"/>
                <a:ea typeface="Calibri" pitchFamily="34" charset="-122"/>
                <a:cs typeface="Calibri" pitchFamily="34" charset="-120"/>
              </a:rPr>
              <a:t>Before you leave</a:t>
            </a:r>
            <a:endParaRPr lang="en-US" sz="2800" dirty="0"/>
          </a:p>
        </p:txBody>
      </p:sp>
      <p:sp>
        <p:nvSpPr>
          <p:cNvPr id="3" name="Text 1"/>
          <p:cNvSpPr txBox="1"/>
          <p:nvPr/>
        </p:nvSpPr>
        <p:spPr>
          <a:xfrm>
            <a:off x="548640" y="1463040"/>
            <a:ext cx="11091672" cy="1371600"/>
          </a:xfrm>
          <a:prstGeom prst="rect">
            <a:avLst/>
          </a:prstGeom>
          <a:noFill/>
          <a:ln/>
        </p:spPr>
        <p:txBody>
          <a:bodyPr wrap="square" lIns="0" tIns="0" rIns="0" bIns="0" rtlCol="0" anchor="ctr">
            <a:normAutofit/>
          </a:bodyPr>
          <a:lstStyle/>
          <a:p>
            <a:pPr algn="l" indent="0" marL="0">
              <a:buNone/>
            </a:pPr>
            <a:r>
              <a:rPr lang="en-US" sz="4800" b="1" dirty="0">
                <a:solidFill>
                  <a:srgbClr val="FFFFFF"/>
                </a:solidFill>
                <a:latin typeface="Calibri" pitchFamily="34" charset="0"/>
                <a:ea typeface="Calibri" pitchFamily="34" charset="-122"/>
                <a:cs typeface="Calibri" pitchFamily="34" charset="-120"/>
              </a:rPr>
              <a:t>Three ideas to take with you</a:t>
            </a:r>
            <a:endParaRPr lang="en-US" sz="4800" dirty="0"/>
          </a:p>
        </p:txBody>
      </p:sp>
      <p:sp>
        <p:nvSpPr>
          <p:cNvPr id="4" name="Shape 2"/>
          <p:cNvSpPr/>
          <p:nvPr/>
        </p:nvSpPr>
        <p:spPr>
          <a:xfrm>
            <a:off x="548640" y="3200400"/>
            <a:ext cx="3453384" cy="2377440"/>
          </a:xfrm>
          <a:prstGeom prst="roundRect">
            <a:avLst>
              <a:gd name="adj" fmla="val 4615"/>
            </a:avLst>
          </a:prstGeom>
          <a:solidFill>
            <a:srgbClr val="2A2A28"/>
          </a:solidFill>
          <a:ln w="12700">
            <a:solidFill>
              <a:srgbClr val="2A2A28"/>
            </a:solidFill>
            <a:prstDash val="solid"/>
          </a:ln>
        </p:spPr>
      </p:sp>
      <p:sp>
        <p:nvSpPr>
          <p:cNvPr id="5" name="Text 3"/>
          <p:cNvSpPr txBox="1"/>
          <p:nvPr/>
        </p:nvSpPr>
        <p:spPr>
          <a:xfrm>
            <a:off x="822960" y="3429000"/>
            <a:ext cx="2904744" cy="731520"/>
          </a:xfrm>
          <a:prstGeom prst="rect">
            <a:avLst/>
          </a:prstGeom>
          <a:noFill/>
          <a:ln/>
        </p:spPr>
        <p:txBody>
          <a:bodyPr wrap="square" lIns="0" tIns="0" rIns="0" bIns="0" rtlCol="0" anchor="t">
            <a:normAutofit/>
          </a:bodyPr>
          <a:lstStyle/>
          <a:p>
            <a:pPr algn="l" indent="0" marL="0">
              <a:buNone/>
            </a:pPr>
            <a:r>
              <a:rPr lang="en-US" sz="2500" b="1" dirty="0">
                <a:solidFill>
                  <a:srgbClr val="D97757"/>
                </a:solidFill>
                <a:latin typeface="Calibri" pitchFamily="34" charset="0"/>
                <a:ea typeface="Calibri" pitchFamily="34" charset="-122"/>
                <a:cs typeface="Calibri" pitchFamily="34" charset="-120"/>
              </a:rPr>
              <a:t>A difference is not bias</a:t>
            </a:r>
            <a:endParaRPr lang="en-US" sz="2500" dirty="0"/>
          </a:p>
        </p:txBody>
      </p:sp>
      <p:sp>
        <p:nvSpPr>
          <p:cNvPr id="6" name="Text 4"/>
          <p:cNvSpPr txBox="1"/>
          <p:nvPr/>
        </p:nvSpPr>
        <p:spPr>
          <a:xfrm>
            <a:off x="822960" y="4160520"/>
            <a:ext cx="2904744" cy="1280160"/>
          </a:xfrm>
          <a:prstGeom prst="rect">
            <a:avLst/>
          </a:prstGeom>
          <a:noFill/>
          <a:ln/>
        </p:spPr>
        <p:txBody>
          <a:bodyPr wrap="square" lIns="0" tIns="0" rIns="0" bIns="0" rtlCol="0" anchor="t">
            <a:normAutofit/>
          </a:bodyPr>
          <a:lstStyle/>
          <a:p>
            <a:pPr algn="l" indent="0" marL="0">
              <a:buNone/>
            </a:pPr>
            <a:r>
              <a:rPr lang="en-US" sz="1900" dirty="0">
                <a:solidFill>
                  <a:srgbClr val="E8E6DC"/>
                </a:solidFill>
                <a:latin typeface="Calibri" pitchFamily="34" charset="0"/>
                <a:ea typeface="Calibri" pitchFamily="34" charset="-122"/>
                <a:cs typeface="Calibri" pitchFamily="34" charset="-120"/>
              </a:rPr>
              <a:t>Compare students of the same ability level before you accuse any item.</a:t>
            </a:r>
            <a:endParaRPr lang="en-US" sz="1900" dirty="0"/>
          </a:p>
        </p:txBody>
      </p:sp>
      <p:sp>
        <p:nvSpPr>
          <p:cNvPr id="7" name="Shape 5"/>
          <p:cNvSpPr/>
          <p:nvPr/>
        </p:nvSpPr>
        <p:spPr>
          <a:xfrm>
            <a:off x="4368089" y="3200400"/>
            <a:ext cx="3453384" cy="2377440"/>
          </a:xfrm>
          <a:prstGeom prst="roundRect">
            <a:avLst>
              <a:gd name="adj" fmla="val 4615"/>
            </a:avLst>
          </a:prstGeom>
          <a:solidFill>
            <a:srgbClr val="2A2A28"/>
          </a:solidFill>
          <a:ln w="12700">
            <a:solidFill>
              <a:srgbClr val="2A2A28"/>
            </a:solidFill>
            <a:prstDash val="solid"/>
          </a:ln>
        </p:spPr>
      </p:sp>
      <p:sp>
        <p:nvSpPr>
          <p:cNvPr id="8" name="Text 6"/>
          <p:cNvSpPr txBox="1"/>
          <p:nvPr/>
        </p:nvSpPr>
        <p:spPr>
          <a:xfrm>
            <a:off x="4642409" y="3429000"/>
            <a:ext cx="2904744" cy="731520"/>
          </a:xfrm>
          <a:prstGeom prst="rect">
            <a:avLst/>
          </a:prstGeom>
          <a:noFill/>
          <a:ln/>
        </p:spPr>
        <p:txBody>
          <a:bodyPr wrap="square" lIns="0" tIns="0" rIns="0" bIns="0" rtlCol="0" anchor="t">
            <a:normAutofit/>
          </a:bodyPr>
          <a:lstStyle/>
          <a:p>
            <a:pPr algn="l" indent="0" marL="0">
              <a:buNone/>
            </a:pPr>
            <a:r>
              <a:rPr lang="en-US" sz="2500" b="1" dirty="0">
                <a:solidFill>
                  <a:srgbClr val="D97757"/>
                </a:solidFill>
                <a:latin typeface="Calibri" pitchFamily="34" charset="0"/>
                <a:ea typeface="Calibri" pitchFamily="34" charset="-122"/>
                <a:cs typeface="Calibri" pitchFamily="34" charset="-120"/>
              </a:rPr>
              <a:t>A signal is a call for review</a:t>
            </a:r>
            <a:endParaRPr lang="en-US" sz="2500" dirty="0"/>
          </a:p>
        </p:txBody>
      </p:sp>
      <p:sp>
        <p:nvSpPr>
          <p:cNvPr id="9" name="Text 7"/>
          <p:cNvSpPr txBox="1"/>
          <p:nvPr/>
        </p:nvSpPr>
        <p:spPr>
          <a:xfrm>
            <a:off x="4642409" y="4160520"/>
            <a:ext cx="2904744" cy="1280160"/>
          </a:xfrm>
          <a:prstGeom prst="rect">
            <a:avLst/>
          </a:prstGeom>
          <a:noFill/>
          <a:ln/>
        </p:spPr>
        <p:txBody>
          <a:bodyPr wrap="square" lIns="0" tIns="0" rIns="0" bIns="0" rtlCol="0" anchor="t">
            <a:normAutofit/>
          </a:bodyPr>
          <a:lstStyle/>
          <a:p>
            <a:pPr algn="l" indent="0" marL="0">
              <a:buNone/>
            </a:pPr>
            <a:r>
              <a:rPr lang="en-US" sz="1900" dirty="0">
                <a:solidFill>
                  <a:srgbClr val="E8E6DC"/>
                </a:solidFill>
                <a:latin typeface="Calibri" pitchFamily="34" charset="0"/>
                <a:ea typeface="Calibri" pitchFamily="34" charset="-122"/>
                <a:cs typeface="Calibri" pitchFamily="34" charset="-120"/>
              </a:rPr>
              <a:t>The number says where to look, the review says why, and the revision preserves the skill.</a:t>
            </a:r>
            <a:endParaRPr lang="en-US" sz="1900" dirty="0"/>
          </a:p>
        </p:txBody>
      </p:sp>
      <p:sp>
        <p:nvSpPr>
          <p:cNvPr id="10" name="Shape 8"/>
          <p:cNvSpPr/>
          <p:nvPr/>
        </p:nvSpPr>
        <p:spPr>
          <a:xfrm>
            <a:off x="8186623" y="3200400"/>
            <a:ext cx="3453384" cy="2377440"/>
          </a:xfrm>
          <a:prstGeom prst="roundRect">
            <a:avLst>
              <a:gd name="adj" fmla="val 4615"/>
            </a:avLst>
          </a:prstGeom>
          <a:solidFill>
            <a:srgbClr val="2A2A28"/>
          </a:solidFill>
          <a:ln w="12700">
            <a:solidFill>
              <a:srgbClr val="2A2A28"/>
            </a:solidFill>
            <a:prstDash val="solid"/>
          </a:ln>
        </p:spPr>
      </p:sp>
      <p:sp>
        <p:nvSpPr>
          <p:cNvPr id="11" name="Text 9"/>
          <p:cNvSpPr txBox="1"/>
          <p:nvPr/>
        </p:nvSpPr>
        <p:spPr>
          <a:xfrm>
            <a:off x="8460943" y="3429000"/>
            <a:ext cx="2904744" cy="731520"/>
          </a:xfrm>
          <a:prstGeom prst="rect">
            <a:avLst/>
          </a:prstGeom>
          <a:noFill/>
          <a:ln/>
        </p:spPr>
        <p:txBody>
          <a:bodyPr wrap="square" lIns="0" tIns="0" rIns="0" bIns="0" rtlCol="0" anchor="t">
            <a:normAutofit/>
          </a:bodyPr>
          <a:lstStyle/>
          <a:p>
            <a:pPr algn="l" indent="0" marL="0">
              <a:buNone/>
            </a:pPr>
            <a:r>
              <a:rPr lang="en-US" sz="2500" b="1" dirty="0">
                <a:solidFill>
                  <a:srgbClr val="D97757"/>
                </a:solidFill>
                <a:latin typeface="Calibri" pitchFamily="34" charset="0"/>
                <a:ea typeface="Calibri" pitchFamily="34" charset="-122"/>
                <a:cs typeface="Calibri" pitchFamily="34" charset="-120"/>
              </a:rPr>
              <a:t>Claude broadens your view; it does not judge</a:t>
            </a:r>
            <a:endParaRPr lang="en-US" sz="2500" dirty="0"/>
          </a:p>
        </p:txBody>
      </p:sp>
      <p:sp>
        <p:nvSpPr>
          <p:cNvPr id="12" name="Text 10"/>
          <p:cNvSpPr txBox="1"/>
          <p:nvPr/>
        </p:nvSpPr>
        <p:spPr>
          <a:xfrm>
            <a:off x="8460943" y="4160520"/>
            <a:ext cx="2904744" cy="1280160"/>
          </a:xfrm>
          <a:prstGeom prst="rect">
            <a:avLst/>
          </a:prstGeom>
          <a:noFill/>
          <a:ln/>
        </p:spPr>
        <p:txBody>
          <a:bodyPr wrap="square" lIns="0" tIns="0" rIns="0" bIns="0" rtlCol="0" anchor="t">
            <a:normAutofit/>
          </a:bodyPr>
          <a:lstStyle/>
          <a:p>
            <a:pPr algn="l" indent="0" marL="0">
              <a:buNone/>
            </a:pPr>
            <a:r>
              <a:rPr lang="en-US" sz="1900" dirty="0">
                <a:solidFill>
                  <a:srgbClr val="E8E6DC"/>
                </a:solidFill>
                <a:latin typeface="Calibri" pitchFamily="34" charset="0"/>
                <a:ea typeface="Calibri" pitchFamily="34" charset="-122"/>
                <a:cs typeface="Calibri" pitchFamily="34" charset="-120"/>
              </a:rPr>
              <a:t>Review its outputs against the same criteria, and document what you accepted and what you rejected.</a:t>
            </a:r>
            <a:endParaRPr lang="en-US" sz="19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nthropic English">
  <a:themeElements>
    <a:clrScheme name="Anthropic English">
      <a:dk1>
        <a:srgbClr val="141413"/>
      </a:dk1>
      <a:lt1>
        <a:srgbClr val="FFFFFF"/>
      </a:lt1>
      <a:dk2>
        <a:srgbClr val="141413"/>
      </a:dk2>
      <a:lt2>
        <a:srgbClr val="FAF9F5"/>
      </a:lt2>
      <a:accent1>
        <a:srgbClr val="D97757"/>
      </a:accent1>
      <a:accent2>
        <a:srgbClr val="6A9BCC"/>
      </a:accent2>
      <a:accent3>
        <a:srgbClr val="788C5D"/>
      </a:accent3>
      <a:accent4>
        <a:srgbClr val="B0AEA5"/>
      </a:accent4>
      <a:accent5>
        <a:srgbClr val="E8E6DC"/>
      </a:accent5>
      <a:accent6>
        <a:srgbClr val="141413"/>
      </a:accent6>
      <a:hlink>
        <a:srgbClr val="6A9BCC"/>
      </a:hlink>
      <a:folHlink>
        <a:srgbClr val="788C5D"/>
      </a:folHlink>
    </a:clrScheme>
    <a:fontScheme name="Anthropic Englis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5</dc:title>
  <dc:subject>PptxGenJS Presentation</dc:subject>
  <dc:creator>PptxGenJS</dc:creator>
  <cp:lastModifiedBy>PptxGenJS</cp:lastModifiedBy>
  <cp:revision>1</cp:revision>
  <dcterms:created xsi:type="dcterms:W3CDTF">2026-10-15T04:06:05Z</dcterms:created>
  <dcterms:modified xsi:type="dcterms:W3CDTF">2026-10-15T04:06:05Z</dcterms:modified>
</cp:coreProperties>
</file>