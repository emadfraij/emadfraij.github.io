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5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فتتاح" id="{387298b7-25f2-742f-01bb-0775d9db77b1}">
          <p14:sldIdLst>
            <p14:sldId id="256"/>
            <p14:sldId id="257"/>
          </p14:sldIdLst>
        </p14:section>
        <p14:section name="المفاهيم" id="{ae20622f-506c-93e1-38b1-3a81bb141135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المموهات والثبات" id="{119e0364-1b1a-d02a-5731-19391ee9d981}">
          <p14:sldIdLst>
            <p14:sldId id="266"/>
            <p14:sldId id="267"/>
            <p14:sldId id="268"/>
          </p14:sldIdLst>
        </p14:section>
        <p14:section name="القرار" id="{f6067747-1bbf-6315-3f40-cfc2a3dc6676}">
          <p14:sldIdLst>
            <p14:sldId id="269"/>
            <p14:sldId id="270"/>
          </p14:sldIdLst>
        </p14:section>
        <p14:section name="المشغل" id="{61cfac95-4bf0-d272-6337-2d6f660f3772}">
          <p14:sldIdLst>
            <p14:sldId id="271"/>
            <p14:sldId id="272"/>
          </p14:sldIdLst>
        </p14:section>
        <p14:section name="الختام" id="{0d9a619c-cdd8-3605-0173-8872fd31d0b7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rtl="1">
              <a:defRPr sz="1600" b="0" i="0" u="none" strike="noStrike">
                <a:solidFill>
                  <a:srgbClr val="141413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141413"/>
                </a:solidFill>
                <a:latin typeface="+mn-lt"/>
              </a:rPr>
              <a:t>توزيع الدرجات الكلية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عدد الطلبة</c:v>
                </c:pt>
              </c:strCache>
            </c:strRef>
          </c:tx>
          <c:spPr>
            <a:solidFill>
              <a:srgbClr val="6A9B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0–5</c:v>
                  </c:pt>
                  <c:pt idx="1">
                    <c:v>6–8</c:v>
                  </c:pt>
                  <c:pt idx="2">
                    <c:v>9–11</c:v>
                  </c:pt>
                  <c:pt idx="3">
                    <c:v>12–14</c:v>
                  </c:pt>
                  <c:pt idx="4">
                    <c:v>15–17</c:v>
                  </c:pt>
                  <c:pt idx="5">
                    <c:v>18–20</c:v>
                  </c:pt>
                  <c:pt idx="6">
                    <c:v>21–23</c:v>
                  </c:pt>
                  <c:pt idx="7">
                    <c:v>24–26</c:v>
                  </c:pt>
                  <c:pt idx="8">
                    <c:v>27–30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</c:v>
                </c:pt>
                <c:pt idx="1">
                  <c:v>14</c:v>
                </c:pt>
                <c:pt idx="2">
                  <c:v>29</c:v>
                </c:pt>
                <c:pt idx="3">
                  <c:v>19</c:v>
                </c:pt>
                <c:pt idx="4">
                  <c:v>20</c:v>
                </c:pt>
                <c:pt idx="5">
                  <c:v>21</c:v>
                </c:pt>
                <c:pt idx="6">
                  <c:v>18</c:v>
                </c:pt>
                <c:pt idx="7">
                  <c:v>16</c:v>
                </c:pt>
                <c:pt idx="8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141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141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0AEA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فقرات جيدة</c:v>
                </c:pt>
              </c:strCache>
            </c:strRef>
          </c:tx>
          <c:spPr>
            <a:solidFill>
              <a:srgbClr val="6A9BCC"/>
            </a:solidFill>
            <a:ln>
              <a:noFill/>
            </a:ln>
            <a:effectLst/>
          </c:spPr>
          <c:marker>
            <c:symbol val="circle"/>
            <c:size val="11"/>
            <c:spPr>
              <a:solidFill>
                <a:srgbClr val="6A9BCC"/>
              </a:solidFill>
              <a:ln w="9525" cap="flat">
                <a:solidFill>
                  <a:srgbClr val="6A9BCC"/>
                </a:solidFill>
                <a:prstDash val="solid"/>
                <a:round/>
              </a:ln>
              <a:effectLst/>
            </c:spPr>
          </c:marker>
          <c:xVal>
            <c:numRef>
              <c:f>Sheet1!$A$2:$A$31</c:f>
              <c:numCache>
                <c:formatCode>General</c:formatCode>
                <c:ptCount val="30"/>
                <c:pt idx="0">
                  <c:v>0.433</c:v>
                </c:pt>
                <c:pt idx="1">
                  <c:v>0.407</c:v>
                </c:pt>
                <c:pt idx="2">
                  <c:v>0.373</c:v>
                </c:pt>
                <c:pt idx="3">
                  <c:v>0.767</c:v>
                </c:pt>
                <c:pt idx="4">
                  <c:v>0.427</c:v>
                </c:pt>
                <c:pt idx="5">
                  <c:v>0.473</c:v>
                </c:pt>
                <c:pt idx="6">
                  <c:v>0.253</c:v>
                </c:pt>
                <c:pt idx="7">
                  <c:v>0.66</c:v>
                </c:pt>
                <c:pt idx="8">
                  <c:v>0.907</c:v>
                </c:pt>
                <c:pt idx="9">
                  <c:v>0.493</c:v>
                </c:pt>
                <c:pt idx="10">
                  <c:v>0.62</c:v>
                </c:pt>
                <c:pt idx="11">
                  <c:v>0.973</c:v>
                </c:pt>
                <c:pt idx="12">
                  <c:v>0.413</c:v>
                </c:pt>
                <c:pt idx="13">
                  <c:v>0.62</c:v>
                </c:pt>
                <c:pt idx="14">
                  <c:v>0.4</c:v>
                </c:pt>
                <c:pt idx="15">
                  <c:v>0.84</c:v>
                </c:pt>
                <c:pt idx="16">
                  <c:v>0.867</c:v>
                </c:pt>
                <c:pt idx="17">
                  <c:v>0.24</c:v>
                </c:pt>
                <c:pt idx="18">
                  <c:v>0.567</c:v>
                </c:pt>
                <c:pt idx="19">
                  <c:v>0.52</c:v>
                </c:pt>
                <c:pt idx="20">
                  <c:v>0.553</c:v>
                </c:pt>
                <c:pt idx="21">
                  <c:v>0.493</c:v>
                </c:pt>
                <c:pt idx="22">
                  <c:v>0.58</c:v>
                </c:pt>
                <c:pt idx="23">
                  <c:v>0.487</c:v>
                </c:pt>
                <c:pt idx="24">
                  <c:v>0.553</c:v>
                </c:pt>
                <c:pt idx="25">
                  <c:v>0.413</c:v>
                </c:pt>
                <c:pt idx="26">
                  <c:v>0.493</c:v>
                </c:pt>
                <c:pt idx="27">
                  <c:v>0.513</c:v>
                </c:pt>
                <c:pt idx="28">
                  <c:v>0.54</c:v>
                </c:pt>
                <c:pt idx="29">
                  <c:v>0.587</c:v>
                </c:pt>
              </c:numCache>
            </c:numRef>
          </c:xVal>
          <c:yVal>
            <c:numRef>
              <c:f>Sheet1!$B$2:$B$31</c:f>
              <c:numCache>
                <c:formatCode>General</c:formatCode>
                <c:ptCount val="30"/>
                <c:pt idx="0">
                  <c:v>0.486</c:v>
                </c:pt>
                <c:pt idx="1">
                  <c:v>0.473</c:v>
                </c:pt>
                <c:pt idx="2">
                  <c:v>0.35</c:v>
                </c:pt>
                <c:pt idx="3">
                  <c:v>0.444</c:v>
                </c:pt>
                <c:pt idx="4">
                  <c:v>0.445</c:v>
                </c:pt>
                <c:pt idx="5">
                  <c:v>0.418</c:v>
                </c:pt>
                <c:pt idx="6">
                  <c:v/>
                </c:pt>
                <c:pt idx="7">
                  <c:v>0.568</c:v>
                </c:pt>
                <c:pt idx="8">
                  <c:v/>
                </c:pt>
                <c:pt idx="9">
                  <c:v>0.577</c:v>
                </c:pt>
                <c:pt idx="10">
                  <c:v/>
                </c:pt>
                <c:pt idx="11">
                  <c:v/>
                </c:pt>
                <c:pt idx="12">
                  <c:v>0.609</c:v>
                </c:pt>
                <c:pt idx="13">
                  <c:v>0.421</c:v>
                </c:pt>
                <c:pt idx="14">
                  <c:v/>
                </c:pt>
                <c:pt idx="15">
                  <c:v>0.417</c:v>
                </c:pt>
                <c:pt idx="16">
                  <c:v/>
                </c:pt>
                <c:pt idx="17">
                  <c:v/>
                </c:pt>
                <c:pt idx="18">
                  <c:v>0.312</c:v>
                </c:pt>
                <c:pt idx="19">
                  <c:v>0.599</c:v>
                </c:pt>
                <c:pt idx="20">
                  <c:v>0.487</c:v>
                </c:pt>
                <c:pt idx="21">
                  <c:v>0.607</c:v>
                </c:pt>
                <c:pt idx="22">
                  <c:v/>
                </c:pt>
                <c:pt idx="23">
                  <c:v>0.531</c:v>
                </c:pt>
                <c:pt idx="24">
                  <c:v>0.512</c:v>
                </c:pt>
                <c:pt idx="25">
                  <c:v>0.484</c:v>
                </c:pt>
                <c:pt idx="26">
                  <c:v/>
                </c:pt>
                <c:pt idx="27">
                  <c:v>0.492</c:v>
                </c:pt>
                <c:pt idx="28">
                  <c:v>0.447</c:v>
                </c:pt>
                <c:pt idx="29">
                  <c:v>0.583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فقرات تحتاج مراجعة</c:v>
                </c:pt>
              </c:strCache>
            </c:strRef>
          </c:tx>
          <c:spPr>
            <a:solidFill>
              <a:srgbClr val="D97757"/>
            </a:solidFill>
            <a:ln>
              <a:noFill/>
            </a:ln>
            <a:effectLst/>
          </c:spPr>
          <c:marker>
            <c:symbol val="circle"/>
            <c:size val="11"/>
            <c:spPr>
              <a:solidFill>
                <a:srgbClr val="D97757"/>
              </a:solidFill>
              <a:ln w="9525" cap="flat">
                <a:solidFill>
                  <a:srgbClr val="D97757"/>
                </a:solidFill>
                <a:prstDash val="solid"/>
                <a:round/>
              </a:ln>
              <a:effectLst/>
            </c:spPr>
          </c:marker>
          <c:xVal>
            <c:numRef>
              <c:f>Sheet1!$A$2:$A$31</c:f>
              <c:numCache>
                <c:formatCode>General</c:formatCode>
                <c:ptCount val="30"/>
                <c:pt idx="0">
                  <c:v>0.433</c:v>
                </c:pt>
                <c:pt idx="1">
                  <c:v>0.407</c:v>
                </c:pt>
                <c:pt idx="2">
                  <c:v>0.373</c:v>
                </c:pt>
                <c:pt idx="3">
                  <c:v>0.767</c:v>
                </c:pt>
                <c:pt idx="4">
                  <c:v>0.427</c:v>
                </c:pt>
                <c:pt idx="5">
                  <c:v>0.473</c:v>
                </c:pt>
                <c:pt idx="6">
                  <c:v>0.253</c:v>
                </c:pt>
                <c:pt idx="7">
                  <c:v>0.66</c:v>
                </c:pt>
                <c:pt idx="8">
                  <c:v>0.907</c:v>
                </c:pt>
                <c:pt idx="9">
                  <c:v>0.493</c:v>
                </c:pt>
                <c:pt idx="10">
                  <c:v>0.62</c:v>
                </c:pt>
                <c:pt idx="11">
                  <c:v>0.973</c:v>
                </c:pt>
                <c:pt idx="12">
                  <c:v>0.413</c:v>
                </c:pt>
                <c:pt idx="13">
                  <c:v>0.62</c:v>
                </c:pt>
                <c:pt idx="14">
                  <c:v>0.4</c:v>
                </c:pt>
                <c:pt idx="15">
                  <c:v>0.84</c:v>
                </c:pt>
                <c:pt idx="16">
                  <c:v>0.867</c:v>
                </c:pt>
                <c:pt idx="17">
                  <c:v>0.24</c:v>
                </c:pt>
                <c:pt idx="18">
                  <c:v>0.567</c:v>
                </c:pt>
                <c:pt idx="19">
                  <c:v>0.52</c:v>
                </c:pt>
                <c:pt idx="20">
                  <c:v>0.553</c:v>
                </c:pt>
                <c:pt idx="21">
                  <c:v>0.493</c:v>
                </c:pt>
                <c:pt idx="22">
                  <c:v>0.58</c:v>
                </c:pt>
                <c:pt idx="23">
                  <c:v>0.487</c:v>
                </c:pt>
                <c:pt idx="24">
                  <c:v>0.553</c:v>
                </c:pt>
                <c:pt idx="25">
                  <c:v>0.413</c:v>
                </c:pt>
                <c:pt idx="26">
                  <c:v>0.493</c:v>
                </c:pt>
                <c:pt idx="27">
                  <c:v>0.513</c:v>
                </c:pt>
                <c:pt idx="28">
                  <c:v>0.54</c:v>
                </c:pt>
                <c:pt idx="29">
                  <c:v>0.587</c:v>
                </c:pt>
              </c:numCache>
            </c:numRef>
          </c:xVal>
          <c:yVal>
            <c:numRef>
              <c:f>Sheet1!$C$2:$C$31</c:f>
              <c:numCache>
                <c:formatCode>General</c:formatCode>
                <c:ptCount val="30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>-0.429</c:v>
                </c:pt>
                <c:pt idx="7">
                  <c:v/>
                </c:pt>
                <c:pt idx="8">
                  <c:v>0.301</c:v>
                </c:pt>
                <c:pt idx="9">
                  <c:v/>
                </c:pt>
                <c:pt idx="10">
                  <c:v>0.527</c:v>
                </c:pt>
                <c:pt idx="11">
                  <c:v>0.221</c:v>
                </c:pt>
                <c:pt idx="12">
                  <c:v/>
                </c:pt>
                <c:pt idx="13">
                  <c:v/>
                </c:pt>
                <c:pt idx="14">
                  <c:v>0.147</c:v>
                </c:pt>
                <c:pt idx="15">
                  <c:v/>
                </c:pt>
                <c:pt idx="16">
                  <c:v>0.404</c:v>
                </c:pt>
                <c:pt idx="17">
                  <c:v>0.031</c:v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>0.49</c:v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>-0.058</c:v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"/>
          <c:min val="0"/>
        </c:scaling>
        <c:delete val="0"/>
        <c:axPos val="b"/>
        <c:title>
          <c:tx>
            <c:rich>
              <a:bodyPr/>
              <a:lstStyle/>
              <a:p>
                <a:pPr rtl="1">
                  <a:defRPr sz="1400" b="0" i="0" u="none" strike="noStrike">
                    <a:solidFill>
                      <a:srgbClr val="141413"/>
                    </a:solidFill>
                    <a:latin typeface="+mn-lt"/>
                  </a:defRPr>
                </a:pPr>
                <a:r>
                  <a:rPr sz="1400" b="0" i="0" u="none" strike="noStrike">
                    <a:solidFill>
                      <a:srgbClr val="141413"/>
                    </a:solidFill>
                    <a:latin typeface="+mn-lt"/>
                  </a:rPr>
                  <a:t>الصعوبة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141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0.7"/>
          <c:min val="-0.5"/>
        </c:scaling>
        <c:delete val="0"/>
        <c:axPos val="l"/>
        <c:majorGridlines>
          <c:spPr>
            <a:ln w="6350" cap="flat">
              <a:solidFill>
                <a:srgbClr val="E8E6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 rtl="1">
                  <a:defRPr sz="1400" b="0" i="0" u="none" strike="noStrike">
                    <a:solidFill>
                      <a:srgbClr val="141413"/>
                    </a:solidFill>
                    <a:latin typeface="+mn-lt"/>
                  </a:defRPr>
                </a:pPr>
                <a:r>
                  <a:rPr sz="1400" b="0" i="0" u="none" strike="noStrike">
                    <a:solidFill>
                      <a:srgbClr val="141413"/>
                    </a:solidFill>
                    <a:latin typeface="+mn-lt"/>
                  </a:rPr>
                  <a:t>الارتباط المصحَّح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141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rtl="1">
              <a:defRPr sz="1500" b="0" i="0" u="none" strike="noStrike">
                <a:solidFill>
                  <a:srgbClr val="141413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141413"/>
                </a:solidFill>
                <a:latin typeface="+mn-lt"/>
              </a:rPr>
              <a:t>عدد الطلبة الذين اختاروا كل بديل، والمفتاح المعتمد هو B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الفئة العليا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2</c:v>
                </c:pt>
                <c:pt idx="2">
                  <c:v>43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الفئة الدنيا</c:v>
                </c:pt>
              </c:strCache>
            </c:strRef>
          </c:tx>
          <c:spPr>
            <a:solidFill>
              <a:srgbClr val="B0AE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20</c:v>
                </c:pt>
                <c:pt idx="2">
                  <c:v>17</c:v>
                </c:pt>
                <c:pt idx="3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141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141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0AEA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معامل الثبات</c:v>
                </c:pt>
              </c:strCache>
            </c:strRef>
          </c:tx>
          <c:spPr>
            <a:solidFill>
              <a:srgbClr val="B0AEA5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4141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0AEA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0AEA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775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0AEA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الاختبار كما هو</c:v>
                  </c:pt>
                  <c:pt idx="1">
                    <c:v>حذف الفقرة 7</c:v>
                  </c:pt>
                  <c:pt idx="2">
                    <c:v>تصحيح مفتاح الفقرة 7</c:v>
                  </c:pt>
                  <c:pt idx="3">
                    <c:v>حذف الفقرات 7 و18 و27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0.87</c:v>
                </c:pt>
                <c:pt idx="1">
                  <c:v>0.884</c:v>
                </c:pt>
                <c:pt idx="2">
                  <c:v>0.889</c:v>
                </c:pt>
                <c:pt idx="3">
                  <c:v>0.896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300" u="none">
                  <a:solidFill>
                    <a:srgbClr val="14141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141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85"/>
        </c:scaling>
        <c:delete val="0"/>
        <c:axPos val="b"/>
        <c:majorGridlines>
          <c:spPr>
            <a:ln w="6350" cap="flat">
              <a:solidFill>
                <a:srgbClr val="E8E6DC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0AEA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الفقرة 10: منحنى حاد</c:v>
                </c:pt>
              </c:strCache>
            </c:strRef>
          </c:tx>
          <c:spPr>
            <a:solidFill>
              <a:srgbClr val="D97757"/>
            </a:solidFill>
            <a:ln w="38100" cap="flat">
              <a:solidFill>
                <a:srgbClr val="D9775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7757"/>
              </a:solidFill>
              <a:ln w="9525" cap="flat">
                <a:solidFill>
                  <a:srgbClr val="D9775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-3.0</c:v>
                  </c:pt>
                  <c:pt idx="1">
                    <c:v>-2.5</c:v>
                  </c:pt>
                  <c:pt idx="2">
                    <c:v>-2.0</c:v>
                  </c:pt>
                  <c:pt idx="3">
                    <c:v>-1.5</c:v>
                  </c:pt>
                  <c:pt idx="4">
                    <c:v>-1.0</c:v>
                  </c:pt>
                  <c:pt idx="5">
                    <c:v>-0.5</c:v>
                  </c:pt>
                  <c:pt idx="6">
                    <c:v>0.0</c:v>
                  </c:pt>
                  <c:pt idx="7">
                    <c:v>0.5</c:v>
                  </c:pt>
                  <c:pt idx="8">
                    <c:v>1.0</c:v>
                  </c:pt>
                  <c:pt idx="9">
                    <c:v>1.5</c:v>
                  </c:pt>
                  <c:pt idx="10">
                    <c:v>2.0</c:v>
                  </c:pt>
                  <c:pt idx="11">
                    <c:v>2.5</c:v>
                  </c:pt>
                  <c:pt idx="12">
                    <c:v>3.0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0.2</c:v>
                </c:pt>
                <c:pt idx="1">
                  <c:v>0.2</c:v>
                </c:pt>
                <c:pt idx="2">
                  <c:v>0.201</c:v>
                </c:pt>
                <c:pt idx="3">
                  <c:v>0.202</c:v>
                </c:pt>
                <c:pt idx="4">
                  <c:v>0.21</c:v>
                </c:pt>
                <c:pt idx="5">
                  <c:v>0.243</c:v>
                </c:pt>
                <c:pt idx="6">
                  <c:v>0.364</c:v>
                </c:pt>
                <c:pt idx="7">
                  <c:v>0.63</c:v>
                </c:pt>
                <c:pt idx="8">
                  <c:v>0.872</c:v>
                </c:pt>
                <c:pt idx="9">
                  <c:v>0.967</c:v>
                </c:pt>
                <c:pt idx="10">
                  <c:v>0.993</c:v>
                </c:pt>
                <c:pt idx="11">
                  <c:v>0.998</c:v>
                </c:pt>
                <c:pt idx="12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الفقرة 12: سهلة جداً</c:v>
                </c:pt>
              </c:strCache>
            </c:strRef>
          </c:tx>
          <c:spPr>
            <a:solidFill>
              <a:srgbClr val="6A9BCC"/>
            </a:solidFill>
            <a:ln w="38100" cap="flat">
              <a:solidFill>
                <a:srgbClr val="6A9BC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6A9BCC"/>
              </a:solidFill>
              <a:ln w="9525" cap="flat">
                <a:solidFill>
                  <a:srgbClr val="6A9BC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-3.0</c:v>
                  </c:pt>
                  <c:pt idx="1">
                    <c:v>-2.5</c:v>
                  </c:pt>
                  <c:pt idx="2">
                    <c:v>-2.0</c:v>
                  </c:pt>
                  <c:pt idx="3">
                    <c:v>-1.5</c:v>
                  </c:pt>
                  <c:pt idx="4">
                    <c:v>-1.0</c:v>
                  </c:pt>
                  <c:pt idx="5">
                    <c:v>-0.5</c:v>
                  </c:pt>
                  <c:pt idx="6">
                    <c:v>0.0</c:v>
                  </c:pt>
                  <c:pt idx="7">
                    <c:v>0.5</c:v>
                  </c:pt>
                  <c:pt idx="8">
                    <c:v>1.0</c:v>
                  </c:pt>
                  <c:pt idx="9">
                    <c:v>1.5</c:v>
                  </c:pt>
                  <c:pt idx="10">
                    <c:v>2.0</c:v>
                  </c:pt>
                  <c:pt idx="11">
                    <c:v>2.5</c:v>
                  </c:pt>
                  <c:pt idx="12">
                    <c:v>3.0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0.6</c:v>
                </c:pt>
                <c:pt idx="1">
                  <c:v>0.749</c:v>
                </c:pt>
                <c:pt idx="2">
                  <c:v>0.862</c:v>
                </c:pt>
                <c:pt idx="3">
                  <c:v>0.93</c:v>
                </c:pt>
                <c:pt idx="4">
                  <c:v>0.966</c:v>
                </c:pt>
                <c:pt idx="5">
                  <c:v>0.984</c:v>
                </c:pt>
                <c:pt idx="6">
                  <c:v>0.993</c:v>
                </c:pt>
                <c:pt idx="7">
                  <c:v>0.997</c:v>
                </c:pt>
                <c:pt idx="8">
                  <c:v>0.998</c:v>
                </c:pt>
                <c:pt idx="9">
                  <c:v>0.999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الفقرة 18: منحنى مسطح</c:v>
                </c:pt>
              </c:strCache>
            </c:strRef>
          </c:tx>
          <c:spPr>
            <a:solidFill>
              <a:srgbClr val="B0AEA5"/>
            </a:solidFill>
            <a:ln w="38100" cap="flat">
              <a:solidFill>
                <a:srgbClr val="B0AE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0AEA5"/>
              </a:solidFill>
              <a:ln w="9525" cap="flat">
                <a:solidFill>
                  <a:srgbClr val="B0AE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-3.0</c:v>
                  </c:pt>
                  <c:pt idx="1">
                    <c:v>-2.5</c:v>
                  </c:pt>
                  <c:pt idx="2">
                    <c:v>-2.0</c:v>
                  </c:pt>
                  <c:pt idx="3">
                    <c:v>-1.5</c:v>
                  </c:pt>
                  <c:pt idx="4">
                    <c:v>-1.0</c:v>
                  </c:pt>
                  <c:pt idx="5">
                    <c:v>-0.5</c:v>
                  </c:pt>
                  <c:pt idx="6">
                    <c:v>0.0</c:v>
                  </c:pt>
                  <c:pt idx="7">
                    <c:v>0.5</c:v>
                  </c:pt>
                  <c:pt idx="8">
                    <c:v>1.0</c:v>
                  </c:pt>
                  <c:pt idx="9">
                    <c:v>1.5</c:v>
                  </c:pt>
                  <c:pt idx="10">
                    <c:v>2.0</c:v>
                  </c:pt>
                  <c:pt idx="11">
                    <c:v>2.5</c:v>
                  </c:pt>
                  <c:pt idx="12">
                    <c:v>3.0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0.22</c:v>
                </c:pt>
                <c:pt idx="1">
                  <c:v>0.22</c:v>
                </c:pt>
                <c:pt idx="2">
                  <c:v>0.22</c:v>
                </c:pt>
                <c:pt idx="3">
                  <c:v>0.22</c:v>
                </c:pt>
                <c:pt idx="4">
                  <c:v>0.22</c:v>
                </c:pt>
                <c:pt idx="5">
                  <c:v>0.22</c:v>
                </c:pt>
                <c:pt idx="6">
                  <c:v>0.22</c:v>
                </c:pt>
                <c:pt idx="7">
                  <c:v>0.22</c:v>
                </c:pt>
                <c:pt idx="8">
                  <c:v>0.22</c:v>
                </c:pt>
                <c:pt idx="9">
                  <c:v>0.22</c:v>
                </c:pt>
                <c:pt idx="10">
                  <c:v>0.22</c:v>
                </c:pt>
                <c:pt idx="11">
                  <c:v>0.22</c:v>
                </c:pt>
                <c:pt idx="12">
                  <c:v>0.22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 rtl="1">
                  <a:defRPr sz="1400" b="0" i="0" u="none" strike="noStrike">
                    <a:solidFill>
                      <a:srgbClr val="141413"/>
                    </a:solidFill>
                    <a:latin typeface="+mn-lt"/>
                  </a:defRPr>
                </a:pPr>
                <a:r>
                  <a:rPr sz="1400" b="0" i="0" u="none" strike="noStrike">
                    <a:solidFill>
                      <a:srgbClr val="141413"/>
                    </a:solidFill>
                    <a:latin typeface="+mn-lt"/>
                  </a:rPr>
                  <a:t>قدرة الطالب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141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8E6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 rtl="1">
                  <a:defRPr sz="1400" b="0" i="0" u="none" strike="noStrike">
                    <a:solidFill>
                      <a:srgbClr val="141413"/>
                    </a:solidFill>
                    <a:latin typeface="+mn-lt"/>
                  </a:defRPr>
                </a:pPr>
                <a:r>
                  <a:rPr sz="1400" b="0" i="0" u="none" strike="noStrike">
                    <a:solidFill>
                      <a:srgbClr val="141413"/>
                    </a:solidFill>
                    <a:latin typeface="+mn-lt"/>
                  </a:rPr>
                  <a:t>احتمال الإجابة الصحيحة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141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رحّب بالطلبة. اليوم ننتقل من بناء الاختبار إلى محاكمته: هل تعمل فقراته كما أردنا؟ المحاضرة ساعة مفاهيم وساعتان مشغل.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اترك الطلبة يناقشون دقيقتين. اجمع ثلاث إجابات. لا تعطِ الحل: سنعود إلى الفقرة 7 في منتصف المحاضرة بالأرقام.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اربط بمخرجَي المساق 3 و 5. أكّد أن القرار في النهاية للمعلم لا للأداة.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المتوسط 16.47 والانحراف المعياري 6.40. نبّه إلى أن البيانات محاكاة وأن فيها ست فقرات معيبة عمداً ستكتشفونها.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اسأل: هل 0.97 تعني فقرة صعبة؟ كثيرون يخطئون في قراءتها. ثم الفقرة 18: 0.24 قريبة من نسبة التخمين 0.25.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هذه النقطة ستظهر في المشغل: كلود قد يعرّف الفئتين بطريقة مختلفة عن ملف الإكسل، فتختلف قيم التمييز.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اسأل الطلبة: لماذا يكون الفرق أكبر في اختبار من 10 فقرات منه في اختبار من 60؟ الجواب: نصيب الفقرة من الدرجة الكلية أكبر.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الترتيب من اليمين: الأفضل إلى الأسوأ. أكّد أن التمييز السالب يستدعي فحص المفتاح أولاً، وليس الحذف.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هذا هو نشاط الحساب اليدوي. اطلب من المجموعات حسابه قبل عرض الشريحة، ثم اسأل: هل نحذف الفقرة؟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الفقرات البرتقالية: 7 و9 و11 و12 و15 و17 و18 و23 و27. الفقرتان 11 و23 تمييزهما جيد، ومشكلتهما في مموّه واحد، وهذا لا يظهر في الخريطة.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عُد إلى سؤال الافتتاح. الأدلة الثلاثة مجتمعة تقول إن المفتاح خاطئ. هذا يُكتشف في دقائق قبل رصد الدرجات.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القاعدة: مموّه يختاره أقل من 5% لا يعمل. ومموّه تختاره الفئة العليا أكثر من الدنيا يستدعي مراجعة مع خبير محتوى.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محور الثبات يبدأ من 0.85 لإظهار الفروق؛ نبّه الطلبة إلى ذلك. الخطأ المعياري للقياس 2.31 درجة: فرق درجتين بين طالبين ليس دليلاً كافياً.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هذا بروتوكول القرار الذي ستستخدمه المجموعات في نهاية المشغل. ركّز على السؤال الرابع: المعلم يعرف ما دُرِّس وأهميته.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بيانات المشغل مولّدة بالنموذج ثلاثي المعالم، فنعرف الحقيقة خلف الأرقام: المنحنى المسطح للفقرة 18 هو ما كشفه التحليل الكلاسيكي من الأرقام وحدها.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اللوحة اليمنى تُقرأ أولاً. أكّد على شرط الخصوصية قبل أن يرفع الطلبة أي ملف.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الخطوة 3 مظللة لأنها الأهم: لا تفسير قبل التحقق. تجوّل بين المجموعات واطرح أسئلة الدليل بدل إعطاء الإجابات.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وزّع تذكرة الخروج. اعرض مهمة المرحلة 3 وسلم تقديرها، وذكّر بأن الوصول إلى صف حقيقي يجب أن يُرتَّب هذا الأسبوع.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40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defRPr>
            </a:lvl1pPr>
          </a:lstStyle>
          <a:p>
            <a:pPr algn="r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943600" y="635508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القياس والتقويم التربوي · الأسبوع 11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الأسبوع 11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1091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تحليل الفقرات: من البيانات إلى القرار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مساق القياس والتقويم التربوي · دبلوم الدراسات العليا المهني في التدريس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543032" y="54864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1554480"/>
            <a:ext cx="102687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بعد إعلان النتائج اعترض ولي أمر: ابني اختار البديل الثالث في السؤال 7، وأنا متأكد أنه الإجابة الصحيحة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114800"/>
            <a:ext cx="10268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كيف كنت ستعرف قبل الاعتراض؟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4937760"/>
            <a:ext cx="1026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نقاش ثنائي · دقيقتان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ماذا ستتقن اليوم؟</a:t>
            </a:r>
            <a:endParaRPr lang="en-US" sz="4000" dirty="0"/>
          </a:p>
        </p:txBody>
      </p:sp>
      <p:sp>
        <p:nvSpPr>
          <p:cNvPr id="3" name="outcome-0"/>
          <p:cNvSpPr/>
          <p:nvPr/>
        </p:nvSpPr>
        <p:spPr>
          <a:xfrm>
            <a:off x="8211312" y="164592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88752" y="1965960"/>
            <a:ext cx="731520" cy="73152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88752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485632" y="29260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احسب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485632" y="370332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الصعوبة والتمييز والارتباط المصحَّح لفقرات اختبار حقيقي، وتحقق منها</a:t>
            </a:r>
            <a:endParaRPr lang="en-US" sz="2200" dirty="0"/>
          </a:p>
        </p:txBody>
      </p:sp>
      <p:sp>
        <p:nvSpPr>
          <p:cNvPr id="8" name="outcome-1"/>
          <p:cNvSpPr/>
          <p:nvPr/>
        </p:nvSpPr>
        <p:spPr>
          <a:xfrm>
            <a:off x="4416552" y="164592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793992" y="1965960"/>
            <a:ext cx="731520" cy="73152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93992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690872" y="29260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فسّر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690872" y="370332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نمط المموهات وأثر كل فقرة على ثبات الاختبار</a:t>
            </a:r>
            <a:endParaRPr lang="en-US" sz="2200" dirty="0"/>
          </a:p>
        </p:txBody>
      </p:sp>
      <p:sp>
        <p:nvSpPr>
          <p:cNvPr id="13" name="outcome-2"/>
          <p:cNvSpPr/>
          <p:nvPr/>
        </p:nvSpPr>
        <p:spPr>
          <a:xfrm>
            <a:off x="621792" y="164592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999232" y="1965960"/>
            <a:ext cx="731520" cy="73152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99232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" y="29260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قرّر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370332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إبقاء أو تعديل أو حذف أو مراجعة المفتاح، بمبرر يوازن الأرقام بأهمية الهدف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بيانات المشغل: اختبار من 30 فقرة طُبّق على 150 طالباً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445752" y="1463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519672" y="1600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طالباً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445752" y="2606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519672" y="2743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فقرة اختيار من متعدد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445752" y="3749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6519672" y="3886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معامل الثبات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9445752" y="4892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2.31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5029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الخطأ المعياري للقياس</a:t>
            </a:r>
            <a:endParaRPr lang="en-US" sz="2400" dirty="0"/>
          </a:p>
        </p:txBody>
      </p:sp>
      <p:graphicFrame>
        <p:nvGraphicFramePr>
          <p:cNvPr id="11" name="score-histogram" descr=""/>
          <p:cNvGraphicFramePr/>
          <p:nvPr/>
        </p:nvGraphicFramePr>
        <p:xfrm>
          <a:off x="548640" y="1371600"/>
          <a:ext cx="58521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6519672" y="5852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بيانات محاكاة حاسوبية لأغراض التدريب، وفيها عيوب مزروعة عمداً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معامل الصعوبة: كلما ارتفع كانت الفقرة أسهل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309360" y="1417320"/>
            <a:ext cx="5330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نسبة الطلبة الذين أجابوا إجابة صحيحة</a:t>
            </a:r>
            <a:endParaRPr lang="en-US" sz="2400" dirty="0"/>
          </a:p>
        </p:txBody>
      </p:sp>
      <p:sp>
        <p:nvSpPr>
          <p:cNvPr id="4" name="formula"/>
          <p:cNvSpPr/>
          <p:nvPr/>
        </p:nvSpPr>
        <p:spPr>
          <a:xfrm>
            <a:off x="6309360" y="2057400"/>
            <a:ext cx="5330952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formula-text"/>
          <p:cNvSpPr txBox="1"/>
          <p:nvPr/>
        </p:nvSpPr>
        <p:spPr>
          <a:xfrm>
            <a:off x="6309360" y="2057400"/>
            <a:ext cx="5330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correct / 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3017520"/>
            <a:ext cx="5330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المدى المرغوب يعتمد على الغرض</a:t>
            </a:r>
            <a:endParaRPr lang="en-US" sz="2400" dirty="0"/>
          </a:p>
        </p:txBody>
      </p:sp>
      <p:sp>
        <p:nvSpPr>
          <p:cNvPr id="7" name="purpose-0"/>
          <p:cNvSpPr/>
          <p:nvPr/>
        </p:nvSpPr>
        <p:spPr>
          <a:xfrm>
            <a:off x="6309360" y="3611880"/>
            <a:ext cx="5330952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778240" y="3611880"/>
            <a:ext cx="2679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ترتيب الطلبة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3611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بين 0.30 و 0.80</a:t>
            </a:r>
            <a:endParaRPr lang="en-US" sz="2000" dirty="0"/>
          </a:p>
        </p:txBody>
      </p:sp>
      <p:sp>
        <p:nvSpPr>
          <p:cNvPr id="10" name="purpose-1"/>
          <p:cNvSpPr/>
          <p:nvPr/>
        </p:nvSpPr>
        <p:spPr>
          <a:xfrm>
            <a:off x="6309360" y="4389120"/>
            <a:ext cx="5330952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778240" y="4389120"/>
            <a:ext cx="2679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إتقان أهداف أساسية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4389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0.85 فأكثر مقبولة</a:t>
            </a:r>
            <a:endParaRPr lang="en-US" sz="2000" dirty="0"/>
          </a:p>
        </p:txBody>
      </p:sp>
      <p:sp>
        <p:nvSpPr>
          <p:cNvPr id="13" name="purpose-2"/>
          <p:cNvSpPr/>
          <p:nvPr/>
        </p:nvSpPr>
        <p:spPr>
          <a:xfrm>
            <a:off x="6309360" y="5166360"/>
            <a:ext cx="5330952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778240" y="5166360"/>
            <a:ext cx="2679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انتقاء للتميّز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5166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أصعب حول نقطة القطع</a:t>
            </a:r>
            <a:endParaRPr lang="en-US" sz="2000" dirty="0"/>
          </a:p>
        </p:txBody>
      </p:sp>
      <p:sp>
        <p:nvSpPr>
          <p:cNvPr id="16" name="item12-callout"/>
          <p:cNvSpPr/>
          <p:nvPr/>
        </p:nvSpPr>
        <p:spPr>
          <a:xfrm>
            <a:off x="548640" y="1417320"/>
            <a:ext cx="5212080" cy="4526280"/>
          </a:xfrm>
          <a:prstGeom prst="roundRect">
            <a:avLst>
              <a:gd name="adj" fmla="val 2424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4400" y="17373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6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الفقرة 12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233172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</a:t>
            </a:r>
            <a:endParaRPr lang="en-US" sz="80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36118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146 طالباً من 150 أجابوا إجابة صحيحة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429768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الفقرة 18: صعوبتها 0.24 والإجابات موزعة بالتساوي على البدائل الأربعة. هذه بصمة التخمين الجماعي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التمييز: هل تفرّق الفقرة بين من يتقن ومن لا يتقن؟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394960" y="1463040"/>
            <a:ext cx="6245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نرتّب الطلبة بالدرجة الكلية، ونقارن أعلى 27% بأدنى 27%</a:t>
            </a:r>
            <a:endParaRPr lang="en-US" sz="2400" dirty="0"/>
          </a:p>
        </p:txBody>
      </p:sp>
      <p:sp>
        <p:nvSpPr>
          <p:cNvPr id="4" name="formula"/>
          <p:cNvSpPr/>
          <p:nvPr/>
        </p:nvSpPr>
        <p:spPr>
          <a:xfrm>
            <a:off x="5394960" y="2377440"/>
            <a:ext cx="6245352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formula-text"/>
          <p:cNvSpPr txBox="1"/>
          <p:nvPr/>
        </p:nvSpPr>
        <p:spPr>
          <a:xfrm>
            <a:off x="5394960" y="2377440"/>
            <a:ext cx="6245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p(upper) − p(lower)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394960" y="3337560"/>
            <a:ext cx="6245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نسبة 27% توازن بين تباعد الفئتين وحجم كافٍ في كل منهما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4069080"/>
            <a:ext cx="6245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كيلي، 1939</a:t>
            </a:r>
            <a:endParaRPr lang="en-US" sz="1800" dirty="0"/>
          </a:p>
        </p:txBody>
      </p:sp>
      <p:sp>
        <p:nvSpPr>
          <p:cNvPr id="8" name="ties-callout"/>
          <p:cNvSpPr/>
          <p:nvPr/>
        </p:nvSpPr>
        <p:spPr>
          <a:xfrm>
            <a:off x="548640" y="1463040"/>
            <a:ext cx="448056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1691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درس عملي من البيانات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880360" y="219456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6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19456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64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32004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المتوقع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2004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الفعلي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79476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عدة طلبة تساووا في الدرجة عند حد الفئة العليا. على المحلل أن يقرر كيف يتعامل مع التساوي، وأن يوثّق قراره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الارتباط المصحَّح: لا تدع الفقرة تقيس نفسها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1463040"/>
            <a:ext cx="56052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الدرجة الكلية تتضمن الفقرة نفسها، فيتضخم الارتباط خاصة في الاختبارات القصيرة. الحل: نربط الفقرة ببقية الدرجة</a:t>
            </a:r>
            <a:endParaRPr lang="en-US" sz="2400" dirty="0"/>
          </a:p>
        </p:txBody>
      </p:sp>
      <p:sp>
        <p:nvSpPr>
          <p:cNvPr id="4" name="formula"/>
          <p:cNvSpPr/>
          <p:nvPr/>
        </p:nvSpPr>
        <p:spPr>
          <a:xfrm>
            <a:off x="6035040" y="3063240"/>
            <a:ext cx="5605272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formula-text"/>
          <p:cNvSpPr txBox="1"/>
          <p:nvPr/>
        </p:nvSpPr>
        <p:spPr>
          <a:xfrm>
            <a:off x="6035040" y="3063240"/>
            <a:ext cx="5605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r(item, total − item)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3977640"/>
            <a:ext cx="5605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الارتباط يستخدم كل الطلبة لا الفئتين فقط، فهو أدق من مؤشر الفئتين</a:t>
            </a:r>
            <a:endParaRPr lang="en-US" sz="2200" dirty="0"/>
          </a:p>
        </p:txBody>
      </p:sp>
      <p:sp>
        <p:nvSpPr>
          <p:cNvPr id="7" name="item15-callout"/>
          <p:cNvSpPr/>
          <p:nvPr/>
        </p:nvSpPr>
        <p:spPr>
          <a:xfrm>
            <a:off x="548640" y="1463040"/>
            <a:ext cx="493776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17373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6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الفقرة 15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24231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0" b="1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4231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غير مصحَّح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مصحَّح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06908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يبدو مقبولاً، ثم يتبيّن أنه ضعيف. القرار يتغير بحسب المعامل الذي تعتمده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كيف نقرأ قيمة التمييز؟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582912" y="155448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720072" y="16002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0.40 فأكثر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720072" y="22402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جيدة جداً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720072" y="310896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تُبقى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70064" y="155448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07224" y="16002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0.30 – 0.39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7507224" y="22402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جيدة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507224" y="310896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تُبقى وقد تُحسَّن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157216" y="155448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B0AEA5"/>
          </a:solidFill>
          <a:ln w="12700">
            <a:solidFill>
              <a:srgbClr val="B0AEA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94376" y="16002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0.20 – 0.29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5294376" y="22402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هامشية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5294376" y="310896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تُراجَع الصياغة والمموهات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944368" y="155448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081528" y="16002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أقل من 0.20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3081528" y="22402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ضعيفة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3081528" y="310896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مراجعة جذرية أو استبعاد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31520" y="155448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16002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سالبة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22402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معيبة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310896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افحص المفتاح أولاً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389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إيبل وفريسبي، 1991 · الفئة السالبة إضافة توضيحية على تصنيفهما</a:t>
            </a:r>
            <a:endParaRPr lang="en-US" sz="1800" dirty="0"/>
          </a:p>
        </p:txBody>
      </p:sp>
      <p:sp>
        <p:nvSpPr>
          <p:cNvPr id="24" name="rule-reminder"/>
          <p:cNvSpPr/>
          <p:nvPr/>
        </p:nvSpPr>
        <p:spPr>
          <a:xfrm>
            <a:off x="548640" y="493776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14400" y="4937760"/>
            <a:ext cx="10360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هذه حدود إرشادية لا آلية: الإحصاء يرشد ولا يقرر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الفقرة السهلة جداً لا تستطيع أن تميّز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852160" y="1554480"/>
            <a:ext cx="57881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6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أخطأ في الفقرة 12 أربعة طلبة فقط. لو كانوا كلهم في الفئة الدنيا (45 طالباً)، فأقصى تمييز ممكن هو حاصل قسمة 4 على 45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3566160"/>
            <a:ext cx="5788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المشكلة ليست جودة الفقرة، بل أنها لا تضيف معلومات عن الفروق بين الطلبة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852160" y="4846320"/>
            <a:ext cx="5788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788C5D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القرار يعتمد على الغرض: إبقاؤها مبرر إن قاست هدفاً أساسياً</a:t>
            </a:r>
            <a:endParaRPr lang="en-US" sz="2200" dirty="0"/>
          </a:p>
        </p:txBody>
      </p:sp>
      <p:sp>
        <p:nvSpPr>
          <p:cNvPr id="6" name="max-d-0"/>
          <p:cNvSpPr/>
          <p:nvPr/>
        </p:nvSpPr>
        <p:spPr>
          <a:xfrm>
            <a:off x="3200400" y="1828800"/>
            <a:ext cx="2377440" cy="310896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200400" y="21945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35661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أقصى تمييز ممكن</a:t>
            </a:r>
            <a:endParaRPr lang="en-US" sz="2200" dirty="0"/>
          </a:p>
        </p:txBody>
      </p:sp>
      <p:sp>
        <p:nvSpPr>
          <p:cNvPr id="9" name="max-d-1"/>
          <p:cNvSpPr/>
          <p:nvPr/>
        </p:nvSpPr>
        <p:spPr>
          <a:xfrm>
            <a:off x="548640" y="1828800"/>
            <a:ext cx="2377440" cy="310896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48640" y="21945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5661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التمييز الفعلي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خريطة الفقرات الثلاثين: الصعوبة مقابل التمييز</a:t>
            </a:r>
            <a:endParaRPr lang="en-US" sz="4000" dirty="0"/>
          </a:p>
        </p:txBody>
      </p:sp>
      <p:graphicFrame>
        <p:nvGraphicFramePr>
          <p:cNvPr id="3" name="item-map" descr=""/>
          <p:cNvGraphicFramePr/>
          <p:nvPr/>
        </p:nvGraphicFramePr>
        <p:xfrm>
          <a:off x="548640" y="1325880"/>
          <a:ext cx="74980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412480" y="1463040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ماذا تلاحظ؟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8412480" y="2103120"/>
            <a:ext cx="32278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نقطة وحيدة تحت الصفر بوضوح: الفقرة 7</a:t>
            </a:r>
            <a:endParaRPr lang="en-US" sz="21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نقطتان عند أقصى اليمين: الفقرتان 12 و9</a:t>
            </a:r>
            <a:endParaRPr lang="en-US" sz="21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نقاط برتقالية في الوسط بتمييز جيد: مشكلتها في المموهات لا في الأرقام الكلية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الفقرة 7: المتفوقون يختارون بديلاً غير المفتاح</a:t>
            </a:r>
            <a:endParaRPr lang="en-US" sz="4000" dirty="0"/>
          </a:p>
        </p:txBody>
      </p:sp>
      <p:graphicFrame>
        <p:nvGraphicFramePr>
          <p:cNvPr id="3" name="item7-distractors" descr=""/>
          <p:cNvGraphicFramePr/>
          <p:nvPr/>
        </p:nvGraphicFramePr>
        <p:xfrm>
          <a:off x="548640" y="1325880"/>
          <a:ext cx="67665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772400" y="1463040"/>
            <a:ext cx="3867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−0.40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772400" y="2148840"/>
            <a:ext cx="3867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التمييز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2788920"/>
            <a:ext cx="3867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3474720"/>
            <a:ext cx="3867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اختاروا البديل C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4114800"/>
            <a:ext cx="3867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4800600"/>
            <a:ext cx="3867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متوسط درجات من اختار المفتاح، مقابل 17.9 لغيرهم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5486400"/>
            <a:ext cx="3867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788C5D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ولي الأمر كان على حق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المموّه الجيد يجذب من لا يعرف، ولا يجذب من يعرف</a:t>
            </a:r>
            <a:endParaRPr lang="en-US" sz="4000" dirty="0"/>
          </a:p>
        </p:txBody>
      </p:sp>
      <p:sp>
        <p:nvSpPr>
          <p:cNvPr id="3" name="case-0"/>
          <p:cNvSpPr/>
          <p:nvPr/>
        </p:nvSpPr>
        <p:spPr>
          <a:xfrm>
            <a:off x="6336792" y="1463040"/>
            <a:ext cx="530352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656832" y="1691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الفقرة 23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656832" y="22402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656832" y="31089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البديل D لم يختره أي طالب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656832" y="39319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مموّه غير فعّال. الفقرة نفسها جيدة، وهي فعلياً بثلاثة بدائل</a:t>
            </a:r>
            <a:endParaRPr lang="en-US" sz="2100" dirty="0"/>
          </a:p>
        </p:txBody>
      </p:sp>
      <p:sp>
        <p:nvSpPr>
          <p:cNvPr id="8" name="case-1"/>
          <p:cNvSpPr/>
          <p:nvPr/>
        </p:nvSpPr>
        <p:spPr>
          <a:xfrm>
            <a:off x="548640" y="1463040"/>
            <a:ext cx="530352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68680" y="1691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الفقرة 15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2402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1089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طالباً من الفئة العليا اختاروا البديل A، مقابل 13 من الدنيا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9319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مموّه يجذب المتفوقين. ربما للفقرة إجابتان مقبولتان</a:t>
            </a:r>
            <a:endParaRPr lang="en-US" sz="2100" dirty="0"/>
          </a:p>
        </p:txBody>
      </p:sp>
      <p:sp>
        <p:nvSpPr>
          <p:cNvPr id="13" name="rodriguez"/>
          <p:cNvSpPr/>
          <p:nvPr/>
        </p:nvSpPr>
        <p:spPr>
          <a:xfrm>
            <a:off x="548640" y="5029200"/>
            <a:ext cx="11091672" cy="960120"/>
          </a:xfrm>
          <a:prstGeom prst="roundRect">
            <a:avLst>
              <a:gd name="adj" fmla="val 11429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4400" y="5029200"/>
            <a:ext cx="10360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ثلاثة بدائل كافية غالباً، لأن البديل الرابع نادراً ما يعمل (تحليل بعدي لثمانين عاماً من البحوث، رودريغيز 2005)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تصحيح المفتاح أفضل من حذف الفقرة</a:t>
            </a:r>
            <a:endParaRPr lang="en-US" sz="4000" dirty="0"/>
          </a:p>
        </p:txBody>
      </p:sp>
      <p:graphicFrame>
        <p:nvGraphicFramePr>
          <p:cNvPr id="3" name="alpha-scenarios" descr=""/>
          <p:cNvGraphicFramePr/>
          <p:nvPr/>
        </p:nvGraphicFramePr>
        <p:xfrm>
          <a:off x="548640" y="1325880"/>
          <a:ext cx="6949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formula"/>
          <p:cNvSpPr/>
          <p:nvPr/>
        </p:nvSpPr>
        <p:spPr>
          <a:xfrm>
            <a:off x="7863840" y="1463040"/>
            <a:ext cx="3776472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formula-text"/>
          <p:cNvSpPr txBox="1"/>
          <p:nvPr/>
        </p:nvSpPr>
        <p:spPr>
          <a:xfrm>
            <a:off x="7863840" y="1463040"/>
            <a:ext cx="3776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KR-20 = k/(k−1) × (1 − Σpq / S²)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2377440"/>
            <a:ext cx="37764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التصحيح يرفع الثبات أكثر، ويحافظ على تغطية الهدف. بعده تصبح الفقرة 7 من أفضل الفقرات (ارتباط مصحَّح 0.52)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4480560"/>
            <a:ext cx="37764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تحذير: حذف الفقرات لرفع الثبات وحده يضيّق ما يقيسه الاختبار، فقد يُضعف الصدق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الأرقام إلى القرار: أربعة أسئلة بالترتيب</a:t>
            </a:r>
            <a:endParaRPr lang="en-US" sz="4000" dirty="0"/>
          </a:p>
        </p:txBody>
      </p:sp>
      <p:sp>
        <p:nvSpPr>
          <p:cNvPr id="3" name="question-0"/>
          <p:cNvSpPr/>
          <p:nvPr/>
        </p:nvSpPr>
        <p:spPr>
          <a:xfrm>
            <a:off x="9034272" y="1645920"/>
            <a:ext cx="2606040" cy="38404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725912" y="1874520"/>
            <a:ext cx="685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9262872" y="27889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هل المفتاح صحيح؟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9262872" y="40233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تمييز سالب + مموّه يجذب المتفوقين</a:t>
            </a:r>
            <a:endParaRPr lang="en-US" sz="2000" dirty="0"/>
          </a:p>
        </p:txBody>
      </p:sp>
      <p:sp>
        <p:nvSpPr>
          <p:cNvPr id="7" name="question-1"/>
          <p:cNvSpPr/>
          <p:nvPr/>
        </p:nvSpPr>
        <p:spPr>
          <a:xfrm>
            <a:off x="6236208" y="1645920"/>
            <a:ext cx="2606040" cy="38404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927848" y="1874520"/>
            <a:ext cx="685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6464808" y="27889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هل الصياغة واضحة؟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464808" y="40233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تمييز ضعيف مع صعوبة متوسطة</a:t>
            </a:r>
            <a:endParaRPr lang="en-US" sz="2000" dirty="0"/>
          </a:p>
        </p:txBody>
      </p:sp>
      <p:sp>
        <p:nvSpPr>
          <p:cNvPr id="11" name="question-2"/>
          <p:cNvSpPr/>
          <p:nvPr/>
        </p:nvSpPr>
        <p:spPr>
          <a:xfrm>
            <a:off x="3438144" y="1645920"/>
            <a:ext cx="2606040" cy="38404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129784" y="1874520"/>
            <a:ext cx="685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3666744" y="27889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هل المستوى مناسب؟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3666744" y="40233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صعوبة متطرفة في أي اتجاه</a:t>
            </a:r>
            <a:endParaRPr lang="en-US" sz="2000" dirty="0"/>
          </a:p>
        </p:txBody>
      </p:sp>
      <p:sp>
        <p:nvSpPr>
          <p:cNvPr id="15" name="question-3"/>
          <p:cNvSpPr/>
          <p:nvPr/>
        </p:nvSpPr>
        <p:spPr>
          <a:xfrm>
            <a:off x="640080" y="1645920"/>
            <a:ext cx="2606040" cy="3840480"/>
          </a:xfrm>
          <a:prstGeom prst="roundRect">
            <a:avLst>
              <a:gd name="adj" fmla="val 4211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2331720" y="1874520"/>
            <a:ext cx="685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27889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 أهمية الهدف؟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0233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قد يُبقي فقرة ضعيفة بعد تعديلها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788C5D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السؤال الرابع وحده لا يجيب عنه أي برنامج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إثراء: منحنى خصائص الفقرة</a:t>
            </a:r>
            <a:endParaRPr lang="en-US" sz="4000" dirty="0"/>
          </a:p>
        </p:txBody>
      </p:sp>
      <p:graphicFrame>
        <p:nvGraphicFramePr>
          <p:cNvPr id="3" name="icc" descr=""/>
          <p:cNvGraphicFramePr/>
          <p:nvPr/>
        </p:nvGraphicFramePr>
        <p:xfrm>
          <a:off x="548640" y="132588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863840" y="1463040"/>
            <a:ext cx="3776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ثلاثة حدود للنظرية الكلاسيكية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7863840" y="2057400"/>
            <a:ext cx="37764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الأرقام تتغير بتغير العينة</a:t>
            </a:r>
            <a:endParaRPr lang="en-US" sz="20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الدرجة مرتبطة بالفقرات التي أُخذت</a:t>
            </a:r>
            <a:endParaRPr lang="en-US" sz="20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خطأ قياس واحد مفترض لكل الطلبة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3886200"/>
            <a:ext cx="37764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نظرية الاستجابة للفقرة تصف كل فقرة بموقعها وحدّتها وأثر التخمين، وهي أساس الاختبارات الدولية التي نصل إليها في الأسبوع 12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كلود يحسب ويقترح، وأنت تتحقق وتقرر</a:t>
            </a:r>
            <a:endParaRPr lang="en-US" sz="4000" dirty="0"/>
          </a:p>
        </p:txBody>
      </p:sp>
      <p:sp>
        <p:nvSpPr>
          <p:cNvPr id="3" name="panel-0"/>
          <p:cNvSpPr/>
          <p:nvPr/>
        </p:nvSpPr>
        <p:spPr>
          <a:xfrm>
            <a:off x="6336792" y="1463040"/>
            <a:ext cx="53035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3736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11112" y="1691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 يحسنه كلود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611112" y="242316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حساب كل المعاملات بتشغيل كود فعلي</a:t>
            </a:r>
            <a:endParaRPr lang="en-US" sz="21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رسم التوزيعات والمنحنيات</a:t>
            </a:r>
            <a:endParaRPr lang="en-US" sz="21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اقتراح تفسيرات أولية ومموهات بديلة</a:t>
            </a:r>
            <a:endParaRPr lang="en-US" sz="2100" dirty="0"/>
          </a:p>
        </p:txBody>
      </p:sp>
      <p:sp>
        <p:nvSpPr>
          <p:cNvPr id="7" name="panel-1"/>
          <p:cNvSpPr/>
          <p:nvPr/>
        </p:nvSpPr>
        <p:spPr>
          <a:xfrm>
            <a:off x="548640" y="1463040"/>
            <a:ext cx="53035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74920" y="173736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691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 تتحقق منه بنفسك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42316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 الكود نُفِّذ فعلاً، واطلب عرضه</a:t>
            </a:r>
            <a:endParaRPr lang="en-US" sz="21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تعريف الفئتين ومعالجة التساوي</a:t>
            </a:r>
            <a:endParaRPr lang="en-US" sz="21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أي ارتباط استُخدم: المصحَّح أم لا</a:t>
            </a:r>
            <a:endParaRPr lang="en-US" sz="21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مطابقة ثلاث قيم مع الإكسل</a:t>
            </a:r>
            <a:endParaRPr lang="en-US" sz="2100" dirty="0"/>
          </a:p>
        </p:txBody>
      </p:sp>
      <p:sp>
        <p:nvSpPr>
          <p:cNvPr id="11" name="privacy"/>
          <p:cNvSpPr/>
          <p:nvPr/>
        </p:nvSpPr>
        <p:spPr>
          <a:xfrm>
            <a:off x="548640" y="5623560"/>
            <a:ext cx="11091672" cy="594360"/>
          </a:xfrm>
          <a:prstGeom prst="roundRect">
            <a:avLst>
              <a:gd name="adj" fmla="val 18462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623560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لا ترفع أي ملف فيه أسماء طلبة حقيقيين. استبدلها برموز قبل الرفع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المشغل: ست خطوات في 60 دقيقة</a:t>
            </a:r>
            <a:endParaRPr lang="en-US" sz="4000" dirty="0"/>
          </a:p>
        </p:txBody>
      </p:sp>
      <p:sp>
        <p:nvSpPr>
          <p:cNvPr id="3" name="step-1"/>
          <p:cNvSpPr/>
          <p:nvPr/>
        </p:nvSpPr>
        <p:spPr>
          <a:xfrm>
            <a:off x="8119872" y="146304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771632" y="1645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348472" y="1783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10 د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348472" y="24231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استكشف الملف دون كلود</a:t>
            </a:r>
            <a:endParaRPr lang="en-US" sz="2200" dirty="0"/>
          </a:p>
        </p:txBody>
      </p:sp>
      <p:sp>
        <p:nvSpPr>
          <p:cNvPr id="7" name="step-2"/>
          <p:cNvSpPr/>
          <p:nvPr/>
        </p:nvSpPr>
        <p:spPr>
          <a:xfrm>
            <a:off x="4334256" y="146304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986016" y="1645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62856" y="1783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15 د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62856" y="24231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حلّل بكلود بالتعليمات الجاهزة</a:t>
            </a:r>
            <a:endParaRPr lang="en-US" sz="2200" dirty="0"/>
          </a:p>
        </p:txBody>
      </p:sp>
      <p:sp>
        <p:nvSpPr>
          <p:cNvPr id="11" name="step-3"/>
          <p:cNvSpPr/>
          <p:nvPr/>
        </p:nvSpPr>
        <p:spPr>
          <a:xfrm>
            <a:off x="548640" y="146304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200400" y="1645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1783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10 د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4231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تحقق: طابق 3 قيم مع الإكسل</a:t>
            </a:r>
            <a:endParaRPr lang="en-US" sz="2200" dirty="0"/>
          </a:p>
        </p:txBody>
      </p:sp>
      <p:sp>
        <p:nvSpPr>
          <p:cNvPr id="15" name="step-4"/>
          <p:cNvSpPr/>
          <p:nvPr/>
        </p:nvSpPr>
        <p:spPr>
          <a:xfrm>
            <a:off x="8119872" y="370332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0771632" y="388620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348472" y="4023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15 د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48472" y="46634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شخّص وقرّر بنفسك</a:t>
            </a:r>
            <a:endParaRPr lang="en-US" sz="2200" dirty="0"/>
          </a:p>
        </p:txBody>
      </p:sp>
      <p:sp>
        <p:nvSpPr>
          <p:cNvPr id="19" name="step-5"/>
          <p:cNvSpPr/>
          <p:nvPr/>
        </p:nvSpPr>
        <p:spPr>
          <a:xfrm>
            <a:off x="4334256" y="370332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986016" y="388620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4562856" y="4023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10 د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562856" y="46634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التجربة الحاسمة: صحّح مفتاح الفقرة 7</a:t>
            </a:r>
            <a:endParaRPr lang="en-US" sz="2200" dirty="0"/>
          </a:p>
        </p:txBody>
      </p:sp>
      <p:sp>
        <p:nvSpPr>
          <p:cNvPr id="23" name="step-6"/>
          <p:cNvSpPr/>
          <p:nvPr/>
        </p:nvSpPr>
        <p:spPr>
          <a:xfrm>
            <a:off x="548640" y="370332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3200400" y="388620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023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إضافي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6634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للسريعين: حسّن مموّه الفقرة 23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ورقة المشغل فيها التعليمات الجاهزة وجداول التحقق والقرار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قبل أن تغادر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الإحصاء يرشد ولا يقرر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8211312" y="320040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85632" y="34747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تذكرة الخروج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485632" y="41605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8 أسئلة دون ذكاء اصطناعي · 15 دقيقة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416552" y="320040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90872" y="34747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المرحلة 3 من المشروع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690872" y="41605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جرّب اختبارك على صف حقيقي وحلّله · نهاية الأسبوع 13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1792" y="320040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6112" y="34747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الأسبوع 12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41605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الاختبارات الدولية: الأطر والأسئلة الرقمية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thropic Arabic">
  <a:themeElements>
    <a:clrScheme name="Anthropic Arabic">
      <a:dk1>
        <a:srgbClr val="141413"/>
      </a:dk1>
      <a:lt1>
        <a:srgbClr val="FFFFFF"/>
      </a:lt1>
      <a:dk2>
        <a:srgbClr val="141413"/>
      </a:dk2>
      <a:lt2>
        <a:srgbClr val="FAF9F5"/>
      </a:lt2>
      <a:accent1>
        <a:srgbClr val="D97757"/>
      </a:accent1>
      <a:accent2>
        <a:srgbClr val="6A9BCC"/>
      </a:accent2>
      <a:accent3>
        <a:srgbClr val="788C5D"/>
      </a:accent3>
      <a:accent4>
        <a:srgbClr val="B0AEA5"/>
      </a:accent4>
      <a:accent5>
        <a:srgbClr val="E8E6DC"/>
      </a:accent5>
      <a:accent6>
        <a:srgbClr val="141413"/>
      </a:accent6>
      <a:hlink>
        <a:srgbClr val="6A9BCC"/>
      </a:hlink>
      <a:folHlink>
        <a:srgbClr val="788C5D"/>
      </a:folHlink>
    </a:clrScheme>
    <a:fontScheme name="Anthropic Arabic">
      <a:majorFont>
        <a:latin typeface="Sakkal Majall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akkal Majall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الأسبوع 11 — تحليل الفقرات</dc:title>
  <dc:subject>PptxGenJS Presentation</dc:subject>
  <dc:creator>PptxGenJS</dc:creator>
  <cp:lastModifiedBy>PptxGenJS</cp:lastModifiedBy>
  <cp:revision>1</cp:revision>
  <dcterms:created xsi:type="dcterms:W3CDTF">2026-10-04T21:05:04Z</dcterms:created>
  <dcterms:modified xsi:type="dcterms:W3CDTF">2026-10-04T21:05:04Z</dcterms:modified>
</cp:coreProperties>
</file>