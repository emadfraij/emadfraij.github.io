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e08bfc6-86b5-89d4-8236-6a563cbb077c}">
          <p14:sldIdLst>
            <p14:sldId id="256"/>
            <p14:sldId id="257"/>
          </p14:sldIdLst>
        </p14:section>
        <p14:section name="Concepts" id="{4c82e3ce-4308-d413-5807-bf950053533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istractors and reliability" id="{7b29dc8c-490e-2303-f93c-a626d9ca96bf}">
          <p14:sldIdLst>
            <p14:sldId id="266"/>
            <p14:sldId id="267"/>
            <p14:sldId id="268"/>
          </p14:sldIdLst>
        </p14:section>
        <p14:section name="Decision" id="{0186d6a2-139c-dc98-752c-2a4b97e359f7}">
          <p14:sldIdLst>
            <p14:sldId id="269"/>
            <p14:sldId id="270"/>
          </p14:sldIdLst>
        </p14:section>
        <p14:section name="Workshop" id="{70d0978d-54c1-b328-237a-5716b3a2fbfc}">
          <p14:sldIdLst>
            <p14:sldId id="271"/>
            <p14:sldId id="272"/>
          </p14:sldIdLst>
        </p14:section>
        <p14:section name="Closing" id="{90e87745-b500-7b8a-255a-5b7f65e261a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1413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41413"/>
                </a:solidFill>
                <a:latin typeface="+mn-lt"/>
              </a:rPr>
              <a:t>Distribution of total scores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students</c:v>
                </c:pt>
              </c:strCache>
            </c:strRef>
          </c:tx>
          <c:spPr>
            <a:solidFill>
              <a:srgbClr val="6A9B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0–5</c:v>
                  </c:pt>
                  <c:pt idx="1">
                    <c:v>6–8</c:v>
                  </c:pt>
                  <c:pt idx="2">
                    <c:v>9–11</c:v>
                  </c:pt>
                  <c:pt idx="3">
                    <c:v>12–14</c:v>
                  </c:pt>
                  <c:pt idx="4">
                    <c:v>15–17</c:v>
                  </c:pt>
                  <c:pt idx="5">
                    <c:v>18–20</c:v>
                  </c:pt>
                  <c:pt idx="6">
                    <c:v>21–23</c:v>
                  </c:pt>
                  <c:pt idx="7">
                    <c:v>24–26</c:v>
                  </c:pt>
                  <c:pt idx="8">
                    <c:v>27–30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14</c:v>
                </c:pt>
                <c:pt idx="2">
                  <c:v>29</c:v>
                </c:pt>
                <c:pt idx="3">
                  <c:v>19</c:v>
                </c:pt>
                <c:pt idx="4">
                  <c:v>20</c:v>
                </c:pt>
                <c:pt idx="5">
                  <c:v>21</c:v>
                </c:pt>
                <c:pt idx="6">
                  <c:v>18</c:v>
                </c:pt>
                <c:pt idx="7">
                  <c:v>16</c:v>
                </c:pt>
                <c:pt idx="8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items</c:v>
                </c:pt>
              </c:strCache>
            </c:strRef>
          </c:tx>
          <c:spPr>
            <a:solidFill>
              <a:srgbClr val="6A9BCC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6A9BCC"/>
              </a:solidFill>
              <a:ln w="9525" cap="flat">
                <a:solidFill>
                  <a:srgbClr val="6A9BCC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0.433</c:v>
                </c:pt>
                <c:pt idx="1">
                  <c:v>0.407</c:v>
                </c:pt>
                <c:pt idx="2">
                  <c:v>0.373</c:v>
                </c:pt>
                <c:pt idx="3">
                  <c:v>0.767</c:v>
                </c:pt>
                <c:pt idx="4">
                  <c:v>0.427</c:v>
                </c:pt>
                <c:pt idx="5">
                  <c:v>0.473</c:v>
                </c:pt>
                <c:pt idx="6">
                  <c:v>0.253</c:v>
                </c:pt>
                <c:pt idx="7">
                  <c:v>0.66</c:v>
                </c:pt>
                <c:pt idx="8">
                  <c:v>0.907</c:v>
                </c:pt>
                <c:pt idx="9">
                  <c:v>0.493</c:v>
                </c:pt>
                <c:pt idx="10">
                  <c:v>0.62</c:v>
                </c:pt>
                <c:pt idx="11">
                  <c:v>0.973</c:v>
                </c:pt>
                <c:pt idx="12">
                  <c:v>0.413</c:v>
                </c:pt>
                <c:pt idx="13">
                  <c:v>0.62</c:v>
                </c:pt>
                <c:pt idx="14">
                  <c:v>0.4</c:v>
                </c:pt>
                <c:pt idx="15">
                  <c:v>0.84</c:v>
                </c:pt>
                <c:pt idx="16">
                  <c:v>0.867</c:v>
                </c:pt>
                <c:pt idx="17">
                  <c:v>0.24</c:v>
                </c:pt>
                <c:pt idx="18">
                  <c:v>0.567</c:v>
                </c:pt>
                <c:pt idx="19">
                  <c:v>0.52</c:v>
                </c:pt>
                <c:pt idx="20">
                  <c:v>0.553</c:v>
                </c:pt>
                <c:pt idx="21">
                  <c:v>0.493</c:v>
                </c:pt>
                <c:pt idx="22">
                  <c:v>0.58</c:v>
                </c:pt>
                <c:pt idx="23">
                  <c:v>0.487</c:v>
                </c:pt>
                <c:pt idx="24">
                  <c:v>0.553</c:v>
                </c:pt>
                <c:pt idx="25">
                  <c:v>0.413</c:v>
                </c:pt>
                <c:pt idx="26">
                  <c:v>0.493</c:v>
                </c:pt>
                <c:pt idx="27">
                  <c:v>0.513</c:v>
                </c:pt>
                <c:pt idx="28">
                  <c:v>0.54</c:v>
                </c:pt>
                <c:pt idx="29">
                  <c:v>0.587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0.486</c:v>
                </c:pt>
                <c:pt idx="1">
                  <c:v>0.473</c:v>
                </c:pt>
                <c:pt idx="2">
                  <c:v>0.35</c:v>
                </c:pt>
                <c:pt idx="3">
                  <c:v>0.444</c:v>
                </c:pt>
                <c:pt idx="4">
                  <c:v>0.445</c:v>
                </c:pt>
                <c:pt idx="5">
                  <c:v>0.418</c:v>
                </c:pt>
                <c:pt idx="6">
                  <c:v/>
                </c:pt>
                <c:pt idx="7">
                  <c:v>0.568</c:v>
                </c:pt>
                <c:pt idx="8">
                  <c:v/>
                </c:pt>
                <c:pt idx="9">
                  <c:v>0.577</c:v>
                </c:pt>
                <c:pt idx="10">
                  <c:v/>
                </c:pt>
                <c:pt idx="11">
                  <c:v/>
                </c:pt>
                <c:pt idx="12">
                  <c:v>0.609</c:v>
                </c:pt>
                <c:pt idx="13">
                  <c:v>0.421</c:v>
                </c:pt>
                <c:pt idx="14">
                  <c:v/>
                </c:pt>
                <c:pt idx="15">
                  <c:v>0.417</c:v>
                </c:pt>
                <c:pt idx="16">
                  <c:v/>
                </c:pt>
                <c:pt idx="17">
                  <c:v/>
                </c:pt>
                <c:pt idx="18">
                  <c:v>0.312</c:v>
                </c:pt>
                <c:pt idx="19">
                  <c:v>0.599</c:v>
                </c:pt>
                <c:pt idx="20">
                  <c:v>0.487</c:v>
                </c:pt>
                <c:pt idx="21">
                  <c:v>0.607</c:v>
                </c:pt>
                <c:pt idx="22">
                  <c:v/>
                </c:pt>
                <c:pt idx="23">
                  <c:v>0.531</c:v>
                </c:pt>
                <c:pt idx="24">
                  <c:v>0.512</c:v>
                </c:pt>
                <c:pt idx="25">
                  <c:v>0.484</c:v>
                </c:pt>
                <c:pt idx="26">
                  <c:v/>
                </c:pt>
                <c:pt idx="27">
                  <c:v>0.492</c:v>
                </c:pt>
                <c:pt idx="28">
                  <c:v>0.447</c:v>
                </c:pt>
                <c:pt idx="29">
                  <c:v>0.583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Items needing review</c:v>
                </c:pt>
              </c:strCache>
            </c:strRef>
          </c:tx>
          <c:spPr>
            <a:solidFill>
              <a:srgbClr val="D97757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0.433</c:v>
                </c:pt>
                <c:pt idx="1">
                  <c:v>0.407</c:v>
                </c:pt>
                <c:pt idx="2">
                  <c:v>0.373</c:v>
                </c:pt>
                <c:pt idx="3">
                  <c:v>0.767</c:v>
                </c:pt>
                <c:pt idx="4">
                  <c:v>0.427</c:v>
                </c:pt>
                <c:pt idx="5">
                  <c:v>0.473</c:v>
                </c:pt>
                <c:pt idx="6">
                  <c:v>0.253</c:v>
                </c:pt>
                <c:pt idx="7">
                  <c:v>0.66</c:v>
                </c:pt>
                <c:pt idx="8">
                  <c:v>0.907</c:v>
                </c:pt>
                <c:pt idx="9">
                  <c:v>0.493</c:v>
                </c:pt>
                <c:pt idx="10">
                  <c:v>0.62</c:v>
                </c:pt>
                <c:pt idx="11">
                  <c:v>0.973</c:v>
                </c:pt>
                <c:pt idx="12">
                  <c:v>0.413</c:v>
                </c:pt>
                <c:pt idx="13">
                  <c:v>0.62</c:v>
                </c:pt>
                <c:pt idx="14">
                  <c:v>0.4</c:v>
                </c:pt>
                <c:pt idx="15">
                  <c:v>0.84</c:v>
                </c:pt>
                <c:pt idx="16">
                  <c:v>0.867</c:v>
                </c:pt>
                <c:pt idx="17">
                  <c:v>0.24</c:v>
                </c:pt>
                <c:pt idx="18">
                  <c:v>0.567</c:v>
                </c:pt>
                <c:pt idx="19">
                  <c:v>0.52</c:v>
                </c:pt>
                <c:pt idx="20">
                  <c:v>0.553</c:v>
                </c:pt>
                <c:pt idx="21">
                  <c:v>0.493</c:v>
                </c:pt>
                <c:pt idx="22">
                  <c:v>0.58</c:v>
                </c:pt>
                <c:pt idx="23">
                  <c:v>0.487</c:v>
                </c:pt>
                <c:pt idx="24">
                  <c:v>0.553</c:v>
                </c:pt>
                <c:pt idx="25">
                  <c:v>0.413</c:v>
                </c:pt>
                <c:pt idx="26">
                  <c:v>0.493</c:v>
                </c:pt>
                <c:pt idx="27">
                  <c:v>0.513</c:v>
                </c:pt>
                <c:pt idx="28">
                  <c:v>0.54</c:v>
                </c:pt>
                <c:pt idx="29">
                  <c:v>0.587</c:v>
                </c:pt>
              </c:numCache>
            </c:numRef>
          </c:xVal>
          <c:yVal>
            <c:numRef>
              <c:f>Sheet1!$C$2:$C$31</c:f>
              <c:numCache>
                <c:formatCode>General</c:formatCode>
                <c:ptCount val="3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-0.429</c:v>
                </c:pt>
                <c:pt idx="7">
                  <c:v/>
                </c:pt>
                <c:pt idx="8">
                  <c:v>0.301</c:v>
                </c:pt>
                <c:pt idx="9">
                  <c:v/>
                </c:pt>
                <c:pt idx="10">
                  <c:v>0.527</c:v>
                </c:pt>
                <c:pt idx="11">
                  <c:v>0.221</c:v>
                </c:pt>
                <c:pt idx="12">
                  <c:v/>
                </c:pt>
                <c:pt idx="13">
                  <c:v/>
                </c:pt>
                <c:pt idx="14">
                  <c:v>0.147</c:v>
                </c:pt>
                <c:pt idx="15">
                  <c:v/>
                </c:pt>
                <c:pt idx="16">
                  <c:v>0.404</c:v>
                </c:pt>
                <c:pt idx="17">
                  <c:v>0.031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0.49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-0.058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Difficulty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0.7"/>
          <c:min val="-0.5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Corrected correlation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1413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1413"/>
                </a:solidFill>
                <a:latin typeface="+mn-lt"/>
              </a:rPr>
              <a:t>Number of students who chose each option; the adopted key is B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Upper group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43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group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20</c:v>
                </c:pt>
                <c:pt idx="2">
                  <c:v>17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 coefficient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AE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The test as it is</c:v>
                  </c:pt>
                  <c:pt idx="1">
                    <c:v>Delete Item 7</c:v>
                  </c:pt>
                  <c:pt idx="2">
                    <c:v>Correct the key of Item 7</c:v>
                  </c:pt>
                  <c:pt idx="3">
                    <c:v>Delete Items 7, 18 and 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0.884</c:v>
                </c:pt>
                <c:pt idx="2">
                  <c:v>0.889</c:v>
                </c:pt>
                <c:pt idx="3">
                  <c:v>0.896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5"/>
        </c:scaling>
        <c:delete val="0"/>
        <c:axPos val="b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 10: steep curve</c:v>
                </c:pt>
              </c:strCache>
            </c:strRef>
          </c:tx>
          <c:spPr>
            <a:solidFill>
              <a:srgbClr val="D97757"/>
            </a:solidFill>
            <a:ln w="381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</c:v>
                </c:pt>
                <c:pt idx="1">
                  <c:v>0.2</c:v>
                </c:pt>
                <c:pt idx="2">
                  <c:v>0.201</c:v>
                </c:pt>
                <c:pt idx="3">
                  <c:v>0.202</c:v>
                </c:pt>
                <c:pt idx="4">
                  <c:v>0.21</c:v>
                </c:pt>
                <c:pt idx="5">
                  <c:v>0.243</c:v>
                </c:pt>
                <c:pt idx="6">
                  <c:v>0.364</c:v>
                </c:pt>
                <c:pt idx="7">
                  <c:v>0.63</c:v>
                </c:pt>
                <c:pt idx="8">
                  <c:v>0.872</c:v>
                </c:pt>
                <c:pt idx="9">
                  <c:v>0.967</c:v>
                </c:pt>
                <c:pt idx="10">
                  <c:v>0.993</c:v>
                </c:pt>
                <c:pt idx="11">
                  <c:v>0.998</c:v>
                </c:pt>
                <c:pt idx="1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 12: very easy</c:v>
                </c:pt>
              </c:strCache>
            </c:strRef>
          </c:tx>
          <c:spPr>
            <a:solidFill>
              <a:srgbClr val="6A9BCC"/>
            </a:solidFill>
            <a:ln w="38100" cap="flat">
              <a:solidFill>
                <a:srgbClr val="6A9B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A9BCC"/>
              </a:solidFill>
              <a:ln w="9525" cap="flat">
                <a:solidFill>
                  <a:srgbClr val="6A9B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</c:v>
                </c:pt>
                <c:pt idx="1">
                  <c:v>0.749</c:v>
                </c:pt>
                <c:pt idx="2">
                  <c:v>0.862</c:v>
                </c:pt>
                <c:pt idx="3">
                  <c:v>0.93</c:v>
                </c:pt>
                <c:pt idx="4">
                  <c:v>0.966</c:v>
                </c:pt>
                <c:pt idx="5">
                  <c:v>0.984</c:v>
                </c:pt>
                <c:pt idx="6">
                  <c:v>0.993</c:v>
                </c:pt>
                <c:pt idx="7">
                  <c:v>0.997</c:v>
                </c:pt>
                <c:pt idx="8">
                  <c:v>0.998</c:v>
                </c:pt>
                <c:pt idx="9">
                  <c:v>0.999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Item 18: flat curve</c:v>
                </c:pt>
              </c:strCache>
            </c:strRef>
          </c:tx>
          <c:spPr>
            <a:solidFill>
              <a:srgbClr val="B0AEA5"/>
            </a:solidFill>
            <a:ln w="38100" cap="flat">
              <a:solidFill>
                <a:srgbClr val="B0A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AEA5"/>
              </a:solidFill>
              <a:ln w="9525" cap="flat">
                <a:solidFill>
                  <a:srgbClr val="B0A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0.22</c:v>
                </c:pt>
                <c:pt idx="1">
                  <c:v>0.22</c:v>
                </c:pt>
                <c:pt idx="2">
                  <c:v>0.22</c:v>
                </c:pt>
                <c:pt idx="3">
                  <c:v>0.22</c:v>
                </c:pt>
                <c:pt idx="4">
                  <c:v>0.22</c:v>
                </c:pt>
                <c:pt idx="5">
                  <c:v>0.22</c:v>
                </c:pt>
                <c:pt idx="6">
                  <c:v>0.22</c:v>
                </c:pt>
                <c:pt idx="7">
                  <c:v>0.22</c:v>
                </c:pt>
                <c:pt idx="8">
                  <c:v>0.22</c:v>
                </c:pt>
                <c:pt idx="9">
                  <c:v>0.22</c:v>
                </c:pt>
                <c:pt idx="10">
                  <c:v>0.22</c:v>
                </c:pt>
                <c:pt idx="11">
                  <c:v>0.22</c:v>
                </c:pt>
                <c:pt idx="12">
                  <c:v>0.22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Student ability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41413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41413"/>
                    </a:solidFill>
                    <a:latin typeface="+mn-lt"/>
                  </a:rPr>
                  <a:t>Probability of a correct response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students. Today we move from building the test to putting it on trial: do its items work as we intended? The lecture is one hour of concepts and two hours of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students discuss for two minutes. Collect three answers. Do not give the solution: we will return to Item 7 in the middle of the lecture with the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course outcomes 3 and 5. Stress that in the end the decision belongs to the teacher, not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 is 16.47 and the standard deviation 6.40. Point out that the data are simulated and that they contain six deliberately flawed items that you will discover.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does 0.97 mean a difficult item? Many people misread it. Then Item 18: 0.24 is close to the guessing rate of 0.25.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point will come up in the workshop: Claude may define the two groups differently from the Excel file, so the discrimination values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students: why is the difference larger in a 10-item test than in a 60-item test? The answer: the item's share of the total score is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from the left: best to worst. Stress that negative discrimination calls for checking the key first, not deletion.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hand-calculation activity. Ask the groups to calculate it before showing the slide, then ask: do we delete the item?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orange items: 7, 9, 11, 12, 15, 17, 18, 23 and 27. Items 11 and 23 have good discrimination, and their problem is in a single distractor, which does not show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question. Taken together, the three pieces of evidence say that the key is wrong. This is discovered in minutes before scores are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rule: a distractor chosen by fewer than 5% does not work. And a distractor chosen more by the upper group than the lower calls for a review with a content expert.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reliability axis starts at 0.85 to show the differences; point this out to the students. The standard error of measurement is 2.31 points: a two-point difference between two students is not sufficient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protocol the groups will use at the end of the workshop. Focus on the fourth question: the teacher knows what was taught and how important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workshop data were generated with the three-parameter model, so we know the truth behind the figures: the flat curve of Item 18 is what classical analysis revealed from the figures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panel is read first. Stress the privacy condition before the students upload any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is shaded because it is the most important: no interpretation before verification. Circulate among the groups and ask evidence questions instead of giving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exit ticket. Present the Phase 3 task and its rubric, and remind students that access to a real class must be arranged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11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Analysis: From Data to Decision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Postgraduate Professional Diploma in Teaching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268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results were announced, a parent objected: my son chose the third option in Question 7, and I am sure it is the correct answer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have known before the objection?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discussion · two minutes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master today?</a:t>
            </a:r>
            <a:endParaRPr lang="en-US" sz="3600" dirty="0"/>
          </a:p>
        </p:txBody>
      </p:sp>
      <p:sp>
        <p:nvSpPr>
          <p:cNvPr id="3" name="outcome-0"/>
          <p:cNvSpPr/>
          <p:nvPr/>
        </p:nvSpPr>
        <p:spPr>
          <a:xfrm>
            <a:off x="548640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Difficulty, discrimination and the corrected correlation for the items of a real test, and verify them</a:t>
            </a:r>
            <a:endParaRPr lang="en-US" sz="1800" dirty="0"/>
          </a:p>
        </p:txBody>
      </p:sp>
      <p:sp>
        <p:nvSpPr>
          <p:cNvPr id="8" name="outcome-1"/>
          <p:cNvSpPr/>
          <p:nvPr/>
        </p:nvSpPr>
        <p:spPr>
          <a:xfrm>
            <a:off x="4343400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965960"/>
            <a:ext cx="731520" cy="73152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of the distractors and the effect of each item on the reliability of the test</a:t>
            </a:r>
            <a:endParaRPr lang="en-US" sz="1800" dirty="0"/>
          </a:p>
        </p:txBody>
      </p:sp>
      <p:sp>
        <p:nvSpPr>
          <p:cNvPr id="13" name="outcome-2"/>
          <p:cNvSpPr/>
          <p:nvPr/>
        </p:nvSpPr>
        <p:spPr>
          <a:xfrm>
            <a:off x="8138160" y="16459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965960"/>
            <a:ext cx="731520" cy="73152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7033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Keep, revise, delete or review the key, with a justification that balances the figures against the importance of the objective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data: a 30-item test given to 150 students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items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coefficient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measurement</a:t>
            </a:r>
            <a:endParaRPr lang="en-US" sz="2000" dirty="0"/>
          </a:p>
        </p:txBody>
      </p:sp>
      <p:graphicFrame>
        <p:nvGraphicFramePr>
          <p:cNvPr id="11" name="score-histogram" descr=""/>
          <p:cNvGraphicFramePr/>
          <p:nvPr/>
        </p:nvGraphicFramePr>
        <p:xfrm>
          <a:off x="5788152" y="137160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Computer-simulated data for training purposes, with deliberately planted flaws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index: the higher it is, the easier the item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 of students who answered correctly</a:t>
            </a:r>
            <a:endParaRPr lang="en-US" sz="2200" dirty="0"/>
          </a:p>
        </p:txBody>
      </p:sp>
      <p:sp>
        <p:nvSpPr>
          <p:cNvPr id="4" name="formula"/>
          <p:cNvSpPr/>
          <p:nvPr/>
        </p:nvSpPr>
        <p:spPr>
          <a:xfrm>
            <a:off x="548640" y="2057400"/>
            <a:ext cx="53309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548640" y="2057400"/>
            <a:ext cx="5330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correct / 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desirable range depends on the purpose</a:t>
            </a:r>
            <a:endParaRPr lang="en-US" sz="2200" dirty="0"/>
          </a:p>
        </p:txBody>
      </p:sp>
      <p:sp>
        <p:nvSpPr>
          <p:cNvPr id="7" name="purpose-0"/>
          <p:cNvSpPr/>
          <p:nvPr/>
        </p:nvSpPr>
        <p:spPr>
          <a:xfrm>
            <a:off x="548640" y="361188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61188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students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0.30 and 0.80</a:t>
            </a:r>
            <a:endParaRPr lang="en-US" sz="1600" dirty="0"/>
          </a:p>
        </p:txBody>
      </p:sp>
      <p:sp>
        <p:nvSpPr>
          <p:cNvPr id="10" name="purpose-1"/>
          <p:cNvSpPr/>
          <p:nvPr/>
        </p:nvSpPr>
        <p:spPr>
          <a:xfrm>
            <a:off x="548640" y="438912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438912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of essential objectives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or more acceptable</a:t>
            </a:r>
            <a:endParaRPr lang="en-US" sz="1600" dirty="0"/>
          </a:p>
        </p:txBody>
      </p:sp>
      <p:sp>
        <p:nvSpPr>
          <p:cNvPr id="13" name="purpose-2"/>
          <p:cNvSpPr/>
          <p:nvPr/>
        </p:nvSpPr>
        <p:spPr>
          <a:xfrm>
            <a:off x="548640" y="5166360"/>
            <a:ext cx="53309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516636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for distinction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5166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Harder, around the cut-off</a:t>
            </a:r>
            <a:endParaRPr lang="en-US" sz="1600" dirty="0"/>
          </a:p>
        </p:txBody>
      </p:sp>
      <p:sp>
        <p:nvSpPr>
          <p:cNvPr id="16" name="item12-callout"/>
          <p:cNvSpPr/>
          <p:nvPr/>
        </p:nvSpPr>
        <p:spPr>
          <a:xfrm>
            <a:off x="6428232" y="141732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93992" y="1737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23317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80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of 150 students answered correctly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18: its difficulty is 0.24 and the responses are spread equally across the four options. This is the fingerprint of collective guessing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does the item separate those who have mastered from those who have not?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 students by total score, and compare the top 27% with the bottom 27%</a:t>
            </a:r>
            <a:endParaRPr lang="en-US" sz="2200" dirty="0"/>
          </a:p>
        </p:txBody>
      </p:sp>
      <p:sp>
        <p:nvSpPr>
          <p:cNvPr id="4" name="formula"/>
          <p:cNvSpPr/>
          <p:nvPr/>
        </p:nvSpPr>
        <p:spPr>
          <a:xfrm>
            <a:off x="548640" y="2377440"/>
            <a:ext cx="62453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548640" y="2377440"/>
            <a:ext cx="6245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p(upper) − p(lower)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6245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27% proportion balances the distance between the two groups against a sufficient size in each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Kelley, 1939</a:t>
            </a:r>
            <a:endParaRPr lang="en-US" sz="1800" dirty="0"/>
          </a:p>
        </p:txBody>
      </p:sp>
      <p:sp>
        <p:nvSpPr>
          <p:cNvPr id="8" name="ties-callout"/>
          <p:cNvSpPr/>
          <p:nvPr/>
        </p:nvSpPr>
        <p:spPr>
          <a:xfrm>
            <a:off x="7159752" y="1463040"/>
            <a:ext cx="44805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34072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lesson from the 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2194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9491472" y="21945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491472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3794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students tied on the score at the cut-off of the upper group. The analyst must decide how to handle ties, and document the decision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correlation: do not let the item measure itself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05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score includes the item itself, so the correlation is inflated, especially in short tests. The solution: we correlate the item with the rest of the score</a:t>
            </a:r>
            <a:endParaRPr lang="en-US" sz="2000" dirty="0"/>
          </a:p>
        </p:txBody>
      </p:sp>
      <p:sp>
        <p:nvSpPr>
          <p:cNvPr id="4" name="formula"/>
          <p:cNvSpPr/>
          <p:nvPr/>
        </p:nvSpPr>
        <p:spPr>
          <a:xfrm>
            <a:off x="548640" y="3063240"/>
            <a:ext cx="560527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548640" y="306324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r(item, total − item)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60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uses all students, not just the two groups, so it is more precise than the two-group index</a:t>
            </a:r>
            <a:endParaRPr lang="en-US" sz="2000" dirty="0"/>
          </a:p>
        </p:txBody>
      </p:sp>
      <p:sp>
        <p:nvSpPr>
          <p:cNvPr id="7" name="item15-callout"/>
          <p:cNvSpPr/>
          <p:nvPr/>
        </p:nvSpPr>
        <p:spPr>
          <a:xfrm>
            <a:off x="6702552" y="146304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22592" y="1737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022592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9217152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Uncorrected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217152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40690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acceptable, then turns out to be weak. The decision changes according to the coefficient you adopt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read a discrimination value?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or more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61488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– 0.39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Keep, and possibly improve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74336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1496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– 0.29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wording and distractors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87184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24344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0.20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24344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revision or exclusion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00032" y="1554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37192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537192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37192" y="3108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key first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Ebel and Frisbie, 1991 · the negative category is an explanatory addition to their classification</a:t>
            </a:r>
            <a:endParaRPr lang="en-US" sz="1600" dirty="0"/>
          </a:p>
        </p:txBody>
      </p:sp>
      <p:sp>
        <p:nvSpPr>
          <p:cNvPr id="24" name="rule-reminder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9377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guideline thresholds, not mechanical rules: statistics guide; they do not decide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easy item cannot discriminate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788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 students got Item 12 wrong. If they were all in the lower group (45 students), the maximum possible discrimination is 4 divided by 45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788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the quality of the item, but that it adds no information about differences between students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5788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788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depends on the purpose: keeping it is justified if it measures an essential objective</a:t>
            </a:r>
            <a:endParaRPr lang="en-US" sz="2000" dirty="0"/>
          </a:p>
        </p:txBody>
      </p:sp>
      <p:sp>
        <p:nvSpPr>
          <p:cNvPr id="6" name="max-d-0"/>
          <p:cNvSpPr/>
          <p:nvPr/>
        </p:nvSpPr>
        <p:spPr>
          <a:xfrm>
            <a:off x="6611112" y="182880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11112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possible discrimination</a:t>
            </a:r>
            <a:endParaRPr lang="en-US" sz="2000" dirty="0"/>
          </a:p>
        </p:txBody>
      </p:sp>
      <p:sp>
        <p:nvSpPr>
          <p:cNvPr id="9" name="max-d-1"/>
          <p:cNvSpPr/>
          <p:nvPr/>
        </p:nvSpPr>
        <p:spPr>
          <a:xfrm>
            <a:off x="9262872" y="182880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262872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9445752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discrimination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the thirty items: difficulty against discrimination</a:t>
            </a:r>
            <a:endParaRPr lang="en-US" sz="3600" dirty="0"/>
          </a:p>
        </p:txBody>
      </p:sp>
      <p:graphicFrame>
        <p:nvGraphicFramePr>
          <p:cNvPr id="3" name="item-map" descr=""/>
          <p:cNvGraphicFramePr/>
          <p:nvPr/>
        </p:nvGraphicFramePr>
        <p:xfrm>
          <a:off x="4142232" y="132588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4630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32278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clearly below zero: Item 7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at the far right: Items 12 and 9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points in the middle with good discrimination: their problem is in the distractors, not in the overall figures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7: high achievers choose an option other than the key</a:t>
            </a:r>
            <a:endParaRPr lang="en-US" sz="3600" dirty="0"/>
          </a:p>
        </p:txBody>
      </p:sp>
      <p:graphicFrame>
        <p:nvGraphicFramePr>
          <p:cNvPr id="3" name="item7-distractors" descr=""/>
          <p:cNvGraphicFramePr/>
          <p:nvPr/>
        </p:nvGraphicFramePr>
        <p:xfrm>
          <a:off x="4873752" y="13258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46304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−0.40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7472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option C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0060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of those who chose the key, versus 17.9 for the others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88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was right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distractor attracts those who do not know, and not those who do</a:t>
            </a:r>
            <a:endParaRPr lang="en-US" sz="3600" dirty="0"/>
          </a:p>
        </p:txBody>
      </p:sp>
      <p:sp>
        <p:nvSpPr>
          <p:cNvPr id="3" name="case-0"/>
          <p:cNvSpPr/>
          <p:nvPr/>
        </p:nvSpPr>
        <p:spPr>
          <a:xfrm>
            <a:off x="548640" y="14630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 was chosen by no student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ineffective distractor. The item itself is good, and it effectively has three options</a:t>
            </a:r>
            <a:endParaRPr lang="en-US" sz="1800" dirty="0"/>
          </a:p>
        </p:txBody>
      </p:sp>
      <p:sp>
        <p:nvSpPr>
          <p:cNvPr id="8" name="case-1"/>
          <p:cNvSpPr/>
          <p:nvPr/>
        </p:nvSpPr>
        <p:spPr>
          <a:xfrm>
            <a:off x="6336792" y="14630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56832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3108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the upper group chose option A, versus 13 from the lower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distractor that attracts high achievers. The item may have two acceptable answers</a:t>
            </a:r>
            <a:endParaRPr lang="en-US" sz="1800" dirty="0"/>
          </a:p>
        </p:txBody>
      </p:sp>
      <p:sp>
        <p:nvSpPr>
          <p:cNvPr id="13" name="rodriguez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are usually sufficient, because the fourth option rarely works (a meta-analysis of eighty years of research, Rodriguez 2005)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the key is better than deleting the item</a:t>
            </a:r>
            <a:endParaRPr lang="en-US" sz="3600" dirty="0"/>
          </a:p>
        </p:txBody>
      </p:sp>
      <p:graphicFrame>
        <p:nvGraphicFramePr>
          <p:cNvPr id="3" name="alpha-scenarios" descr=""/>
          <p:cNvGraphicFramePr/>
          <p:nvPr/>
        </p:nvGraphicFramePr>
        <p:xfrm>
          <a:off x="4690872" y="13258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ormula"/>
          <p:cNvSpPr/>
          <p:nvPr/>
        </p:nvSpPr>
        <p:spPr>
          <a:xfrm>
            <a:off x="548640" y="1463040"/>
            <a:ext cx="377647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formula-text"/>
          <p:cNvSpPr txBox="1"/>
          <p:nvPr/>
        </p:nvSpPr>
        <p:spPr>
          <a:xfrm>
            <a:off x="548640" y="146304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KR-20 = k/(k−1) × (1 − Σpq / S²)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raises reliability more, and preserves coverage of the objective. After it, Item 7 becomes one of the best items (corrected correlation 0.52)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80560"/>
            <a:ext cx="3776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deleting items solely to raise reliability narrows what the test measures, so it may weaken validity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figures to the decision: four questions in order</a:t>
            </a:r>
            <a:endParaRPr lang="en-US" sz="3600" dirty="0"/>
          </a:p>
        </p:txBody>
      </p:sp>
      <p:sp>
        <p:nvSpPr>
          <p:cNvPr id="3" name="question-0"/>
          <p:cNvSpPr/>
          <p:nvPr/>
        </p:nvSpPr>
        <p:spPr>
          <a:xfrm>
            <a:off x="548640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key correct?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discrimination + a distractor that attracts high achievers</a:t>
            </a:r>
            <a:endParaRPr lang="en-US" sz="1700" dirty="0"/>
          </a:p>
        </p:txBody>
      </p:sp>
      <p:sp>
        <p:nvSpPr>
          <p:cNvPr id="7" name="question-1"/>
          <p:cNvSpPr/>
          <p:nvPr/>
        </p:nvSpPr>
        <p:spPr>
          <a:xfrm>
            <a:off x="3346704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5304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wording clear?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discrimination with medium difficulty</a:t>
            </a:r>
            <a:endParaRPr lang="en-US" sz="1700" dirty="0"/>
          </a:p>
        </p:txBody>
      </p:sp>
      <p:sp>
        <p:nvSpPr>
          <p:cNvPr id="11" name="question-2"/>
          <p:cNvSpPr/>
          <p:nvPr/>
        </p:nvSpPr>
        <p:spPr>
          <a:xfrm>
            <a:off x="6144768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73368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73368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level appropriate?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difficulty in either direction</a:t>
            </a:r>
            <a:endParaRPr lang="en-US" sz="1700" dirty="0"/>
          </a:p>
        </p:txBody>
      </p:sp>
      <p:sp>
        <p:nvSpPr>
          <p:cNvPr id="15" name="question-3"/>
          <p:cNvSpPr/>
          <p:nvPr/>
        </p:nvSpPr>
        <p:spPr>
          <a:xfrm>
            <a:off x="8942832" y="164592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71432" y="1874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171432" y="2788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important is the objective?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keep a weak item after it is revised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88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question alone is one that no program can answer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Enrichment: the item characteristic curve</a:t>
            </a:r>
            <a:endParaRPr lang="en-US" sz="3600" dirty="0"/>
          </a:p>
        </p:txBody>
      </p:sp>
      <p:graphicFrame>
        <p:nvGraphicFramePr>
          <p:cNvPr id="3" name="icc" descr=""/>
          <p:cNvGraphicFramePr/>
          <p:nvPr/>
        </p:nvGraphicFramePr>
        <p:xfrm>
          <a:off x="4690872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46304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limits of classical theory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change as the sample changes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tied to the items that were taken</a:t>
            </a:r>
            <a:endParaRPr lang="en-US" sz="17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measurement error assumed for all students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37764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response theory describes each item by its location, its steepness and the effect of guessing, and it is the foundation of the international tests we reach in Week 12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computes and suggests; you verify and decide</a:t>
            </a:r>
            <a:endParaRPr lang="en-US" sz="3600" dirty="0"/>
          </a:p>
        </p:txBody>
      </p:sp>
      <p:sp>
        <p:nvSpPr>
          <p:cNvPr id="3" name="panel-0"/>
          <p:cNvSpPr/>
          <p:nvPr/>
        </p:nvSpPr>
        <p:spPr>
          <a:xfrm>
            <a:off x="548640" y="14630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does well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all the indices by running real code</a:t>
            </a:r>
            <a:endParaRPr lang="en-US" sz="19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distributions and curves</a:t>
            </a:r>
            <a:endParaRPr lang="en-US" sz="19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initial interpretations and replacement distractors</a:t>
            </a:r>
            <a:endParaRPr lang="en-US" sz="1900" dirty="0"/>
          </a:p>
        </p:txBody>
      </p:sp>
      <p:sp>
        <p:nvSpPr>
          <p:cNvPr id="7" name="panel-1"/>
          <p:cNvSpPr/>
          <p:nvPr/>
        </p:nvSpPr>
        <p:spPr>
          <a:xfrm>
            <a:off x="6336792" y="14630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56832" y="173736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51192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verify yourself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4231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code was actually run, and ask to see it</a:t>
            </a:r>
            <a:endParaRPr lang="en-US" sz="19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of the two groups and the handling of ties</a:t>
            </a:r>
            <a:endParaRPr lang="en-US" sz="19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correlation was used: corrected or not</a:t>
            </a:r>
            <a:endParaRPr lang="en-US" sz="19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three values against Excel</a:t>
            </a:r>
            <a:endParaRPr lang="en-US" sz="1900" dirty="0"/>
          </a:p>
        </p:txBody>
      </p:sp>
      <p:sp>
        <p:nvSpPr>
          <p:cNvPr id="11" name="privacy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6235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upload any file containing the names of real students. Replace them with codes before uploading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workshop: six steps in 60 minutes</a:t>
            </a:r>
            <a:endParaRPr lang="en-US" sz="3600" dirty="0"/>
          </a:p>
        </p:txBody>
      </p:sp>
      <p:sp>
        <p:nvSpPr>
          <p:cNvPr id="3" name="step-1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file without Claude</a:t>
            </a:r>
            <a:endParaRPr lang="en-US" sz="1900" dirty="0"/>
          </a:p>
        </p:txBody>
      </p:sp>
      <p:sp>
        <p:nvSpPr>
          <p:cNvPr id="7" name="step-2"/>
          <p:cNvSpPr/>
          <p:nvPr/>
        </p:nvSpPr>
        <p:spPr>
          <a:xfrm>
            <a:off x="4334256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2856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3056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with Claude using the ready-made prompt</a:t>
            </a:r>
            <a:endParaRPr lang="en-US" sz="1900" dirty="0"/>
          </a:p>
        </p:txBody>
      </p:sp>
      <p:sp>
        <p:nvSpPr>
          <p:cNvPr id="11" name="step-3"/>
          <p:cNvSpPr/>
          <p:nvPr/>
        </p:nvSpPr>
        <p:spPr>
          <a:xfrm>
            <a:off x="8119872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48472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423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match 3 values against Excel</a:t>
            </a:r>
            <a:endParaRPr lang="en-US" sz="1900" dirty="0"/>
          </a:p>
        </p:txBody>
      </p:sp>
      <p:sp>
        <p:nvSpPr>
          <p:cNvPr id="15" name="step-4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decide yourself</a:t>
            </a:r>
            <a:endParaRPr lang="en-US" sz="1900" dirty="0"/>
          </a:p>
        </p:txBody>
      </p:sp>
      <p:sp>
        <p:nvSpPr>
          <p:cNvPr id="19" name="step-5"/>
          <p:cNvSpPr/>
          <p:nvPr/>
        </p:nvSpPr>
        <p:spPr>
          <a:xfrm>
            <a:off x="4334256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2856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experiment: correct the key of Item 7</a:t>
            </a:r>
            <a:endParaRPr lang="en-US" sz="1900" dirty="0"/>
          </a:p>
        </p:txBody>
      </p:sp>
      <p:sp>
        <p:nvSpPr>
          <p:cNvPr id="23" name="step-6"/>
          <p:cNvSpPr/>
          <p:nvPr/>
        </p:nvSpPr>
        <p:spPr>
          <a:xfrm>
            <a:off x="8119872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48472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46634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groups: improve the distractor in Item 23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sheet contains the ready-made prompts and the verification and decision tables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guide; they do not decide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without AI · 15 minutes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4340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the project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out your test on a real class and analyse it · end of Week 13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3816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tests: frameworks and digital items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— Item Analysis</dc:title>
  <dc:subject>PptxGenJS Presentation</dc:subject>
  <dc:creator>PptxGenJS</dc:creator>
  <cp:lastModifiedBy>PptxGenJS</cp:lastModifiedBy>
  <cp:revision>1</cp:revision>
  <dcterms:created xsi:type="dcterms:W3CDTF">2026-10-15T03:58:15Z</dcterms:created>
  <dcterms:modified xsi:type="dcterms:W3CDTF">2026-10-15T03:58:15Z</dcterms:modified>
</cp:coreProperties>
</file>