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38d7f6e-b5e2-10f9-d38b-dc49c1cb30db}">
          <p14:sldIdLst>
            <p14:sldId id="256"/>
            <p14:sldId id="257"/>
          </p14:sldIdLst>
        </p14:section>
        <p14:section name="Content" id="{54cf1b30-89ad-8d35-384c-0cabf81d2b92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Closing" id="{d26ac663-abac-2aca-6a29-832032423e8e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Tool minus Human 1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Long</c:v>
                  </c:pt>
                  <c:pt idx="1">
                    <c:v>Short</c:v>
                  </c:pt>
                  <c:pt idx="2">
                    <c:v>Many spelling errors</c:v>
                  </c:pt>
                  <c:pt idx="3">
                    <c:v>Few spelling errors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0.26</c:v>
                </c:pt>
                <c:pt idx="1">
                  <c:v>-0.14</c:v>
                </c:pt>
                <c:pt idx="2">
                  <c:v>-0.19</c:v>
                </c:pt>
                <c:pt idx="3">
                  <c:v>0.03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question is not whether the tool is intelligent, but whether its score is fit for the decision we intend. Today's product is a one-page validity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show of hands and record the count on the board. You will return to it after the workshop to see how many students changed their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might a feature engine learn to reward length? Because longer responses often receive higher scores from humans.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fill in the evidence column before showing it. Link to Kane's argument in Week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tool's exact agreement is lower, and its weighted kappa slightly higher. Leave the question open until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 used 0 and 3 more, so its distribution widened and the disagreement expected by chance in the denominator rose.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 is as in the mean difference in Week 8: the tool minus the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negative degradation means the tool agrees with Human 1 slightly more than the two humans agree with each other. Do not reveal the last row before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it in the closing discussion after Step 2 of the workshop, not before. The spelling group is only 27 responses, so the estimate is less 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Weeks 4 and 8: equal means do not imply 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written composition question, spelling becomes part of the construct. The decisive question from Week 5: is this element part of what I am measuring?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known tendencies, not fixed findings, and their size varies between models and tasks. That is why we test them ourselves in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Week 8. Assessing student performance was about 7% of use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UAE University policy concerns students; applying it to the teacher is our own inference, not something stated in it. Say so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the first decision is written before the subgroups sheet is 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 opening vote: how many students changed their decision? Then the exit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Measurement and Evaluation · Week 10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Scoring: When Can It Be Trusted?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overall agreement to fairness and conditions of use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scoring tool has passed all three overall agreement thresholds.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adopt it to score the end-of-term test?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overall agreement not measure?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generations of automated scoring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engines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learn from hundreds of human-scored responses, and predict the score from length, vocabulary and errors.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with a rubric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read the rubric and the response and give a score and a justification, without training on scored responses.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share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cases the reference is a calibrated human scorer, so we compare the tool with humans and humans with each other.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is stable but may reward length; the second is flexible but may change between two conversations.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validity of the automated score is an argument (Kane, 2013)</a:t>
            </a:r>
            <a:endParaRPr lang="en-US" sz="38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617536"/>
                <a:gridCol w="5776913"/>
                <a:gridCol w="369722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apply the rubric like a calibrated scorer?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indices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Generalization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give the same score if we repeat?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Rescoring in another order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Extrapolation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measure science, not length and spelling?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fit for this use?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of use and disclosure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is a judgement on interpretation and use, not a property of the tool (Messick, 1989; the Standards, 2014).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agreement in the workshop data</a:t>
            </a:r>
            <a:endParaRPr lang="en-US" sz="3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840002"/>
                <a:gridCol w="2823335"/>
                <a:gridCol w="3428335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1 with 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with Human 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agreement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or adjacent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Kappa coefficient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weighted kappa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difference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data: 120 short responses, and scores from 0 to 3.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weighted kappa (Cohen, 1968)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ordered scale, a two-point disagreement is more serious than a one-point disagreement. The weight is the squared difference.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QWK = 1 − Σ w·O / Σ w·E ; w = (i−j)²/9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two-point disagreement equals four one-point disagreements. Sum of squared differences: 32 for the humans and 33 for the tool, so a difference of about 0.01 is not superiority.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standardized mean difference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the two means divided by the pooled standard deviation. Positive is leniency, and negative is severity.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SMD = (M_AI − M_H) / √((S²_AI + S²_H)/2)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1.692 and the human 1.717, and the denominator about 1.100, so the standardized difference is −0.02.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thresholds of Williamson, Xi and Breyer (2012)</a:t>
            </a:r>
            <a:endParaRPr lang="en-US" sz="38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5695723"/>
                <a:gridCol w="1798650"/>
                <a:gridCol w="899325"/>
                <a:gridCol w="269797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Judgement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kappa with the human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 or more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Degradation from human agreement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 or less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standardized difference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 or less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difference for each group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 or less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the workshop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thresholds for high-stakes testing engines, not laws. They are editable cells in the file.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Subgroups: the standardized difference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4873752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for subgroups is 0.10.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Lenient with long responses, and severe with short ones and with many spelling errors.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groups out of four are outside the threshold.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this not show in the overall average?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average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difference −0.025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difference −0.02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conditions are met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subgroups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+8 points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Short: −11 points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−3 over 120 responses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Leniency with one category and severity with another cancel each other out. That is why the threshold is stricter for subgroups.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and spelling: construct-irrelevant variance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is not part of what a science question measures, and length is not quality (Messick, 1989).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consequence: if students learn that the tool rewards length, they learn to write at length.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number of words with the tool's difference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the response, the higher the tool's score compared with Human 1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specific to language models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 and order effect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response may receive two scores in two conversations, or according to its position among the responses.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2160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Leniency with fluency and length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smooth language may earn points on criteria it has not met.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7453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one word in the prompt may change the scores, so we fix the text and document it.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27464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upload responses with students' names. Code them and adhere to the school's policy.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academics say and what they do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rated grading as the task AI performs least effectively.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yet grading was delegated to the tool in about half of grading conversations. The validity report closes this gap.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Automation-oriented grading conversations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48.9%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August 2025, about 74,000 conversations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who decides the score?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makes the decision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judgement stays in human hands (UNESCO, 2023), and the teacher bears responsibility for the score.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a second scorer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disagreement goes back for a human reading: 33 of 120 responses in the workshop data.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to students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University (2025) requires the student to disclose, and it is all the more fitting that the teacher disclose too.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validity report ends with conditions of use, not with yes or no.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scoring workshop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371039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overall agreement and write your decision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6999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5599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60313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599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subgroups and revise your decision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8126273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54873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948672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54873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scores the eight responses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2371039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run in reverse order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6999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65599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160313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599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runs on 24 scores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8126273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54873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948672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54873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validity report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Claude run in a new conversation outside the course project, with the same prompt word for word.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ideas to take with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agreement is a condition, not a certificate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passed all three overall agreement thresholds may be unfair to a group of students that the average hides.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8089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409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what it does not measure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409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and spelling in a science question are construct-irrelevant variance, revealed through subgroups.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86623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0943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decides and discloses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460943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a second scorer whose disagreements are reviewed, and the student knows its role and how to appeal.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English">
  <a:themeElements>
    <a:clrScheme name="Anthropic English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Englis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</dc:title>
  <dc:subject>PptxGenJS Presentation</dc:subject>
  <dc:creator>PptxGenJS</dc:creator>
  <cp:lastModifiedBy>PptxGenJS</cp:lastModifiedBy>
  <cp:revision>1</cp:revision>
  <dcterms:created xsi:type="dcterms:W3CDTF">2026-10-15T04:06:15Z</dcterms:created>
  <dcterms:modified xsi:type="dcterms:W3CDTF">2026-10-15T04:06:15Z</dcterms:modified>
</cp:coreProperties>
</file>