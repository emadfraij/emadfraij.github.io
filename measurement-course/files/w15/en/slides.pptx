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285d5a5-4194-d80a-6cc6-ffc59efed576}">
          <p14:sldIdLst>
            <p14:sldId id="256"/>
            <p14:sldId id="257"/>
          </p14:sldIdLst>
        </p14:section>
        <p14:section name="Content" id="{c7453001-7329-9f3c-bace-126f763c8897}">
          <p14:sldIdLst>
            <p14:sldId id="258"/>
            <p14:sldId id="259"/>
            <p14:sldId id="260"/>
            <p14:sldId id="261"/>
            <p14:sldId id="262"/>
            <p14:sldId id="263"/>
            <p14:sldId id="264"/>
            <p14:sldId id="265"/>
            <p14:sldId id="266"/>
            <p14:sldId id="267"/>
            <p14:sldId id="268"/>
            <p14:sldId id="269"/>
            <p14:sldId id="270"/>
            <p14:sldId id="271"/>
          </p14:sldIdLst>
        </p14:section>
        <p14:section name="Closing" id="{06c2c4bb-f154-f046-4fbf-d247088e1e14}">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session of the course: a practical exam, then a short lecture, then oral defenses and a reflection workshop for those waiting. No devices throughout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two or three answers. The answer we want: that they explain why, not only what. This is the way into the oral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student to recall a decision from their project that represents each principle. They will be asked about this in the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when did the data settle a disagreement between you and Claude in your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identity of the assessing teacher. AI has changed the speed of production, and has not changed who bears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UAE context: the AI curriculum in public schools from 2025 – 2026. Your students will use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competent professional does not apply rules mechanically, because classroom situations are ambiguous and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find a descriptive sentence in their drafts now. They will rewrite it in Step 6 of the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methodological note: the framework was not developed as a standardised instrument for evaluating assessment practice. Every judgement needs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Week 3: the five sources of validity evidence in the international Standards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dimension is the key to fairness: we assess the explanation, not the manner of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limitations first, then what corresponds to them. Ask: which limitation concerns you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question is the highest-weighted criterion because it is the strongest evidence of understanding. The action research question is always asked. Reference to the two printed copies of the project and the research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who recites the formula and does not mention the decision stays at level 2 on this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for your class: which track does each assessment task of yours fall in? And does it measure what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of the submission deadline at the end of the week, and that the action research report is included for reference and is not assessed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exit ticket now, then the closing sentence: "One change I will start with". Thank the students for the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413"/>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AF9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800" b="1" dirty="0">
                <a:solidFill>
                  <a:srgbClr val="141413"/>
                </a:solidFill>
                <a:latin typeface="Calibri" pitchFamily="34" charset="0"/>
                <a:ea typeface="Calibri" pitchFamily="34" charset="-122"/>
                <a:cs typeface="Calibri" pitchFamily="34" charset="-120"/>
              </a:defRPr>
            </a:lvl1pPr>
          </a:lstStyle>
          <a:p>
            <a:pPr algn="l" indent="0" marL="0">
              <a:buNone/>
            </a:pPr>
            <a:endParaRPr lang="en-US" sz="3800" dirty="0"/>
          </a:p>
        </p:txBody>
      </p:sp>
      <p:sp>
        <p:nvSpPr>
          <p:cNvPr id="3" name="Text 0"/>
          <p:cNvSpPr/>
          <p:nvPr/>
        </p:nvSpPr>
        <p:spPr>
          <a:xfrm>
            <a:off x="548640" y="6355080"/>
            <a:ext cx="5696712" cy="274320"/>
          </a:xfrm>
          <a:prstGeom prst="rect">
            <a:avLst/>
          </a:prstGeom>
          <a:noFill/>
          <a:ln/>
        </p:spPr>
        <p:txBody>
          <a:bodyPr wrap="square" lIns="0" tIns="0" rIns="0" bIns="0" rtlCol="0" anchor="ctr"/>
          <a:lstStyle/>
          <a:p>
            <a:pPr algn="l" indent="0" marL="0">
              <a:buNone/>
            </a:pPr>
            <a:r>
              <a:rPr lang="en-US" sz="1200" dirty="0">
                <a:solidFill>
                  <a:srgbClr val="B0AEA5"/>
                </a:solidFill>
                <a:latin typeface="Calibri" pitchFamily="34" charset="0"/>
                <a:ea typeface="Calibri" pitchFamily="34" charset="-122"/>
                <a:cs typeface="Calibri" pitchFamily="34" charset="-120"/>
              </a:rPr>
              <a:t>Educational Measurement and Evaluation · Week 15</a:t>
            </a:r>
            <a:endParaRPr lang="en-US" sz="1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Week 15</a:t>
            </a:r>
            <a:endParaRPr lang="en-US" sz="2800" dirty="0"/>
          </a:p>
        </p:txBody>
      </p:sp>
      <p:sp>
        <p:nvSpPr>
          <p:cNvPr id="3" name="Text 1"/>
          <p:cNvSpPr txBox="1"/>
          <p:nvPr/>
        </p:nvSpPr>
        <p:spPr>
          <a:xfrm>
            <a:off x="548640" y="2011680"/>
            <a:ext cx="11091672" cy="1645920"/>
          </a:xfrm>
          <a:prstGeom prst="rect">
            <a:avLst/>
          </a:prstGeom>
          <a:noFill/>
          <a:ln/>
        </p:spPr>
        <p:txBody>
          <a:bodyPr wrap="square" lIns="0" tIns="0" rIns="0" bIns="0" rtlCol="0" anchor="ctr">
            <a:normAutofit/>
          </a:bodyPr>
          <a:lstStyle/>
          <a:p>
            <a:pPr algn="l" indent="0" marL="0">
              <a:buNone/>
            </a:pPr>
            <a:r>
              <a:rPr lang="en-US" sz="5400" b="1" dirty="0">
                <a:solidFill>
                  <a:srgbClr val="FFFFFF"/>
                </a:solidFill>
                <a:latin typeface="Calibri" pitchFamily="34" charset="0"/>
                <a:ea typeface="Calibri" pitchFamily="34" charset="-122"/>
                <a:cs typeface="Calibri" pitchFamily="34" charset="-120"/>
              </a:rPr>
              <a:t>Oral Defense and Self-Reflection</a:t>
            </a:r>
            <a:endParaRPr lang="en-US" sz="5400" dirty="0"/>
          </a:p>
        </p:txBody>
      </p:sp>
      <p:sp>
        <p:nvSpPr>
          <p:cNvPr id="4" name="Text 2"/>
          <p:cNvSpPr txBox="1"/>
          <p:nvPr/>
        </p:nvSpPr>
        <p:spPr>
          <a:xfrm>
            <a:off x="548640" y="3840480"/>
            <a:ext cx="11091672" cy="82296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The assessing teacher who owns the decision</a:t>
            </a:r>
            <a:endParaRPr lang="en-US" sz="24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097280" cy="1280160"/>
          </a:xfrm>
          <a:prstGeom prst="rect">
            <a:avLst/>
          </a:prstGeom>
          <a:noFill/>
          <a:ln/>
        </p:spPr>
        <p:txBody>
          <a:bodyPr wrap="square" lIns="0" tIns="0" rIns="0" bIns="0" rtlCol="0" anchor="t">
            <a:normAutofit/>
          </a:bodyPr>
          <a:lstStyle/>
          <a:p>
            <a:pPr algn="l" indent="0" marL="0">
              <a:buNone/>
            </a:pPr>
            <a:r>
              <a:rPr lang="en-US" sz="12000" b="1" dirty="0">
                <a:solidFill>
                  <a:srgbClr val="D97757"/>
                </a:solidFill>
                <a:latin typeface="Calibri" pitchFamily="34" charset="0"/>
                <a:ea typeface="Calibri" pitchFamily="34" charset="-122"/>
                <a:cs typeface="Calibri" pitchFamily="34" charset="-120"/>
              </a:rPr>
              <a:t>“</a:t>
            </a:r>
            <a:endParaRPr lang="en-US" sz="12000" dirty="0"/>
          </a:p>
        </p:txBody>
      </p:sp>
      <p:sp>
        <p:nvSpPr>
          <p:cNvPr id="3" name="Text 1"/>
          <p:cNvSpPr txBox="1"/>
          <p:nvPr/>
        </p:nvSpPr>
        <p:spPr>
          <a:xfrm>
            <a:off x="548640" y="1463040"/>
            <a:ext cx="10543032" cy="2286000"/>
          </a:xfrm>
          <a:prstGeom prst="rect">
            <a:avLst/>
          </a:prstGeom>
          <a:noFill/>
          <a:ln/>
        </p:spPr>
        <p:txBody>
          <a:bodyPr wrap="square" lIns="0" tIns="0" rIns="0" bIns="0" rtlCol="0" anchor="ctr">
            <a:normAutofit/>
          </a:bodyPr>
          <a:lstStyle/>
          <a:p>
            <a:pPr algn="l" indent="0" marL="0">
              <a:buNone/>
            </a:pPr>
            <a:r>
              <a:rPr lang="en-US" sz="3400" dirty="0">
                <a:solidFill>
                  <a:srgbClr val="FFFFFF"/>
                </a:solidFill>
                <a:latin typeface="Calibri" pitchFamily="34" charset="0"/>
                <a:ea typeface="Calibri" pitchFamily="34" charset="-122"/>
                <a:cs typeface="Calibri" pitchFamily="34" charset="-120"/>
              </a:rPr>
              <a:t>A student submitted a polished report on their test, with tables, numbers and justified decisions.</a:t>
            </a:r>
            <a:endParaRPr lang="en-US" sz="3400" dirty="0"/>
          </a:p>
        </p:txBody>
      </p:sp>
      <p:sp>
        <p:nvSpPr>
          <p:cNvPr id="4" name="Text 2"/>
          <p:cNvSpPr txBox="1"/>
          <p:nvPr/>
        </p:nvSpPr>
        <p:spPr>
          <a:xfrm>
            <a:off x="548640" y="4023360"/>
            <a:ext cx="10543032" cy="914400"/>
          </a:xfrm>
          <a:prstGeom prst="rect">
            <a:avLst/>
          </a:prstGeom>
          <a:noFill/>
          <a:ln/>
        </p:spPr>
        <p:txBody>
          <a:bodyPr wrap="square" lIns="0" tIns="0" rIns="0" bIns="0" rtlCol="0" anchor="t">
            <a:normAutofit/>
          </a:bodyPr>
          <a:lstStyle/>
          <a:p>
            <a:pPr algn="l" indent="0" marL="0">
              <a:buNone/>
            </a:pPr>
            <a:r>
              <a:rPr lang="en-US" sz="3200" b="1" dirty="0">
                <a:solidFill>
                  <a:srgbClr val="D97757"/>
                </a:solidFill>
                <a:latin typeface="Calibri" pitchFamily="34" charset="0"/>
                <a:ea typeface="Calibri" pitchFamily="34" charset="-122"/>
                <a:cs typeface="Calibri" pitchFamily="34" charset="-120"/>
              </a:rPr>
              <a:t>What evidence would convince you that the decisions are their own?</a:t>
            </a:r>
            <a:endParaRPr lang="en-US" sz="3200" dirty="0"/>
          </a:p>
        </p:txBody>
      </p:sp>
      <p:sp>
        <p:nvSpPr>
          <p:cNvPr id="5" name="Text 3"/>
          <p:cNvSpPr txBox="1"/>
          <p:nvPr/>
        </p:nvSpPr>
        <p:spPr>
          <a:xfrm>
            <a:off x="548640" y="5029200"/>
            <a:ext cx="10543032" cy="548640"/>
          </a:xfrm>
          <a:prstGeom prst="rect">
            <a:avLst/>
          </a:prstGeom>
          <a:noFill/>
          <a:ln/>
        </p:spPr>
        <p:txBody>
          <a:bodyPr wrap="square" lIns="0" tIns="0" rIns="0" bIns="0" rtlCol="0" anchor="t">
            <a:normAutofit/>
          </a:bodyPr>
          <a:lstStyle/>
          <a:p>
            <a:pPr algn="l" indent="0" marL="0">
              <a:buNone/>
            </a:pPr>
            <a:r>
              <a:rPr lang="en-US" sz="2000" dirty="0">
                <a:solidFill>
                  <a:srgbClr val="B0AEA5"/>
                </a:solidFill>
                <a:latin typeface="Calibri" pitchFamily="34" charset="0"/>
                <a:ea typeface="Calibri" pitchFamily="34" charset="-122"/>
                <a:cs typeface="Calibri" pitchFamily="34" charset="-120"/>
              </a:rPr>
              <a:t>What can only someone who understood what they wrote provide?</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course in three questions</a:t>
            </a:r>
            <a:endParaRPr lang="en-US" sz="38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270921"/>
                <a:gridCol w="8087678"/>
                <a:gridCol w="1733074"/>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Principle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Question</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Weeks</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Validity</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Is my interpretation of the score correct and useful for the decision?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3, 6, 7 and 12</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Reliability</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How much do I trust this particular student's score?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4, 8, 10 and 11</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Fairness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Does the instrument measure the same thing for all students?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5, 9 and 10</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Fairness is part of validity: what is unrelated to what we measure weakens the interpretation of the score.</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running principle in full</a:t>
            </a:r>
            <a:endParaRPr lang="en-US" sz="3800" dirty="0"/>
          </a:p>
        </p:txBody>
      </p:sp>
      <p:sp>
        <p:nvSpPr>
          <p:cNvPr id="3" name="card-0"/>
          <p:cNvSpPr/>
          <p:nvPr/>
        </p:nvSpPr>
        <p:spPr>
          <a:xfrm>
            <a:off x="548640" y="1554480"/>
            <a:ext cx="3483864" cy="356616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Claude proposes</a:t>
            </a:r>
            <a:endParaRPr lang="en-US" sz="2700" dirty="0"/>
          </a:p>
        </p:txBody>
      </p:sp>
      <p:sp>
        <p:nvSpPr>
          <p:cNvPr id="6" name="Text 4"/>
          <p:cNvSpPr txBox="1"/>
          <p:nvPr/>
        </p:nvSpPr>
        <p:spPr>
          <a:xfrm>
            <a:off x="777240" y="3337560"/>
            <a:ext cx="3026664" cy="164592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Drafts of outcomes, items and descriptors, and computing the indices with visible code. A beginning, not an end.</a:t>
            </a:r>
            <a:endParaRPr lang="en-US" sz="2000" dirty="0"/>
          </a:p>
        </p:txBody>
      </p:sp>
      <p:sp>
        <p:nvSpPr>
          <p:cNvPr id="7" name="card-1"/>
          <p:cNvSpPr/>
          <p:nvPr/>
        </p:nvSpPr>
        <p:spPr>
          <a:xfrm>
            <a:off x="4352544" y="1554480"/>
            <a:ext cx="3483864" cy="356616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4672584"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4581144"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The student judges and documents</a:t>
            </a:r>
            <a:endParaRPr lang="en-US" sz="2700" dirty="0"/>
          </a:p>
        </p:txBody>
      </p:sp>
      <p:sp>
        <p:nvSpPr>
          <p:cNvPr id="10" name="Text 8"/>
          <p:cNvSpPr txBox="1"/>
          <p:nvPr/>
        </p:nvSpPr>
        <p:spPr>
          <a:xfrm>
            <a:off x="4581144" y="3337560"/>
            <a:ext cx="3026664" cy="164592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A verification table and a decision table in every workshop. The log turns use from dependence into collaboration.</a:t>
            </a:r>
            <a:endParaRPr lang="en-US" sz="2000" dirty="0"/>
          </a:p>
        </p:txBody>
      </p:sp>
      <p:sp>
        <p:nvSpPr>
          <p:cNvPr id="11" name="card-2"/>
          <p:cNvSpPr/>
          <p:nvPr/>
        </p:nvSpPr>
        <p:spPr>
          <a:xfrm>
            <a:off x="8156448" y="1554480"/>
            <a:ext cx="3483864" cy="356616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8476488"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8385048"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The data decide</a:t>
            </a:r>
            <a:endParaRPr lang="en-US" sz="2700" dirty="0"/>
          </a:p>
        </p:txBody>
      </p:sp>
      <p:sp>
        <p:nvSpPr>
          <p:cNvPr id="14" name="Text 12"/>
          <p:cNvSpPr txBox="1"/>
          <p:nvPr/>
        </p:nvSpPr>
        <p:spPr>
          <a:xfrm>
            <a:off x="8385048" y="3337560"/>
            <a:ext cx="3026664" cy="164592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A disagreement is not settled by whoever is more confident, but by the evidence: the text of the answer, the distractor analysis, and the scores.</a:t>
            </a:r>
            <a:endParaRPr lang="en-US" sz="2000" dirty="0"/>
          </a:p>
        </p:txBody>
      </p:sp>
      <p:sp>
        <p:nvSpPr>
          <p:cNvPr id="15" name="footer"/>
          <p:cNvSpPr/>
          <p:nvPr/>
        </p:nvSpPr>
        <p:spPr>
          <a:xfrm>
            <a:off x="548640" y="5349240"/>
            <a:ext cx="11091672" cy="777240"/>
          </a:xfrm>
          <a:prstGeom prst="roundRect">
            <a:avLst>
              <a:gd name="adj" fmla="val 14118"/>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914400" y="5349240"/>
            <a:ext cx="10360152" cy="777240"/>
          </a:xfrm>
          <a:prstGeom prst="rect">
            <a:avLst/>
          </a:prstGeom>
          <a:noFill/>
          <a:ln/>
        </p:spPr>
        <p:txBody>
          <a:bodyPr wrap="square" lIns="0" tIns="0" rIns="0" bIns="0" rtlCol="0" anchor="ctr">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The principle applies to any source that proposes a decision: a textbook, a question bank, or an expert colleague.</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Four roles that are not delegated</a:t>
            </a:r>
            <a:endParaRPr lang="en-US" sz="3800" dirty="0"/>
          </a:p>
        </p:txBody>
      </p:sp>
      <p:sp>
        <p:nvSpPr>
          <p:cNvPr id="3" name="card-0"/>
          <p:cNvSpPr/>
          <p:nvPr/>
        </p:nvSpPr>
        <p:spPr>
          <a:xfrm>
            <a:off x="548640"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designer</a:t>
            </a:r>
            <a:endParaRPr lang="en-US" sz="2400" dirty="0"/>
          </a:p>
        </p:txBody>
      </p:sp>
      <p:sp>
        <p:nvSpPr>
          <p:cNvPr id="6" name="Text 4"/>
          <p:cNvSpPr txBox="1"/>
          <p:nvPr/>
        </p:nvSpPr>
        <p:spPr>
          <a:xfrm>
            <a:off x="777240"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Decides what to measure and why before writing any item.</a:t>
            </a:r>
            <a:endParaRPr lang="en-US" sz="1800" dirty="0"/>
          </a:p>
        </p:txBody>
      </p:sp>
      <p:sp>
        <p:nvSpPr>
          <p:cNvPr id="7" name="card-1"/>
          <p:cNvSpPr/>
          <p:nvPr/>
        </p:nvSpPr>
        <p:spPr>
          <a:xfrm>
            <a:off x="3401568"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judge</a:t>
            </a:r>
            <a:endParaRPr lang="en-US" sz="2400" dirty="0"/>
          </a:p>
        </p:txBody>
      </p:sp>
      <p:sp>
        <p:nvSpPr>
          <p:cNvPr id="10" name="Text 8"/>
          <p:cNvSpPr txBox="1"/>
          <p:nvPr/>
        </p:nvSpPr>
        <p:spPr>
          <a:xfrm>
            <a:off x="3630168"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Gives the score and bears responsibility for it, and calibrates any marker before relying on it.</a:t>
            </a:r>
            <a:endParaRPr lang="en-US" sz="1800" dirty="0"/>
          </a:p>
        </p:txBody>
      </p:sp>
      <p:sp>
        <p:nvSpPr>
          <p:cNvPr id="11" name="card-2"/>
          <p:cNvSpPr/>
          <p:nvPr/>
        </p:nvSpPr>
        <p:spPr>
          <a:xfrm>
            <a:off x="6254496"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interpreter</a:t>
            </a:r>
            <a:endParaRPr lang="en-US" sz="2400" dirty="0"/>
          </a:p>
        </p:txBody>
      </p:sp>
      <p:sp>
        <p:nvSpPr>
          <p:cNvPr id="14" name="Text 12"/>
          <p:cNvSpPr txBox="1"/>
          <p:nvPr/>
        </p:nvSpPr>
        <p:spPr>
          <a:xfrm>
            <a:off x="6483096"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Reads the numbers in their context and knows their limits.</a:t>
            </a:r>
            <a:endParaRPr lang="en-US" sz="1800" dirty="0"/>
          </a:p>
        </p:txBody>
      </p:sp>
      <p:sp>
        <p:nvSpPr>
          <p:cNvPr id="15" name="card-3"/>
          <p:cNvSpPr/>
          <p:nvPr/>
        </p:nvSpPr>
        <p:spPr>
          <a:xfrm>
            <a:off x="9107424"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ethical guardian</a:t>
            </a:r>
            <a:endParaRPr lang="en-US" sz="2400" dirty="0"/>
          </a:p>
        </p:txBody>
      </p:sp>
      <p:sp>
        <p:nvSpPr>
          <p:cNvPr id="18" name="Text 16"/>
          <p:cNvSpPr txBox="1"/>
          <p:nvPr/>
        </p:nvSpPr>
        <p:spPr>
          <a:xfrm>
            <a:off x="9336024"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Protects their students' data and ensures the fairness of the instrument for every group.</a:t>
            </a:r>
            <a:endParaRPr lang="en-US" sz="18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temptation of delegation is real</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Instructors rated grading as the weakest thing AI performs, and yet they delegated it a great deal.</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The data are from university education and from a single tool, so we do not generalise them, but they are enough as a warning.</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Automation-oriented grading conversations</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48.9%</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Anthropic, August 2025</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Reflection according to Schön (1983)</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In action</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You think while you work</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You adjust your plan in the moment</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Example: you reword a question that no one understood</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On action after it has occurred</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You return to what happened</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You ask why it happened and what changed</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Example: your reflective essay</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And problem reframing: "a bad item to be deleted" becomes "a wrong key to be corrected".</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From description to critique</a:t>
            </a:r>
            <a:endParaRPr lang="en-US" sz="38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232408"/>
                <a:gridCol w="9859264"/>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Type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Example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Descriptive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I analysed the items of my test and used Claude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Analytical</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Negative discrimination, and high achievers chose a single option, so I reviewed the key</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Critical</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I now start with the key before any deletion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For every paragraph in your essay: What happened? What is the evidence? What changed in my practice?</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mirror: dimensions of the UNESCO framework</a:t>
            </a:r>
            <a:endParaRPr lang="en-US" sz="38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900368"/>
                <a:gridCol w="7191304"/>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Dimension</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The mirror question in assessment</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Human-centred mindset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Did the decision remain mine and in the student's interest?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Ethics of AI</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Did I disclose, protect the data and check fairness?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Its foundations and applications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Do I understand why it gets numbers and references wrong?</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Pedagogy with it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Are my tasks valid when my students use it?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Professional learning</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Did I use it to develop myself, not only my work?</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Miao and Cukurova (2024). A mirror for asking questions, not a measure that gives a score.</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Why the oral defense?</a:t>
            </a:r>
            <a:endParaRPr lang="en-US" sz="3800" dirty="0"/>
          </a:p>
        </p:txBody>
      </p:sp>
      <p:sp>
        <p:nvSpPr>
          <p:cNvPr id="3" name="card-0"/>
          <p:cNvSpPr/>
          <p:nvPr/>
        </p:nvSpPr>
        <p:spPr>
          <a:xfrm>
            <a:off x="548640"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Ownership of the work</a:t>
            </a:r>
            <a:endParaRPr lang="en-US" sz="2700" dirty="0"/>
          </a:p>
        </p:txBody>
      </p:sp>
      <p:sp>
        <p:nvSpPr>
          <p:cNvPr id="6" name="Text 4"/>
          <p:cNvSpPr txBox="1"/>
          <p:nvPr/>
        </p:nvSpPr>
        <p:spPr>
          <a:xfrm>
            <a:off x="777240"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Dialogue and follow-up reveal who made the decisions, not who wrote the text.</a:t>
            </a:r>
            <a:endParaRPr lang="en-US" sz="2000" dirty="0"/>
          </a:p>
        </p:txBody>
      </p:sp>
      <p:sp>
        <p:nvSpPr>
          <p:cNvPr id="7" name="card-1"/>
          <p:cNvSpPr/>
          <p:nvPr/>
        </p:nvSpPr>
        <p:spPr>
          <a:xfrm>
            <a:off x="4352544"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4672584"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4581144"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Validity evidence</a:t>
            </a:r>
            <a:endParaRPr lang="en-US" sz="2700" dirty="0"/>
          </a:p>
        </p:txBody>
      </p:sp>
      <p:sp>
        <p:nvSpPr>
          <p:cNvPr id="10" name="Text 8"/>
          <p:cNvSpPr txBox="1"/>
          <p:nvPr/>
        </p:nvSpPr>
        <p:spPr>
          <a:xfrm>
            <a:off x="4581144"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It adds evidence from response processes: we hear how the student thinks.</a:t>
            </a:r>
            <a:endParaRPr lang="en-US" sz="2000" dirty="0"/>
          </a:p>
        </p:txBody>
      </p:sp>
      <p:sp>
        <p:nvSpPr>
          <p:cNvPr id="11" name="card-2"/>
          <p:cNvSpPr/>
          <p:nvPr/>
        </p:nvSpPr>
        <p:spPr>
          <a:xfrm>
            <a:off x="8156448"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8476488"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8385048"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What it does not measure</a:t>
            </a:r>
            <a:endParaRPr lang="en-US" sz="2700" dirty="0"/>
          </a:p>
        </p:txBody>
      </p:sp>
      <p:sp>
        <p:nvSpPr>
          <p:cNvPr id="14" name="Text 12"/>
          <p:cNvSpPr txBox="1"/>
          <p:nvPr/>
        </p:nvSpPr>
        <p:spPr>
          <a:xfrm>
            <a:off x="8385048"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Fluency, public speaking and correctness of language. Any effect of them is variance unrelated to what we measure.</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Our defense on Joughin's (1998) dimensions</a:t>
            </a:r>
            <a:endParaRPr lang="en-US" sz="38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535239"/>
                <a:gridCol w="8556433"/>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Dimension</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The position of our defense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Content measured</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Understanding and its application, not public speaking</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Interaction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 short presentation then dialogue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Authenticity</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High: your test and your class data</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Structure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Semi-structured: a published bank and free follow-up</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Who assesses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The instructor, and a second examiner where possible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Orality</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 means, not an end</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Limitations of the defense and ways of mitigating them</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Limitations</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Anxiety hides what the student knows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Language is not what we measure</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 single examiner and few questions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First-impression bias</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Mitigation</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Publishing the bank in Week 13 and a practice defense in Week 14</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Accepting simple language and rewording</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 rubric with criteria, and a second examiner or a recording</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Scoring each criterion with its recorded evidence</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And the final judgement comes from more than one source: the project, the practical exam and the defense.</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Structure of the defense</a:t>
            </a:r>
            <a:endParaRPr lang="en-US" sz="3800" dirty="0"/>
          </a:p>
        </p:txBody>
      </p:sp>
      <p:sp>
        <p:nvSpPr>
          <p:cNvPr id="3" name="step-1"/>
          <p:cNvSpPr/>
          <p:nvPr/>
        </p:nvSpPr>
        <p:spPr>
          <a:xfrm>
            <a:off x="548640" y="1508760"/>
            <a:ext cx="2567178" cy="3291840"/>
          </a:xfrm>
          <a:prstGeom prst="roundRect">
            <a:avLst>
              <a:gd name="adj" fmla="val 427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Text 2"/>
          <p:cNvSpPr txBox="1"/>
          <p:nvPr/>
        </p:nvSpPr>
        <p:spPr>
          <a:xfrm>
            <a:off x="777240"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1</a:t>
            </a:r>
            <a:endParaRPr lang="en-US" sz="4000" dirty="0"/>
          </a:p>
        </p:txBody>
      </p:sp>
      <p:sp>
        <p:nvSpPr>
          <p:cNvPr id="5" name="Text 3"/>
          <p:cNvSpPr txBox="1"/>
          <p:nvPr/>
        </p:nvSpPr>
        <p:spPr>
          <a:xfrm>
            <a:off x="1424635"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3 min</a:t>
            </a:r>
            <a:endParaRPr lang="en-US" sz="1700" dirty="0"/>
          </a:p>
        </p:txBody>
      </p:sp>
      <p:sp>
        <p:nvSpPr>
          <p:cNvPr id="6" name="Text 4"/>
          <p:cNvSpPr txBox="1"/>
          <p:nvPr/>
        </p:nvSpPr>
        <p:spPr>
          <a:xfrm>
            <a:off x="777240" y="2468880"/>
            <a:ext cx="2109978" cy="219456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Presenting the project without interruption</a:t>
            </a:r>
            <a:endParaRPr lang="en-US" sz="2100" dirty="0"/>
          </a:p>
        </p:txBody>
      </p:sp>
      <p:sp>
        <p:nvSpPr>
          <p:cNvPr id="7" name="step-2"/>
          <p:cNvSpPr/>
          <p:nvPr/>
        </p:nvSpPr>
        <p:spPr>
          <a:xfrm>
            <a:off x="3390595" y="1508760"/>
            <a:ext cx="2567178" cy="3291840"/>
          </a:xfrm>
          <a:prstGeom prst="roundRect">
            <a:avLst>
              <a:gd name="adj" fmla="val 427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3619195"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2</a:t>
            </a:r>
            <a:endParaRPr lang="en-US" sz="4000" dirty="0"/>
          </a:p>
        </p:txBody>
      </p:sp>
      <p:sp>
        <p:nvSpPr>
          <p:cNvPr id="9" name="Text 7"/>
          <p:cNvSpPr txBox="1"/>
          <p:nvPr/>
        </p:nvSpPr>
        <p:spPr>
          <a:xfrm>
            <a:off x="4265676"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4 min</a:t>
            </a:r>
            <a:endParaRPr lang="en-US" sz="1700" dirty="0"/>
          </a:p>
        </p:txBody>
      </p:sp>
      <p:sp>
        <p:nvSpPr>
          <p:cNvPr id="10" name="Text 8"/>
          <p:cNvSpPr txBox="1"/>
          <p:nvPr/>
        </p:nvSpPr>
        <p:spPr>
          <a:xfrm>
            <a:off x="3619195" y="2468880"/>
            <a:ext cx="2109978" cy="219456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Three questions: category 1 or 2, 3 or 4, and 5</a:t>
            </a:r>
            <a:endParaRPr lang="en-US" sz="2100" dirty="0"/>
          </a:p>
        </p:txBody>
      </p:sp>
      <p:sp>
        <p:nvSpPr>
          <p:cNvPr id="11" name="step-3"/>
          <p:cNvSpPr/>
          <p:nvPr/>
        </p:nvSpPr>
        <p:spPr>
          <a:xfrm>
            <a:off x="6231636" y="1508760"/>
            <a:ext cx="2567178" cy="3291840"/>
          </a:xfrm>
          <a:prstGeom prst="roundRect">
            <a:avLst>
              <a:gd name="adj" fmla="val 427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6460236"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3</a:t>
            </a:r>
            <a:endParaRPr lang="en-US" sz="4000" dirty="0"/>
          </a:p>
        </p:txBody>
      </p:sp>
      <p:sp>
        <p:nvSpPr>
          <p:cNvPr id="13" name="Text 11"/>
          <p:cNvSpPr txBox="1"/>
          <p:nvPr/>
        </p:nvSpPr>
        <p:spPr>
          <a:xfrm>
            <a:off x="7107631"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2 min</a:t>
            </a:r>
            <a:endParaRPr lang="en-US" sz="1700" dirty="0"/>
          </a:p>
        </p:txBody>
      </p:sp>
      <p:sp>
        <p:nvSpPr>
          <p:cNvPr id="14" name="Text 12"/>
          <p:cNvSpPr txBox="1"/>
          <p:nvPr/>
        </p:nvSpPr>
        <p:spPr>
          <a:xfrm>
            <a:off x="6460236" y="2468880"/>
            <a:ext cx="2109978" cy="219456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Explain this number from your data</a:t>
            </a:r>
            <a:endParaRPr lang="en-US" sz="2100" dirty="0"/>
          </a:p>
        </p:txBody>
      </p:sp>
      <p:sp>
        <p:nvSpPr>
          <p:cNvPr id="15" name="step-4"/>
          <p:cNvSpPr/>
          <p:nvPr/>
        </p:nvSpPr>
        <p:spPr>
          <a:xfrm>
            <a:off x="9072677" y="1508760"/>
            <a:ext cx="2567178" cy="3291840"/>
          </a:xfrm>
          <a:prstGeom prst="roundRect">
            <a:avLst>
              <a:gd name="adj" fmla="val 427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9302191"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4</a:t>
            </a:r>
            <a:endParaRPr lang="en-US" sz="4000" dirty="0"/>
          </a:p>
        </p:txBody>
      </p:sp>
      <p:sp>
        <p:nvSpPr>
          <p:cNvPr id="17" name="Text 15"/>
          <p:cNvSpPr txBox="1"/>
          <p:nvPr/>
        </p:nvSpPr>
        <p:spPr>
          <a:xfrm>
            <a:off x="9948672"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 min</a:t>
            </a:r>
            <a:endParaRPr lang="en-US" sz="1700" dirty="0"/>
          </a:p>
        </p:txBody>
      </p:sp>
      <p:sp>
        <p:nvSpPr>
          <p:cNvPr id="18" name="Text 16"/>
          <p:cNvSpPr txBox="1"/>
          <p:nvPr/>
        </p:nvSpPr>
        <p:spPr>
          <a:xfrm>
            <a:off x="9301277" y="2468880"/>
            <a:ext cx="2109978" cy="219456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Examiner's recording</a:t>
            </a:r>
            <a:endParaRPr lang="en-US" sz="2100" dirty="0"/>
          </a:p>
        </p:txBody>
      </p:sp>
      <p:sp>
        <p:nvSpPr>
          <p:cNvPr id="19" name="Text 17"/>
          <p:cNvSpPr txBox="1"/>
          <p:nvPr/>
        </p:nvSpPr>
        <p:spPr>
          <a:xfrm>
            <a:off x="548640" y="5897880"/>
            <a:ext cx="11091672" cy="411480"/>
          </a:xfrm>
          <a:prstGeom prst="rect">
            <a:avLst/>
          </a:prstGeom>
          <a:noFill/>
          <a:ln/>
        </p:spPr>
        <p:txBody>
          <a:bodyPr wrap="square" lIns="0" tIns="0" rIns="0" bIns="0" rtlCol="0" anchor="t">
            <a:normAutofit/>
          </a:bodyPr>
          <a:lstStyle/>
          <a:p>
            <a:pPr algn="l" indent="0" marL="0">
              <a:buNone/>
            </a:pPr>
            <a:r>
              <a:rPr lang="en-US" sz="1800" dirty="0">
                <a:solidFill>
                  <a:srgbClr val="B0AEA5"/>
                </a:solidFill>
                <a:latin typeface="Calibri" pitchFamily="34" charset="0"/>
                <a:ea typeface="Calibri" pitchFamily="34" charset="-122"/>
                <a:cs typeface="Calibri" pitchFamily="34" charset="-120"/>
              </a:rPr>
              <a:t>10 marks with a published rubric: presentation 1, design and analysis 2, the number 3, fairness or AI 2, reflection and research 2.</a:t>
            </a:r>
            <a:endParaRPr lang="en-US" sz="18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Explain this number: four questions</a:t>
            </a:r>
            <a:endParaRPr lang="en-US" sz="3800" dirty="0"/>
          </a:p>
        </p:txBody>
      </p:sp>
      <p:sp>
        <p:nvSpPr>
          <p:cNvPr id="3" name="card-0"/>
          <p:cNvSpPr/>
          <p:nvPr/>
        </p:nvSpPr>
        <p:spPr>
          <a:xfrm>
            <a:off x="548640"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What is it?</a:t>
            </a:r>
            <a:endParaRPr lang="en-US" sz="2400" dirty="0"/>
          </a:p>
        </p:txBody>
      </p:sp>
      <p:sp>
        <p:nvSpPr>
          <p:cNvPr id="6" name="Text 4"/>
          <p:cNvSpPr txBox="1"/>
          <p:nvPr/>
        </p:nvSpPr>
        <p:spPr>
          <a:xfrm>
            <a:off x="777240"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What does this number measure?</a:t>
            </a:r>
            <a:endParaRPr lang="en-US" sz="1800" dirty="0"/>
          </a:p>
        </p:txBody>
      </p:sp>
      <p:sp>
        <p:nvSpPr>
          <p:cNvPr id="7" name="card-1"/>
          <p:cNvSpPr/>
          <p:nvPr/>
        </p:nvSpPr>
        <p:spPr>
          <a:xfrm>
            <a:off x="3401568"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How was it computed?</a:t>
            </a:r>
            <a:endParaRPr lang="en-US" sz="2400" dirty="0"/>
          </a:p>
        </p:txBody>
      </p:sp>
      <p:sp>
        <p:nvSpPr>
          <p:cNvPr id="10" name="Text 8"/>
          <p:cNvSpPr txBox="1"/>
          <p:nvPr/>
        </p:nvSpPr>
        <p:spPr>
          <a:xfrm>
            <a:off x="3630168"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The idea, not the formula verbatim.</a:t>
            </a:r>
            <a:endParaRPr lang="en-US" sz="1800" dirty="0"/>
          </a:p>
        </p:txBody>
      </p:sp>
      <p:sp>
        <p:nvSpPr>
          <p:cNvPr id="11" name="card-2"/>
          <p:cNvSpPr/>
          <p:nvPr/>
        </p:nvSpPr>
        <p:spPr>
          <a:xfrm>
            <a:off x="6254496"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What is the decision?</a:t>
            </a:r>
            <a:endParaRPr lang="en-US" sz="2400" dirty="0"/>
          </a:p>
        </p:txBody>
      </p:sp>
      <p:sp>
        <p:nvSpPr>
          <p:cNvPr id="14" name="Text 12"/>
          <p:cNvSpPr txBox="1"/>
          <p:nvPr/>
        </p:nvSpPr>
        <p:spPr>
          <a:xfrm>
            <a:off x="6483096"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What did you build on it in your test or your research?</a:t>
            </a:r>
            <a:endParaRPr lang="en-US" sz="1800" dirty="0"/>
          </a:p>
        </p:txBody>
      </p:sp>
      <p:sp>
        <p:nvSpPr>
          <p:cNvPr id="15" name="card-3"/>
          <p:cNvSpPr/>
          <p:nvPr/>
        </p:nvSpPr>
        <p:spPr>
          <a:xfrm>
            <a:off x="9107424" y="1554480"/>
            <a:ext cx="2532888" cy="420624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What is its limit?</a:t>
            </a:r>
            <a:endParaRPr lang="en-US" sz="2400" dirty="0"/>
          </a:p>
        </p:txBody>
      </p:sp>
      <p:sp>
        <p:nvSpPr>
          <p:cNvPr id="18" name="Text 16"/>
          <p:cNvSpPr txBox="1"/>
          <p:nvPr/>
        </p:nvSpPr>
        <p:spPr>
          <a:xfrm>
            <a:off x="9336024" y="3337560"/>
            <a:ext cx="2075688" cy="228600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When is it not valid to rely on it? The sample size? The standard error?</a:t>
            </a:r>
            <a:endParaRPr lang="en-US" sz="18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two tracks: why without AI today?</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The secure track (level 0)</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The midterm and the exit tickets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The practical exam and the defense</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Measures your individual understanding</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The open track (1 – 3)</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The workshops, the project and the research</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The portfolio</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Measures your skill in using the tool and your verification</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The two tracks are complementary. The University of Sydney, and the UAE University policy (2025) goes in the same direction.</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portfolio (15%)</a:t>
            </a:r>
            <a:endParaRPr lang="en-US" sz="3800" dirty="0"/>
          </a:p>
        </p:txBody>
      </p:sp>
      <p:sp>
        <p:nvSpPr>
          <p:cNvPr id="3" name="card-0"/>
          <p:cNvSpPr/>
          <p:nvPr/>
        </p:nvSpPr>
        <p:spPr>
          <a:xfrm>
            <a:off x="548640"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weekly products</a:t>
            </a:r>
            <a:endParaRPr lang="en-US" sz="2400" dirty="0"/>
          </a:p>
        </p:txBody>
      </p:sp>
      <p:sp>
        <p:nvSpPr>
          <p:cNvPr id="6" name="Text 4"/>
          <p:cNvSpPr txBox="1"/>
          <p:nvPr/>
        </p:nvSpPr>
        <p:spPr>
          <a:xfrm>
            <a:off x="777240"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The products of Weeks 1 – 14 with the verification logs, and the revised ones in both versions.</a:t>
            </a:r>
            <a:endParaRPr lang="en-US" sz="1800" dirty="0"/>
          </a:p>
        </p:txBody>
      </p:sp>
      <p:sp>
        <p:nvSpPr>
          <p:cNvPr id="7" name="card-1"/>
          <p:cNvSpPr/>
          <p:nvPr/>
        </p:nvSpPr>
        <p:spPr>
          <a:xfrm>
            <a:off x="3401568"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reflective essay</a:t>
            </a:r>
            <a:endParaRPr lang="en-US" sz="2400" dirty="0"/>
          </a:p>
        </p:txBody>
      </p:sp>
      <p:sp>
        <p:nvSpPr>
          <p:cNvPr id="10" name="Text 8"/>
          <p:cNvSpPr txBox="1"/>
          <p:nvPr/>
        </p:nvSpPr>
        <p:spPr>
          <a:xfrm>
            <a:off x="3630168"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From 800 to 1200 words in five sections, and every turning point with evidence from your portfolio.</a:t>
            </a:r>
            <a:endParaRPr lang="en-US" sz="1800" dirty="0"/>
          </a:p>
        </p:txBody>
      </p:sp>
      <p:sp>
        <p:nvSpPr>
          <p:cNvPr id="11" name="card-2"/>
          <p:cNvSpPr/>
          <p:nvPr/>
        </p:nvSpPr>
        <p:spPr>
          <a:xfrm>
            <a:off x="6254496"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mirror and the plan</a:t>
            </a:r>
            <a:endParaRPr lang="en-US" sz="2400" dirty="0"/>
          </a:p>
        </p:txBody>
      </p:sp>
      <p:sp>
        <p:nvSpPr>
          <p:cNvPr id="14" name="Text 12"/>
          <p:cNvSpPr txBox="1"/>
          <p:nvPr/>
        </p:nvSpPr>
        <p:spPr>
          <a:xfrm>
            <a:off x="6483096"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The UNESCO dimensions table with evidence, and three changes, each with an indicator of success.</a:t>
            </a:r>
            <a:endParaRPr lang="en-US" sz="1800" dirty="0"/>
          </a:p>
        </p:txBody>
      </p:sp>
      <p:sp>
        <p:nvSpPr>
          <p:cNvPr id="15" name="card-3"/>
          <p:cNvSpPr/>
          <p:nvPr/>
        </p:nvSpPr>
        <p:spPr>
          <a:xfrm>
            <a:off x="9107424"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The use log</a:t>
            </a:r>
            <a:endParaRPr lang="en-US" sz="2400" dirty="0"/>
          </a:p>
        </p:txBody>
      </p:sp>
      <p:sp>
        <p:nvSpPr>
          <p:cNvPr id="18" name="Text 16"/>
          <p:cNvSpPr txBox="1"/>
          <p:nvPr/>
        </p:nvSpPr>
        <p:spPr>
          <a:xfrm>
            <a:off x="9336024"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A consolidated log for the semester. Undisclosed use puts the criterion at level 0.</a:t>
            </a:r>
            <a:endParaRPr lang="en-US" sz="1800" dirty="0"/>
          </a:p>
        </p:txBody>
      </p:sp>
      <p:sp>
        <p:nvSpPr>
          <p:cNvPr id="19" name="footer"/>
          <p:cNvSpPr/>
          <p:nvPr/>
        </p:nvSpPr>
        <p:spPr>
          <a:xfrm>
            <a:off x="548640" y="5349240"/>
            <a:ext cx="11091672" cy="777240"/>
          </a:xfrm>
          <a:prstGeom prst="roundRect">
            <a:avLst>
              <a:gd name="adj" fmla="val 14118"/>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914400" y="5349240"/>
            <a:ext cx="10360152" cy="777240"/>
          </a:xfrm>
          <a:prstGeom prst="rect">
            <a:avLst/>
          </a:prstGeom>
          <a:noFill/>
          <a:ln/>
        </p:spPr>
        <p:txBody>
          <a:bodyPr wrap="square" lIns="0" tIns="0" rIns="0" bIns="0" rtlCol="0" anchor="ctr">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The critical friend with Claude at home only: it asks and does not write.</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82296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Before you leave</a:t>
            </a:r>
            <a:endParaRPr lang="en-US" sz="2800" dirty="0"/>
          </a:p>
        </p:txBody>
      </p:sp>
      <p:sp>
        <p:nvSpPr>
          <p:cNvPr id="3" name="Text 1"/>
          <p:cNvSpPr txBox="1"/>
          <p:nvPr/>
        </p:nvSpPr>
        <p:spPr>
          <a:xfrm>
            <a:off x="548640" y="1463040"/>
            <a:ext cx="11091672" cy="1371600"/>
          </a:xfrm>
          <a:prstGeom prst="rect">
            <a:avLst/>
          </a:prstGeom>
          <a:noFill/>
          <a:ln/>
        </p:spPr>
        <p:txBody>
          <a:bodyPr wrap="square" lIns="0" tIns="0" rIns="0" bIns="0" rtlCol="0" anchor="ctr">
            <a:normAutofit/>
          </a:bodyPr>
          <a:lstStyle/>
          <a:p>
            <a:pPr algn="l" indent="0" marL="0">
              <a:buNone/>
            </a:pPr>
            <a:r>
              <a:rPr lang="en-US" sz="4800" b="1" dirty="0">
                <a:solidFill>
                  <a:srgbClr val="FFFFFF"/>
                </a:solidFill>
                <a:latin typeface="Calibri" pitchFamily="34" charset="0"/>
                <a:ea typeface="Calibri" pitchFamily="34" charset="-122"/>
                <a:cs typeface="Calibri" pitchFamily="34" charset="-120"/>
              </a:rPr>
              <a:t>Three ideas to take with you to your class</a:t>
            </a:r>
            <a:endParaRPr lang="en-US" sz="4800" dirty="0"/>
          </a:p>
        </p:txBody>
      </p:sp>
      <p:sp>
        <p:nvSpPr>
          <p:cNvPr id="4" name="Shape 2"/>
          <p:cNvSpPr/>
          <p:nvPr/>
        </p:nvSpPr>
        <p:spPr>
          <a:xfrm>
            <a:off x="548640" y="3200400"/>
            <a:ext cx="3453384" cy="2377440"/>
          </a:xfrm>
          <a:prstGeom prst="roundRect">
            <a:avLst>
              <a:gd name="adj" fmla="val 4615"/>
            </a:avLst>
          </a:prstGeom>
          <a:solidFill>
            <a:srgbClr val="2A2A28"/>
          </a:solidFill>
          <a:ln w="12700">
            <a:solidFill>
              <a:srgbClr val="2A2A28"/>
            </a:solidFill>
            <a:prstDash val="solid"/>
          </a:ln>
        </p:spPr>
      </p:sp>
      <p:sp>
        <p:nvSpPr>
          <p:cNvPr id="5" name="Text 3"/>
          <p:cNvSpPr txBox="1"/>
          <p:nvPr/>
        </p:nvSpPr>
        <p:spPr>
          <a:xfrm>
            <a:off x="822960"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The score means what you say about it</a:t>
            </a:r>
            <a:endParaRPr lang="en-US" sz="2500" dirty="0"/>
          </a:p>
        </p:txBody>
      </p:sp>
      <p:sp>
        <p:nvSpPr>
          <p:cNvPr id="6" name="Text 4"/>
          <p:cNvSpPr txBox="1"/>
          <p:nvPr/>
        </p:nvSpPr>
        <p:spPr>
          <a:xfrm>
            <a:off x="822960"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Validity, reliability and fairness are questions you put to every instrument, whatever its source.</a:t>
            </a:r>
            <a:endParaRPr lang="en-US" sz="1900" dirty="0"/>
          </a:p>
        </p:txBody>
      </p:sp>
      <p:sp>
        <p:nvSpPr>
          <p:cNvPr id="7" name="Shape 5"/>
          <p:cNvSpPr/>
          <p:nvPr/>
        </p:nvSpPr>
        <p:spPr>
          <a:xfrm>
            <a:off x="4368089" y="3200400"/>
            <a:ext cx="3453384" cy="2377440"/>
          </a:xfrm>
          <a:prstGeom prst="roundRect">
            <a:avLst>
              <a:gd name="adj" fmla="val 4615"/>
            </a:avLst>
          </a:prstGeom>
          <a:solidFill>
            <a:srgbClr val="2A2A28"/>
          </a:solidFill>
          <a:ln w="12700">
            <a:solidFill>
              <a:srgbClr val="2A2A28"/>
            </a:solidFill>
            <a:prstDash val="solid"/>
          </a:ln>
        </p:spPr>
      </p:sp>
      <p:sp>
        <p:nvSpPr>
          <p:cNvPr id="8" name="Text 6"/>
          <p:cNvSpPr txBox="1"/>
          <p:nvPr/>
        </p:nvSpPr>
        <p:spPr>
          <a:xfrm>
            <a:off x="4642409"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The decision is yours</a:t>
            </a:r>
            <a:endParaRPr lang="en-US" sz="2500" dirty="0"/>
          </a:p>
        </p:txBody>
      </p:sp>
      <p:sp>
        <p:nvSpPr>
          <p:cNvPr id="9" name="Text 7"/>
          <p:cNvSpPr txBox="1"/>
          <p:nvPr/>
        </p:nvSpPr>
        <p:spPr>
          <a:xfrm>
            <a:off x="4642409"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Claude proposes; you judge and document; and the data decide.</a:t>
            </a:r>
            <a:endParaRPr lang="en-US" sz="1900" dirty="0"/>
          </a:p>
        </p:txBody>
      </p:sp>
      <p:sp>
        <p:nvSpPr>
          <p:cNvPr id="10" name="Shape 8"/>
          <p:cNvSpPr/>
          <p:nvPr/>
        </p:nvSpPr>
        <p:spPr>
          <a:xfrm>
            <a:off x="8186623" y="3200400"/>
            <a:ext cx="3453384" cy="2377440"/>
          </a:xfrm>
          <a:prstGeom prst="roundRect">
            <a:avLst>
              <a:gd name="adj" fmla="val 4615"/>
            </a:avLst>
          </a:prstGeom>
          <a:solidFill>
            <a:srgbClr val="2A2A28"/>
          </a:solidFill>
          <a:ln w="12700">
            <a:solidFill>
              <a:srgbClr val="2A2A28"/>
            </a:solidFill>
            <a:prstDash val="solid"/>
          </a:ln>
        </p:spPr>
      </p:sp>
      <p:sp>
        <p:nvSpPr>
          <p:cNvPr id="11" name="Text 9"/>
          <p:cNvSpPr txBox="1"/>
          <p:nvPr/>
        </p:nvSpPr>
        <p:spPr>
          <a:xfrm>
            <a:off x="8460943"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Reflect with evidence</a:t>
            </a:r>
            <a:endParaRPr lang="en-US" sz="2500" dirty="0"/>
          </a:p>
        </p:txBody>
      </p:sp>
      <p:sp>
        <p:nvSpPr>
          <p:cNvPr id="12" name="Text 10"/>
          <p:cNvSpPr txBox="1"/>
          <p:nvPr/>
        </p:nvSpPr>
        <p:spPr>
          <a:xfrm>
            <a:off x="8460943"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One specific change you start with, and an indicator by which you know it succeeded.</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nthropic English">
  <a:themeElements>
    <a:clrScheme name="Anthropic English">
      <a:dk1>
        <a:srgbClr val="141413"/>
      </a:dk1>
      <a:lt1>
        <a:srgbClr val="FFFFFF"/>
      </a:lt1>
      <a:dk2>
        <a:srgbClr val="141413"/>
      </a:dk2>
      <a:lt2>
        <a:srgbClr val="FAF9F5"/>
      </a:lt2>
      <a:accent1>
        <a:srgbClr val="D97757"/>
      </a:accent1>
      <a:accent2>
        <a:srgbClr val="6A9BCC"/>
      </a:accent2>
      <a:accent3>
        <a:srgbClr val="788C5D"/>
      </a:accent3>
      <a:accent4>
        <a:srgbClr val="B0AEA5"/>
      </a:accent4>
      <a:accent5>
        <a:srgbClr val="E8E6DC"/>
      </a:accent5>
      <a:accent6>
        <a:srgbClr val="141413"/>
      </a:accent6>
      <a:hlink>
        <a:srgbClr val="6A9BCC"/>
      </a:hlink>
      <a:folHlink>
        <a:srgbClr val="788C5D"/>
      </a:folHlink>
    </a:clrScheme>
    <a:fontScheme name="Anthropic Englis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15</dc:title>
  <dc:subject>PptxGenJS Presentation</dc:subject>
  <dc:creator>PptxGenJS</dc:creator>
  <cp:lastModifiedBy>PptxGenJS</cp:lastModifiedBy>
  <cp:revision>1</cp:revision>
  <dcterms:created xsi:type="dcterms:W3CDTF">2026-10-15T04:06:26Z</dcterms:created>
  <dcterms:modified xsi:type="dcterms:W3CDTF">2026-10-15T04:06:26Z</dcterms:modified>
</cp:coreProperties>
</file>