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60b2657-617f-f4c1-7562-a9eb0e375874}">
          <p14:sldIdLst>
            <p14:sldId id="256"/>
            <p14:sldId id="257"/>
          </p14:sldIdLst>
        </p14:section>
        <p14:section name="Content" id="{aea02112-0ac3-cfb8-3845-7076071b32c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osing" id="{cef7f419-82ca-caaf-a78e-53fbd0b4cf06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Intervention class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Normalised gain</c:v>
                  </c:pt>
                  <c:pt idx="1">
                    <c:v>Percentage who improved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</c:v>
                </c:pt>
                <c:pt idx="1">
                  <c:v>0.92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Comparison class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Normalised gain</c:v>
                  </c:pt>
                  <c:pt idx="1">
                    <c:v>Percentage who improved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</c:v>
                </c:pt>
                <c:pt idx="1">
                  <c:v>0.56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reach the end of the cycle that began in Week 2. The week's product for the portfolio: the findings paragraph before and after the critique + the table of decisions on Claude's critique + the limitations section. The report is assessed separately (20%).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answers of three pairs without comment. We will return to this sentence after we see the comparison class's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Mertler's four stages. Reflection is disciplined professional judgement on what happened, as Schön (1983) describes it, not an emotional paragraph in the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Intervention class: weekly hinge questions with immediate feedback. Comparison class: usual teaching. The two classes were not randomly assigned.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it on the board. Point out that dividing by the standard deviation of the gains gives 1.42: always state the formula you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common error: dividing by 20. The denominator is the room available for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point may fall within the standard error of measurement we studied in Week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each threat: does the comparison class address it? Maturation, yes to a large extent, and the testing effect partially.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absence we say "may" because we do not know how the three would have performed. Bias does not mean dishonesty, but that whoever expects a result sees it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normalised gain here is a share of what was possible: about a third in the intervention class, and about 15% in the comparison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the opening sentence: the honest wording is "consistent with the benefit of the intervention but does not prove it".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lower group's gain may be partly regression toward the mean. And the upper group is regression and ceiling together: only 4.67 points remained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Words that need caution: proved, led to, because of, effectiveness. And more suitable words: is consistent with, indicates, in this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rubric in the report clinic. Remind them that a modest finding loses no marks if it is analysed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the Responsible AI Use Pledge in the first week and to UNESCO's (2023)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verify the effect size formula it uses, and that it does not turn a finding the evidence supports into its opposite through excessive caution.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that Step 3 was done without a tool. Anyone whose data are not ready continues with the workshop file and tells you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exit ticket now. The report is submitted at the end of the week, and the oral defense in Week 15 is without any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14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Research: Analysis, Writing and Documentation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say what our class data mean, and no more than that?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students' mean rose from 9.68 to 13.24 with an effect size of 1.30, which proves the effectiveness of hinge questions.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are correct. Is the conclusion correct?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would the students have improved without the intervention?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research cycle (Mertler, 2019)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424635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 and 3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the problem, its evidence and the data collection plan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3390595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9195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65676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and post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19195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Acting: collecting and analysing data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6231636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0236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107631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cycle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60236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Developing: an action plan based on the findings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9072677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02191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01277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Reflecting: reviewing the process and what we learned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does not end with a final judgement, but with a plan for a second cycle.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data: two classes and one test out of 20</a:t>
            </a:r>
            <a:endParaRPr lang="en-US" sz="38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475587"/>
                <a:gridCol w="3502633"/>
                <a:gridCol w="31134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 class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class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Pre-test mean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Post-test mean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size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Normalised gain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who improved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Intervention: 28 students (25 have both tests), and comparison: 27. The data are simulated for training purposes.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and the effect size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= post minus pre, for students who have both tests only. The effect size expresses it in standard deviation units.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Gain / √((SD_pre² + SD_post²) / 2)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class: 3.56 ÷ 2.745 = 1.30. Cohen's (1988) conventions: 0.2, 0.5 and 0.8, and they are approximate, not definitive thresholds.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normalised gain (Hake, 1998)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gain that was possible, how much was actually achieved? It is computed from the two class means.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(post − pre) / (max − pre)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Intervention: 3.56 ÷ 10.32 = 0.34. Comparison: 1.48 ÷ 9.96 = 0.15. Hake's categories were set for university physics courses, so do not carry them over as a ready-made judgement.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indicator say, and what does it not say?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how many points the class improved on average. It does not say whether the improvement is because of the intervention.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the improvement in standard deviation units. It includes regular teaching and maturation.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gain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the possible improvement achieved. It does not say whether the difference between two classes is real.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who improved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improvement general or confined? It does not distinguish between one point and eight points.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alone answers the question: is the intervention the cause?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not enough for the class to improve? (1)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Maturation and regular teaching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in the unit with any method. The comparison class improved by 1.48 without the intervention.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effect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test twice: students remember the questions or get used to their format.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toward the mean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scores move closer to the mean in the second measurement. Student T12 dropped from 17 to 13.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improvement of someone who starts close to 20 does not show. In the comparison class, a student reached 20 on both tests.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not enough for the class to improve? (2)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were absent from the post-test, with pre-test scores of 9, 9 and 10. Their absence may raise the post-test mean slightly.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random assignment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classes already existed, and may differ in things that the pre-test does not measure.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Teacher-researcher bias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designs, teaches, marks and interprets, and knows which class is the intervention class.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class does not address these three.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classes improved, and the difference is in the size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4873752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is consistent across all the indicators in favour of the intervention class.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comparison class also improved, so not all the improvement is due to the intervention.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two gains: more honest, and not proof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3.56 − 1.48 = 2.08 points: an estimate of what can be attributed to the intervention if regular teaching affected the two classes to the same degree.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proof: no random assignment, the teacher knows the intervention class, and the two samples are small.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two gains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2.08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out of 20, compared with a gain of 3.56 in the intervention class alone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intervention class by prior level</a:t>
            </a:r>
            <a:endParaRPr lang="en-US" sz="38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340219"/>
                <a:gridCol w="1446740"/>
                <a:gridCol w="3134603"/>
                <a:gridCol w="217011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Pre-test mean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gain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(8 or less)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(12 or more)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student T12, the upper group's gain becomes 2.5. Three students do not allow any conclusion.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claim to the evidence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larger than the evidence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proved the effectiveness of hinge questions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size of 1.30 indicates a powerful intervention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intervention does not benefit high achievers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proportionate to the evidence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intervention class improved more by about two points, and this is consistent with the benefit of the intervention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size includes regular teaching, and the comparison class achieved 0.38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upper group is three students, so no conclusion about it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does not mean hiding the finding: the finding is consistent across four indicators, so state it clearly.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the action research report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findings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its evidence, the link to the literature, the intervention, and the data and instruments.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findings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with their formulas, handling of absences, verification of the calculation, and claims proportionate to the evidence.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reflection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limitations ordered by seriousness with their effect, and a next-cycle plan addressing a specific limitation.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and appendices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ethics statement, anonymised data, a Claude use log, and a disclosure statement.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1500 to 2500 words excluding appendices, and submitted at the end of Week 14.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ethics in your class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approval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collecting data, following the school's policy on informing parents. No student is harmed by the research.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of data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instead of every name before any analysis, and the linking table kept separately and not attached to the report.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 in any tool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name, number, photographed handwriting or identity-revealing details in Claude or any other tool.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the report: use level 2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well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Proposing a structure and editing the language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Critiquing overstated claims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calculations on anonymised data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allowed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data or estimating absent students' scores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references or attributing statements to researchers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findings that did not appear in your data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disclosure statement in the appendix. Undisclosed use is treated as plagiarism.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and writing workshop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1039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file and verify the calculation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6999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5599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0313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seven threats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8126273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4873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4873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findings paragraph without any tool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1039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critique your paragraph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6999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5599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0313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599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you accept of its critique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8126273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54873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54873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limitations, then apply to your research data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combines Steps 6 and 7 of the workshop sheet. Upload to Claude only the aggregated figures and your paragraph.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to take with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is not an effect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ask: how much would the students have improved without the intervention? And the difference between the two gains is the closest answer.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409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proportionate to the evidence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409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overstatement and no excessive caution, and limitations specific to your research with the effect of each.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6623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0943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critiques and you judge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460943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data, references or findings, and a disclosure statement documenting what you accepted and what you rejected.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14</dc:title>
  <dc:subject>PptxGenJS Presentation</dc:subject>
  <dc:creator>PptxGenJS</dc:creator>
  <cp:lastModifiedBy>PptxGenJS</cp:lastModifiedBy>
  <cp:revision>1</cp:revision>
  <dcterms:created xsi:type="dcterms:W3CDTF">2026-10-15T04:06:24Z</dcterms:created>
  <dcterms:modified xsi:type="dcterms:W3CDTF">2026-10-15T04:06:24Z</dcterms:modified>
</cp:coreProperties>
</file>