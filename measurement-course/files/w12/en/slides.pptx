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b77f1ad-1479-2c77-83ce-d358e85d973e}">
          <p14:sldIdLst>
            <p14:sldId id="256"/>
            <p14:sldId id="257"/>
          </p14:sldIdLst>
        </p14:section>
        <p14:section name="Content" id="{0a2fd67a-7b4d-b2b5-b639-b5ca999acd8d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Closing" id="{97c50917-e8df-3e93-b3d8-d5e9347e12a2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weight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Biology</c:v>
                  </c:pt>
                  <c:pt idx="1">
                    <c:v>Chemistry</c:v>
                  </c:pt>
                  <c:pt idx="2">
                    <c:v>Physics</c:v>
                  </c:pt>
                  <c:pt idx="3">
                    <c:v>Earth Science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0.35</c:v>
                </c:pt>
                <c:pt idx="1">
                  <c:v>0.2</c:v>
                </c:pt>
                <c:pt idx="2">
                  <c:v>0.25</c:v>
                </c:pt>
                <c:pt idx="3">
                  <c:v>0.2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percentage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Biology</c:v>
                  </c:pt>
                  <c:pt idx="1">
                    <c:v>Chemistry</c:v>
                  </c:pt>
                  <c:pt idx="2">
                    <c:v>Physics</c:v>
                  </c:pt>
                  <c:pt idx="3">
                    <c:v>Earth Science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0.83</c:v>
                </c:pt>
                <c:pt idx="1">
                  <c:v>1</c:v>
                </c:pt>
                <c:pt idx="2">
                  <c:v>0.7</c:v>
                </c:pt>
                <c:pt idx="3">
                  <c:v>0.63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 link the test blueprint from Week 6 to the TIMSS 2023 framework, and build an alignment matrix for the Grade 8 curriculum. The week's product is the alignment matrix in the portfolio.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the answers without comment. At the end of the lecture we return to opportunity to learn: was the content taught at all?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difference today: TIMSS starts from curricula, so it is valid to ask of each of its items: was its content taught?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limit on the other side: the study does not measure everything the national curriculum aspires to, and ranking is not an end in itself. We go into this in Week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student answers only part of the bank, so the study covers all the topics without making any student's test longer.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topic names in the "Framework" sheet follow the framework's wording. For official use, refer to the published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expected confusion: attributing 40/40/20 to Grade 8, or 35/40/25 to TIMSS.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solving and inquiry tasks are longer than a regular item and scenario-based (von Davier and colleagues, 2024). Do not add further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TIMSS Encyclopedia and the curriculum questionnaires as sources for this context, and Webb's (1997) criteria for alignment.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Calculate together on the board before opening the "Worked Example"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Earth Science is precisely 62.5%. Four partly taught topics: life cycles, diversity and adaptation, energy transformation, and Earth's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to the opening question: the weakness in Earth science in this curriculum is read first in terms of opportunity to 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ten items in the workshop file were written for the course in the TIMSS style, and are not released by the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metal and wooden spoon example from the lecture notes, and its three-level scoring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level 2: documented collaboration. The coverage status is the student's decision, and its evidence is a line from the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sure the individual classification was done before Claude, and that students brought the official curriculum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exit ticket now. In Week 13 we read a results report, and use opportunity to learn as context for interpretation.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Measurement and Evaluation · Week 12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Tests: Frameworks and Curriculum Alignment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what students were tested on actually taught?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543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students performed worse in Earth science than in the other domains. Our students are weak in Earth science.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question do you ask before agreeing with this conclusion?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what happened before the test, not during it.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international studies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and science for Grades 4 and 8, curriculum-based, every 4 years.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7258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PIRLS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for Grade 4 students, every 5 years.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76488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aged 15, and it measures the application of knowledge in real-life situations.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studies describe the performance of the education system, not the score of an individual student.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systems take part?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external mirror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students' performance stands, using instruments the country did not make itself.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3401568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2160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time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the same framework from one cycle to the next, so changes become visible.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6254496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7453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data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83096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Questionnaires for students, teachers and schools link performance to learning conditions.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9107424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427464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review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336024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framework with the curriculum reveals topics that are missing or come late.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is a system-level test blueprint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blueprint in Week 6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× cognitive levels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test of 20 to 30 items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distribution chosen by the teacher: 35/40/25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4311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3747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TIMSS 2023 framework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domains × cognitive domains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bank distributed across booklets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Grade 8 distribution: 35/35/30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35/40/25 was the decision of the teacher in the example, not the TIMSS distribution.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domains for Grade 8 science</a:t>
            </a:r>
            <a:endParaRPr lang="en-US" sz="3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4873752" y="137160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1554480"/>
            <a:ext cx="39593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topics: 6, 3, 5 and 4.</a:t>
            </a:r>
            <a:endParaRPr lang="en-US" sz="2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weights are for the domains, not the topics.</a:t>
            </a:r>
            <a:endParaRPr lang="en-US" sz="2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the TIMSS 2023 framework (Mullis and colleagues, 2021).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domains in the framework</a:t>
            </a:r>
            <a:endParaRPr lang="en-US" sz="38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190948"/>
                <a:gridCol w="6983645"/>
                <a:gridCol w="958540"/>
                <a:gridCol w="9585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Cognitive domain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requires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8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4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Recalling, recognizing and describing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knowledge in a familiar situation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Analysing a new situation, designing and justifying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 of Reasoning rises from Grade 4 to Grade 8.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formats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Economical and quick to score, and suitable for all three domains if written well.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7258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Constructed response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Accompanied by a scoring guide with examples, so that scorers in all countries score in the same way.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76488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interactive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2023 completed the digital transition, and included problem solving and inquiry tasks.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interactivity is added when it adds measurement value, not when it decorates the item.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to learn: three levels of the curriculum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official documents state.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7258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actually taught in classrooms.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76488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Attained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students have learned, as shown in their performance.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topic not taught before the test: weak performance on it is a lack of opportunity, not a lack of ability.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coverage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topic: fully 1, partly 0.5, not taught 0. Then the coverage percentage for each domain.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= Σ (weight × domain coverage)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approximates the proportion of test score points whose content was taught. The unweighted coverage treats the eighteen topics with the same weight.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a hypothetical curriculum</a:t>
            </a:r>
            <a:endParaRPr lang="en-US" sz="3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4873752" y="137160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1554480"/>
            <a:ext cx="39593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coverage 79%, and unweighted 78%.</a:t>
            </a:r>
            <a:endParaRPr lang="en-US" sz="2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taught: Electricity and Magnetism, and Earth's Processes, Cycles, and History.</a:t>
            </a:r>
            <a:endParaRPr lang="en-US" sz="2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curriculum is hypothetical and does not represent the curriculum of any country.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79% say? And what does it not say?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 fifth of the test content, with the framework weights and counting partial coverage as half, is not covered. The weakest domains are Earth Science and then Physics.</a:t>
            </a:r>
            <a:endParaRPr lang="en-US" sz="22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Simplifications: partly is half a topic, topics are equal within a domain, the intended rather than the implemented curriculum, and coverage does not mean depth.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6611112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976872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coverage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976872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6976872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hypothetical curriculum for training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items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their style: the context, the task and the scoring guide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new items along the same lines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them from the publisher's website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4311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3747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paste them into Claude without permission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copy them into your test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drill students to memorize their answers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items are protected by the publisher's rights, and test practice weakens the meaning of the results.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TIMSS-style item for your class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context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situation from the student's life, only as much as the task needs. A long context tests reading.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3401568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2160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explicit verb: explain, calculate, predict and justify.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6254496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7453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scoring guide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83096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with the item, specifying each level with examples, and keeping common incorrect responses.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9107424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427464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when needed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336024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paper measures what you want, there is no need for the screen.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 alignment, classification and drafting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well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Suggesting the closest topic for each outcome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classification with justification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draft context, task and scoring guide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4311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3747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verify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by meaning from the official document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may tend to push the classification up towards Reasoning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accuracy and suitability for Grade 8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"TIMSS-style", not "from TIMSS": no claim of official status.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alignment workshop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548640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2371039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framework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4336999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65599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160313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65599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ten items on your own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8126273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54873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9948672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54873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classifies, then compare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548640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2371039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your curriculum matrix from the document</a:t>
            </a:r>
            <a:endParaRPr lang="en-US" sz="2100" dirty="0"/>
          </a:p>
        </p:txBody>
      </p:sp>
      <p:sp>
        <p:nvSpPr>
          <p:cNvPr id="19" name="step-5"/>
          <p:cNvSpPr/>
          <p:nvPr/>
        </p:nvSpPr>
        <p:spPr>
          <a:xfrm>
            <a:off x="4336999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65599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6160313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65599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constructed-response item with a scoring guide</a:t>
            </a:r>
            <a:endParaRPr lang="en-US" sz="2100" dirty="0"/>
          </a:p>
        </p:txBody>
      </p:sp>
      <p:sp>
        <p:nvSpPr>
          <p:cNvPr id="23" name="step-6"/>
          <p:cNvSpPr/>
          <p:nvPr/>
        </p:nvSpPr>
        <p:spPr>
          <a:xfrm>
            <a:off x="8126273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354873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9948672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54873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what coverage means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Claude a copy in which you have not entered your classification.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ideas to take with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is a test blueprint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domains and cognitive domains with weights, at the level of the system, not the classroom.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68089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2409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to learn first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642409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judging a result: was the content taught? The matrix answers with a stated approximation.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186623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60943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TIMSS-style, not from TIMSS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460943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new items, respect the rights of released ones, and verify Claude's classification.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English">
  <a:themeElements>
    <a:clrScheme name="Anthropic English">
      <a:dk1>
        <a:srgbClr val="141413"/>
      </a:dk1>
      <a:lt1>
        <a:srgbClr val="FFFFFF"/>
      </a:lt1>
      <a:dk2>
        <a:srgbClr val="141413"/>
      </a:dk2>
      <a:lt2>
        <a:srgbClr val="FAF9F5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E8E6DC"/>
      </a:accent5>
      <a:accent6>
        <a:srgbClr val="141413"/>
      </a:accent6>
      <a:hlink>
        <a:srgbClr val="6A9BCC"/>
      </a:hlink>
      <a:folHlink>
        <a:srgbClr val="788C5D"/>
      </a:folHlink>
    </a:clrScheme>
    <a:fontScheme name="Anthropic Englis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12</dc:title>
  <dc:subject>PptxGenJS Presentation</dc:subject>
  <dc:creator>PptxGenJS</dc:creator>
  <cp:lastModifiedBy>PptxGenJS</cp:lastModifiedBy>
  <cp:revision>1</cp:revision>
  <dcterms:created xsi:type="dcterms:W3CDTF">2026-10-15T04:06:20Z</dcterms:created>
  <dcterms:modified xsi:type="dcterms:W3CDTF">2026-10-15T04:06:20Z</dcterms:modified>
</cp:coreProperties>
</file>