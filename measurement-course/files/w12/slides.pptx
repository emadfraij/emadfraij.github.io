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فتتاح" id="{5b9bb1e8-e33f-e5af-095d-940b00be202e}">
          <p14:sldIdLst>
            <p14:sldId id="256"/>
            <p14:sldId id="257"/>
          </p14:sldIdLst>
        </p14:section>
        <p14:section name="المحتوى" id="{337fe3c8-113b-319c-2192-24316fb5bbfe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الختام" id="{0dc10805-ce04-da91-48e8-88cbc3c58a14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الوزن المستهدف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الأحياء</c:v>
                  </c:pt>
                  <c:pt idx="1">
                    <c:v>الكيمياء</c:v>
                  </c:pt>
                  <c:pt idx="2">
                    <c:v>الفيزياء</c:v>
                  </c:pt>
                  <c:pt idx="3">
                    <c:v>علوم الأرض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0.35</c:v>
                </c:pt>
                <c:pt idx="1">
                  <c:v>0.2</c:v>
                </c:pt>
                <c:pt idx="2">
                  <c:v>0.25</c:v>
                </c:pt>
                <c:pt idx="3">
                  <c:v>0.2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نسبة التغطية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الأحياء</c:v>
                  </c:pt>
                  <c:pt idx="1">
                    <c:v>الكيمياء</c:v>
                  </c:pt>
                  <c:pt idx="2">
                    <c:v>الفيزياء</c:v>
                  </c:pt>
                  <c:pt idx="3">
                    <c:v>علوم الأرض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0.83</c:v>
                </c:pt>
                <c:pt idx="1">
                  <c:v>1</c:v>
                </c:pt>
                <c:pt idx="2">
                  <c:v>0.7</c:v>
                </c:pt>
                <c:pt idx="3">
                  <c:v>0.63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نربط اليوم جدول المواصفات في الأسبوع 6 بإطار تيمس 2023، ونبني مصفوفة مواءمة لمنهج الصف الثامن. منتج الأسبوع مصفوفة المواءمة في ملف الإنجاز.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اجمع الإجابات دون تعليق. نعود في آخر المحاضرة إلى فرصة التعلم: هل دُرّس المحتوى أصلاً؟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الفرق الأهم اليوم: تيمس تنطلق من المناهج، لذلك يصح أن نسأل عن كل فقرة فيها: هل دُرّس محتواها؟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نبّه إلى الحد المقابل: الدراسة لا تقيس كل ما يطمح إليه المنهج الوطني، والترتيب ليس غاية. نفصّل ذلك في الأسبوع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الطالب الواحد لا يجيب إلا عن جزء من البنك، لذلك تغطي الدراسة الموضوعات كلها دون أن يطول اختباره.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الأسماء العربية للموضوعات في ورقة «الإطار» مترجمة بتصرف يسير. عند الاستخدام الرسمي يُرجع إلى النص المنشور.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الخلط المتوقع: نسبة 40/40/20 إلى الصف الثامن، أو نسبة 35/40/25 إلى تيمس.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مهام حل المشكلات والاستقصاء أطول من الفقرة العادية ومبنية على سيناريو (فون دافييه وزملاؤه، 2024). لا تزد على ذلك تفاصيل.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اذكر موسوعة تيمس واستبانات المنهج بوصفها مصادر لهذا السياق، ومعايير ويب (1997) للمواءمة.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احسبوا معاً على السبورة قبل فتح ورقة «مثال محلول».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علوم الأرض 62.5% بدقة. أربعة موضوعات جزئية: دورات الحياة، والتنوع والتكيّف، وتحوّلات الطاقة، وموارد الأرض.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عد إلى سؤال الافتتاح: ضعف علوم الأرض في هذا المنهج يُقرأ أولاً بفرصة التعلم.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الفقرات العشر في ملف المشغل كُتبت للمساق بأسلوب تيمس، وليست منشورة من الدراسة.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اعرض مثال الملعقتين المعدنية والخشبية من المحتوى العلمي، ودليل تصحيحه بثلاثة مستويات.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مستوى الاستخدام 2: تعاون موثّق. حالة التغطية قرار الطالب ودليلها سطر من الوثيقة.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تأكد أن التصنيف الفردي تم قبل كلود، وأن الطلبة أحضروا الوثيقة الرسمية للمنهج.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تذكرة الخروج الآن. في الأسبوع 13 نقرأ تقرير نتائج، ونستخدم فرصة التعلم سياقاً للتفسير.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defRPr>
            </a:lvl1pPr>
          </a:lstStyle>
          <a:p>
            <a:pPr algn="r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943600" y="63550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القياس والتقويم التربوي · الأسبوع 12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الأسبوع 12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الاختبارات الدولية: الأطر ومواءمة المنهج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هل دُرّس ما اختُبر فيه الطلبة؟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43032" y="457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0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463040"/>
            <a:ext cx="10543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جاء أداء طلبتنا في علوم الأرض أضعف من بقية المجالات. طلبتنا ضعفاء في علوم الأرض.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0233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السؤال الذي تطرحه قبل أن توافق على هذا الاستنتاج؟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50292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فكّر فيما حدث قبل الاختبار، لا فيما حدث فيه.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ثلاث دراسات دولية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تيمس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الرياضيات والعلوم للصفين الرابع والثامن، مبنية على المناهج، كل 4 سنوات.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بيرلز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القراءة لطلبة الصف الرابع، كل 5 سنوات.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بيزا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الطلبة في عمر 15 سنة، وتقيس توظيف المعرفة في مواقف حياتية.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تصف هذه الدراسات أداء النظام التعليمي، لا درجة طالب بعينه.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لماذا تشارك الأنظمة؟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9107424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مرآة خارجية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موقع أداء الطلبة بأدوات لم تصنعها الدولة نفسها.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6254496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1014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الاتجاه عبر الزمن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الإطار نفسه تقريباً من دورة إلى أخرى، فتظهر التغيرات.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3401568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5721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بيانات سياقية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استبانات للطلبة والمعلمين والمدارس تربط الأداء بظروف التعلم.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548640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04288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مراجعة المنهج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مقارنة الإطار بالمنهج تكشف الموضوعات الغائبة أو المتأخرة.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الإطار جدول مواصفات على مستوى النظام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جدولك في الأسبوع 6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نواتج × مستويات معرفية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اختبار واحد من 20 إلى 30 فقرة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توزيع اختاره المعلم: 35/40/25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إطار تيمس 2023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مجالات المحتوى × المجالات المعرفية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بنك كبير موزع على كراسات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توزيع الصف الثامن: 35/35/30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35/40/25 قرار معلم المثال، وليس توزيع تيمس.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مجالات المحتوى لعلوم الصف الثامن</a:t>
            </a:r>
            <a:endParaRPr lang="en-US" sz="3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37160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554480"/>
            <a:ext cx="39593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18 موضوعاً: 6 و3 و5 و4.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الأوزان للمجالات لا للموضوعات.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المصدر: إطار تيمس 2023 (موليس وزملاؤه، 2021).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المجالات المعرفية في الإطار</a:t>
            </a:r>
            <a:endParaRPr lang="en-US" sz="38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1877052"/>
                <a:gridCol w="1877052"/>
                <a:gridCol w="4948592"/>
                <a:gridCol w="2388976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الصف الرابع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الصف الثامن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ما يطلبه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المجال المعرفي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استدعاء وتعرّف ووصف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معرفة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استخدام المعرفة في موقف مألوف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تطبيق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تحليل موقف جديد وتصميم وتبرير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استدلال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يرتفع وزن الاستدلال من الصف الرابع إلى الثامن.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صيغ الفقرات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اختيار من متعدد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اقتصادية وسريعة التصحيح، وتصلح للمجالات الثلاثة إذا كُتبت جيداً.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إجابة مبنية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يرافقها دليل تصحيح بأمثلة، ليصحّح المصححون في الدول كلها بالطريقة نفسها.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تفاعلية رقمية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أكملت تيمس 2023 التحول الرقمي، وتضمنت مهام حل المشكلات والاستقصاء.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التفاعل الرقمي يُضاف حين يضيف قيمة قياسية، لا حين يجمّل الفقرة.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فرصة التعلم: ثلاثة مستويات للمنهج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المقصود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تنص عليه الوثائق الرسمية.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المطبَّق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يُدرَّس فعلاً في الصفوف.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المتحقَّق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تعلمه الطلبة كما يظهر في أدائهم.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موضوع لم يُدرَّس قبل الاختبار: ضعف الأداء فيه غياب فرصة، لا ضعف قدرة.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التغطية الموزونة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لكل موضوع: كاملاً 1، جزئياً 0.5، لا يُدرّس 0. ثم نسبة التغطية لكل مجال.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= Σ (weight × domain coverage)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تقرّب نسبة درجات الاختبار التي دُرّس محتواها. وغير الموزونة تعامل الموضوعات الثمانية عشر بالوزن نفسه.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مثال محلول: منهج افتراضي</a:t>
            </a:r>
            <a:endParaRPr lang="en-US" sz="3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37160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554480"/>
            <a:ext cx="39593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التغطية الموزونة 79%، وغير الموزونة 78%.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يُدرّس: الكهرباء والمغناطيسية، وعمليات الأرض ودوراتها وتاريخها.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المنهج افتراضي ولا يمثّل منهج أي دولة.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ماذا تقول 79%؟ وماذا لا تقول؟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نحو خُمس محتوى الاختبار، بأوزان الإطار ومع احتساب الجزئي نصفاً، غير مغطى. وأضعف المجالات علوم الأرض ثم الفيزياء.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تبسيطات: الجزئي نصف موضوع، والموضوعات متساوية في المجال، والمنهج المقصود لا المطبَّق، والتغطية لا تعني العمق.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التغطية الموزونة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منهج افتراضي للتدريب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الفقرات المنشورة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افعل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ادرس أسلوبها: السياق والمهمة ودليل التصحيح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اكتب فقرات جديدة على منوالها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اعرضها من موقع الجهة الناشرة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تفعل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تلصقها في كلود دون إذن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تنسخها في اختبارك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تدرّب الطلبة على حفظ إجاباتها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الفقرات محمية بحقوق الجهة الناشرة، والتدريب على الاختبار يُضعف دلالة النتائج.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فقرة بأسلوب تيمس لصفك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9107424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سياق قصير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موقف من حياة الطالب بقدر ما تحتاجه المهمة. السياق الطويل يختبر القراءة.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6254496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1014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مهمة واحدة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فعل صريح واحد: فسّر، احسب، توقّع وبرّر.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3401568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5721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دليل تصحيح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يُكتب مع الفقرة، ويحدد كل مستوى بأمثلة، ويحفظ الإجابات الخاطئة الشائعة.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548640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04288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رقمية عند الحاجة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إن قاست الورقة ما تريد، فلا حاجة إلى الشاشة.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كلود في المواءمة والتصنيف والصياغة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يحسن فعله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اقتراح أقرب موضوع لكل ناتج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تصنيف سريع مع مبرر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مسودة سياق ومهمة ودليل تصحيح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تتحقق منه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المطابقة بالمعنى من الوثيقة الرسمية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قد يميل إلى رفع التصنيف نحو الاستدلال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الدقة العلمية وملاءمة الصف الثامن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«بأسلوب تيمس» لا «من تيمس»: لا ادعاء لصفة رسمية.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مشغل المواءمة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8125968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771632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354568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5 د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354568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اقرأ الإطار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4337304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82968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65904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15 د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65904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صنّف الفقرات العشر وحدك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548640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194304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كلود يصنّف، ثم قارن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8125968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771632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20 د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54568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املأ مصفوفة منهجك من الوثيقة</a:t>
            </a:r>
            <a:endParaRPr lang="en-US" sz="2100" dirty="0"/>
          </a:p>
        </p:txBody>
      </p:sp>
      <p:sp>
        <p:nvSpPr>
          <p:cNvPr id="19" name="step-5"/>
          <p:cNvSpPr/>
          <p:nvPr/>
        </p:nvSpPr>
        <p:spPr>
          <a:xfrm>
            <a:off x="4337304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982968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565904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15 د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65904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اكتب فقرة مبنية بدليل تصحيح</a:t>
            </a:r>
            <a:endParaRPr lang="en-US" sz="2100" dirty="0"/>
          </a:p>
        </p:txBody>
      </p:sp>
      <p:sp>
        <p:nvSpPr>
          <p:cNvPr id="23" name="step-6"/>
          <p:cNvSpPr/>
          <p:nvPr/>
        </p:nvSpPr>
        <p:spPr>
          <a:xfrm>
            <a:off x="548640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194304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5 د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فسّر ما تعنيه التغطية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ارفع إلى كلود نسخة لم تُدخل فيها تصنيفك.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قبل أن تغادر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ثلاث أفكار تأخذها معك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86928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61248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الإطار جدول مواصفات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461248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مجالات محتوى ومجالات معرفية بأوزان، على مستوى النظام لا الصف.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67784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2104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فرصة التعلم أولاً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642104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قبل الحكم على نتيجة: هل دُرّس المحتوى؟ والمصفوفة تجيب بتقريب معلن.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بأسلوب تيمس لا من تيمس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اكتب فقرات جديدة، واحترم حقوق المنشورة، وتحقق من تصنيف كلود.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Arabic">
  <a:themeElements>
    <a:clrScheme name="Anthropic Arabic">
      <a:dk1>
        <a:srgbClr val="141413"/>
      </a:dk1>
      <a:lt1>
        <a:srgbClr val="FFFFFF"/>
      </a:lt1>
      <a:dk2>
        <a:srgbClr val="141413"/>
      </a:dk2>
      <a:lt2>
        <a:srgbClr val="FAF9F5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E8E6DC"/>
      </a:accent5>
      <a:accent6>
        <a:srgbClr val="141413"/>
      </a:accent6>
      <a:hlink>
        <a:srgbClr val="6A9BCC"/>
      </a:hlink>
      <a:folHlink>
        <a:srgbClr val="788C5D"/>
      </a:folHlink>
    </a:clrScheme>
    <a:fontScheme name="Anthropic Arabic">
      <a:majorFont>
        <a:latin typeface="Sakkal Majall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kkal Majall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الأسبوع 12</dc:title>
  <dc:subject>PptxGenJS Presentation</dc:subject>
  <dc:creator>PptxGenJS</dc:creator>
  <cp:lastModifiedBy>PptxGenJS</cp:lastModifiedBy>
  <cp:revision>1</cp:revision>
  <dcterms:created xsi:type="dcterms:W3CDTF">2026-10-07T19:24:57Z</dcterms:created>
  <dcterms:modified xsi:type="dcterms:W3CDTF">2026-10-07T19:24:57Z</dcterms:modified>
</cp:coreProperties>
</file>