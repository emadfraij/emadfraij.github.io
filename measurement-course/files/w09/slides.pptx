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فتتاح" id="{7626bd55-ff6d-2c7d-7f1d-fe0ff3a8a671}">
          <p14:sldIdLst>
            <p14:sldId id="256"/>
            <p14:sldId id="257"/>
          </p14:sldIdLst>
        </p14:section>
        <p14:section name="المحتوى" id="{311fafc3-5f13-3c87-cdea-ad07819b7bda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الختام" id="{a6ef5825-1a34-cf17-d361-4aeed7ee561d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الأوزان الافتراضية</c:v>
                </c:pt>
              </c:strCache>
            </c:strRef>
          </c:tx>
          <c:spPr>
            <a:solidFill>
              <a:srgbClr val="D97757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41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ط1</c:v>
                  </c:pt>
                  <c:pt idx="1">
                    <c:v>ط2</c:v>
                  </c:pt>
                  <c:pt idx="2">
                    <c:v>ط3</c:v>
                  </c:pt>
                  <c:pt idx="3">
                    <c:v>ط4</c:v>
                  </c:pt>
                  <c:pt idx="4">
                    <c:v>ط5</c:v>
                  </c:pt>
                  <c:pt idx="5">
                    <c:v>ط6</c:v>
                  </c:pt>
                  <c:pt idx="6">
                    <c:v>ط7</c:v>
                  </c:pt>
                  <c:pt idx="7">
                    <c:v>ط8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0.8875</c:v>
                </c:pt>
                <c:pt idx="1">
                  <c:v>0.6</c:v>
                </c:pt>
                <c:pt idx="2">
                  <c:v>0.7625</c:v>
                </c:pt>
                <c:pt idx="3">
                  <c:v>0.4625</c:v>
                </c:pt>
                <c:pt idx="4">
                  <c:v>0.75</c:v>
                </c:pt>
                <c:pt idx="5">
                  <c:v>0.725</c:v>
                </c:pt>
                <c:pt idx="6">
                  <c:v>0.625</c:v>
                </c:pt>
                <c:pt idx="7">
                  <c:v>0.3625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أوزان متساوية</c:v>
                </c:pt>
              </c:strCache>
            </c:strRef>
          </c:tx>
          <c:spPr>
            <a:solidFill>
              <a:srgbClr val="B0AEA5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41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ط1</c:v>
                  </c:pt>
                  <c:pt idx="1">
                    <c:v>ط2</c:v>
                  </c:pt>
                  <c:pt idx="2">
                    <c:v>ط3</c:v>
                  </c:pt>
                  <c:pt idx="3">
                    <c:v>ط4</c:v>
                  </c:pt>
                  <c:pt idx="4">
                    <c:v>ط5</c:v>
                  </c:pt>
                  <c:pt idx="5">
                    <c:v>ط6</c:v>
                  </c:pt>
                  <c:pt idx="6">
                    <c:v>ط7</c:v>
                  </c:pt>
                  <c:pt idx="7">
                    <c:v>ط8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0.875</c:v>
                </c:pt>
                <c:pt idx="1">
                  <c:v>0.625</c:v>
                </c:pt>
                <c:pt idx="2">
                  <c:v>0.75</c:v>
                </c:pt>
                <c:pt idx="3">
                  <c:v>0.5</c:v>
                </c:pt>
                <c:pt idx="4">
                  <c:v>0.75</c:v>
                </c:pt>
                <c:pt idx="5">
                  <c:v>0.6875</c:v>
                </c:pt>
                <c:pt idx="6">
                  <c:v>0.625</c:v>
                </c:pt>
                <c:pt idx="7">
                  <c:v>0.375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200" u="none">
                  <a:solidFill>
                    <a:srgbClr val="14141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4141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DC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B0AEA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نبدأ من سؤال: كيف نقدّر ما يفعله الطالب لا ما يختاره؟ منتج اليوم مهمة أدائية وسلمها الموزون، ويدخلان في ملف الإنجاز.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هذان ط4 وط6 من ملف الإكسل. اجمع التصويت على السبورة دون تعليق، وعد إليه بعد عرض أثر الأوزان.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اطلب من الطلبة تصنيف نواتج من جداولهم: أيها يحتاج أداءً فعلاً؟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مثال على السياق غير العادل: مهمة عن السفر الجوي لطلبة لم يسافروا.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ملف إنجاز هذا المساق مثال حي: منتج كل أسبوع، ثم تأمل ومناقشة شفهية في الأسبوع 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شدّد على القيد العلمي: المرشّح لا يزيل المواد الذائبة، ولا يُعتمد عليه في إزالة الكائنات الدقيقة، فالماء لا يصبح صالحاً للشرب. هذه المسودة الأولى، وتُعدّل لاحقاً في الدور والمنتج.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هذه أكثر مشكلة تتكرر في مسودات كلود. كل فعل في مهمة التقويم يقابل معياراً في السلم.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الشريحة التالية مخصصة لقابلية التعميم لأنها أكثر المعايير إهمالاً.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طبّق القائمة على المسودة الأولى مع الطلبة قبل عرض الرقم: 5 من 8، «تحتاج مراجعة جوهرية». بعد الإضافات الثلاث: 8 من 8، «جاهزة للتجريب». القائمة أعدّها المساق، وحدودها إرشادية.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درجة واحدة للفريق مشكلة عدالة وصدق معاً: الدرجة لم تعد تصف تعلم صاحبها.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المحادثة المباشرة يطلب فيها الطالب الحل بأقل تفاعل. اربط بنهج المسارين في جامعة سيدني وسياسة جامعة الإمارات (2025).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احسب ط6 على السبورة، ثم اطلب من الطلبة حساب ط4 (1، 2، 1، 4): 46.25% مقابل 50%.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الترتيب تغيّر فقط في حالات التساوي: انفصل ط3 عن ط5، وط7 عن ط2. دالة الترتيب في الإكسل تعطي المتساوين الرقم نفسه.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اسأل: أي أوزان تعبّر عن الناتج «يخطط لفصل مكونات مخلوط»؟ الأوزان تُحدد قبل رؤية الأداء وتُبرر بالناتج. لا تعرض نتائج ط1 وط3 وط7 وط8 بالأوزان البديلة، فهي في جدول المشغل.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اعرض مسودة حقيقية من تجربتك قبل المحاضرة، واطلب من الطلبة تحديد المشكلات فيها.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لا تختصر فحص المسودة وإصلاح الواصفات. وذكّر بالمعايرة في الأسبوع 8 قبل تصحيح أي صف بالسلم.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تذكرة الخروج الآن. عد إلى تصويت الافتتاح: ط6 يتقدم على ط4 في الأوزان الثلاث المجربة، ويتسع الفرق كلما ثقلت معايير العلم.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defRPr>
            </a:lvl1pPr>
          </a:lstStyle>
          <a:p>
            <a:pPr algn="r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/>
        </p:nvSpPr>
        <p:spPr>
          <a:xfrm>
            <a:off x="5943600" y="6355080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القياس والتقويم التربوي · الأسبوع 9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الأسبوع 9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110916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التقويم الأدائي والبديل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مهمة أصيلة بنموذج «غراسبس» وسلم تقدير موزون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543032" y="45720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20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</a:t>
            </a:r>
            <a:endParaRPr lang="en-US" sz="120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1463040"/>
            <a:ext cx="105430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طالب كتب توصية واضحة للجنة تقترح تحسيناً، لكن تصميم مرشّحه بلا تبرير وتفسيره غائب. وطالب آخر صمّم وقاس بدقة، وتوصيته ضعيفة.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02336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يستحق ترتيباً أعلى؟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502920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الجواب يعتمد على ما تعلنه أوزان سلمك أنه مهم.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متى يستحق التقويم الأدائي كلفته؟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8156448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85048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الناتج يتطلب أداءً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8385048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«يخطط لفصل مكونات مخلوط» يحتاج تنفيذاً، أما «يسمّي طرق الفصل» فتكفيه فقرة موضوعية.</a:t>
            </a:r>
            <a:endParaRPr lang="en-US" sz="2000" dirty="0"/>
          </a:p>
        </p:txBody>
      </p:sp>
      <p:sp>
        <p:nvSpPr>
          <p:cNvPr id="7" name="card-1"/>
          <p:cNvSpPr/>
          <p:nvPr/>
        </p:nvSpPr>
        <p:spPr>
          <a:xfrm>
            <a:off x="4352544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059168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الناتج مهم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لا ننفق ثلاث حصص على ناتج وزنه هامشي في جدول المواصفات.</a:t>
            </a:r>
            <a:endParaRPr lang="en-US" sz="2000" dirty="0"/>
          </a:p>
        </p:txBody>
      </p:sp>
      <p:sp>
        <p:nvSpPr>
          <p:cNvPr id="11" name="card-2"/>
          <p:cNvSpPr/>
          <p:nvPr/>
        </p:nvSpPr>
        <p:spPr>
          <a:xfrm>
            <a:off x="548640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55264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الإمكانات متاحة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وقت ومواد وقدرة على تقدير عادل. مهمة لا تُنفّذ في مدرستك ليست مهمة جيدة.</a:t>
            </a:r>
            <a:endParaRPr lang="en-US" sz="2000" dirty="0"/>
          </a:p>
        </p:txBody>
      </p:sp>
      <p:sp>
        <p:nvSpPr>
          <p:cNvPr id="15" name="foote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4400" y="5349240"/>
            <a:ext cx="10360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ثمنه: وقت تعليم، ومواد، وتصحيح أطول، واتفاق مصححين أضعف.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التقويم الأصيل</a:t>
            </a:r>
            <a:endParaRPr lang="en-US" sz="3800" dirty="0"/>
          </a:p>
        </p:txBody>
      </p:sp>
      <p:sp>
        <p:nvSpPr>
          <p:cNvPr id="3" name="panel-0"/>
          <p:cNvSpPr/>
          <p:nvPr/>
        </p:nvSpPr>
        <p:spPr>
          <a:xfrm>
            <a:off x="6323076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82880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97396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مهمة غير أصيلة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597396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افصل الرمل عن الماء كما في الكتاب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خطوات محفوظة بلا قرار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النجاح تكرار الإجراء</a:t>
            </a:r>
            <a:endParaRPr lang="en-US" sz="2000" dirty="0"/>
          </a:p>
        </p:txBody>
      </p:sp>
      <p:sp>
        <p:nvSpPr>
          <p:cNvPr id="7" name="panel-1"/>
          <p:cNvSpPr/>
          <p:nvPr/>
        </p:nvSpPr>
        <p:spPr>
          <a:xfrm>
            <a:off x="548640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88636" y="182880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مهمة أصيلة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ماء عكر في مخيم مدرسي ومواد متوفرة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الطالب يختار ويرتّب ويبرر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قياس وتفسير وتوصية لجمهور حقيقي</a:t>
            </a:r>
            <a:endParaRPr lang="en-US" sz="2000" dirty="0"/>
          </a:p>
        </p:txBody>
      </p:sp>
      <p:sp>
        <p:nvSpPr>
          <p:cNvPr id="11" name="footer"/>
          <p:cNvSpPr/>
          <p:nvPr/>
        </p:nvSpPr>
        <p:spPr>
          <a:xfrm>
            <a:off x="548640" y="5486400"/>
            <a:ext cx="11091672" cy="685800"/>
          </a:xfrm>
          <a:prstGeom prst="roundRect">
            <a:avLst>
              <a:gd name="adj" fmla="val 160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14400" y="5486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الأصالة ليست غاية: القصة المشوقة لا تعوّض غياب الناتج، والسياق غير المألوف يضر بالعدالة.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أشكال التقويم البديل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9107424" y="1554480"/>
            <a:ext cx="2532888" cy="420624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36024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المشروع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336024" y="3337560"/>
            <a:ext cx="20756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عمل ممتد ينتهي بمنتج. جزء كبير قد يُنجز خارج الصف.</a:t>
            </a:r>
            <a:endParaRPr lang="en-US" sz="1800" dirty="0"/>
          </a:p>
        </p:txBody>
      </p:sp>
      <p:sp>
        <p:nvSpPr>
          <p:cNvPr id="7" name="card-1"/>
          <p:cNvSpPr/>
          <p:nvPr/>
        </p:nvSpPr>
        <p:spPr>
          <a:xfrm>
            <a:off x="6254496" y="1554480"/>
            <a:ext cx="2532888" cy="420624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10144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83096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ملف الإنجاز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483096" y="3337560"/>
            <a:ext cx="20756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أعمال مختارة مع تأمل فيها تُظهر النمو. يحتاج معايير اختيار معلنة.</a:t>
            </a:r>
            <a:endParaRPr lang="en-US" sz="1800" dirty="0"/>
          </a:p>
        </p:txBody>
      </p:sp>
      <p:sp>
        <p:nvSpPr>
          <p:cNvPr id="11" name="card-2"/>
          <p:cNvSpPr/>
          <p:nvPr/>
        </p:nvSpPr>
        <p:spPr>
          <a:xfrm>
            <a:off x="3401568" y="1554480"/>
            <a:ext cx="2532888" cy="420624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157216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30168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الملاحظة بقائمة رصد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3630168" y="3337560"/>
            <a:ext cx="20756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هل ظهر السلوك؟ نعم أو لا. للجودة نحتاج سلم تقدير.</a:t>
            </a:r>
            <a:endParaRPr lang="en-US" sz="1800" dirty="0"/>
          </a:p>
        </p:txBody>
      </p:sp>
      <p:sp>
        <p:nvSpPr>
          <p:cNvPr id="15" name="card-3"/>
          <p:cNvSpPr/>
          <p:nvPr/>
        </p:nvSpPr>
        <p:spPr>
          <a:xfrm>
            <a:off x="548640" y="1554480"/>
            <a:ext cx="2532888" cy="420624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304288" y="1783080"/>
            <a:ext cx="457200" cy="457200"/>
          </a:xfrm>
          <a:prstGeom prst="ellipse">
            <a:avLst/>
          </a:prstGeom>
          <a:solidFill>
            <a:srgbClr val="B0AEA5"/>
          </a:solidFill>
          <a:ln w="12700">
            <a:solidFill>
              <a:srgbClr val="B0AEA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العرض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3337560"/>
            <a:ext cx="20756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تقديم شفهي وإجابة عن أسئلة. قد يكافئ الطلاقة بدل العلم.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نموذج «غراسبس»: المسودة الأولى</a:t>
            </a:r>
            <a:endParaRPr lang="en-US" sz="3800" dirty="0"/>
          </a:p>
        </p:txBody>
      </p:sp>
      <p:graphicFrame>
        <p:nvGraphicFramePr>
          <p:cNvPr id="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8481867"/>
                <a:gridCol w="2609805"/>
              </a:tblGrid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مهمة مرشّح الماء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العنصر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مرشّح من مواد متوفرة يحسّن صفاء ماء عكر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الهدف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عضو في فريق علوم المدرسة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الدور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لجنة الاستدامة في المدرسة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الجمهور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انقطاع الماء عن مخيم؛ تحسين الصفاء قبل التعقيم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الموقف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مرشّح يعمل، وجدول قياسات، وتوصية من صفحة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المنتج أو الأداء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تصميم مبرر، وقياس قابل للتكرار، وتفسير، وتوصية بحدود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معايير النجاح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تقيس الناتج ن6 من جدول الأسبوع 6: يخطط لفصل مكونات مخلوط بطرق مناسبة.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مهمة تقويم أم نشاط؟</a:t>
            </a:r>
            <a:endParaRPr lang="en-US" sz="3800" dirty="0"/>
          </a:p>
        </p:txBody>
      </p:sp>
      <p:sp>
        <p:nvSpPr>
          <p:cNvPr id="3" name="panel-0"/>
          <p:cNvSpPr/>
          <p:nvPr/>
        </p:nvSpPr>
        <p:spPr>
          <a:xfrm>
            <a:off x="6323076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82880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97396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نشاط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597396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اصنع مرشّحاً وزيّنه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واعرضه في معرض المدرسة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لا قياس ولا تبرير ولا تفسير</a:t>
            </a:r>
            <a:endParaRPr lang="en-US" sz="2000" dirty="0"/>
          </a:p>
        </p:txBody>
      </p:sp>
      <p:sp>
        <p:nvSpPr>
          <p:cNvPr id="7" name="panel-1"/>
          <p:cNvSpPr/>
          <p:nvPr/>
        </p:nvSpPr>
        <p:spPr>
          <a:xfrm>
            <a:off x="548640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88636" y="182880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مهمة تقويم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صمّم وبرّر ترتيب الطبقات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قس الصفاء قبل الترشيح وبعده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فسّر النتائج وأوصِ اللجنة</a:t>
            </a:r>
            <a:endParaRPr lang="en-US" sz="2000" dirty="0"/>
          </a:p>
        </p:txBody>
      </p:sp>
      <p:sp>
        <p:nvSpPr>
          <p:cNvPr id="11" name="footer"/>
          <p:cNvSpPr/>
          <p:nvPr/>
        </p:nvSpPr>
        <p:spPr>
          <a:xfrm>
            <a:off x="548640" y="5486400"/>
            <a:ext cx="11091672" cy="685800"/>
          </a:xfrm>
          <a:prstGeom prst="roundRect">
            <a:avLst>
              <a:gd name="adj" fmla="val 160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14400" y="5486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السؤال الحاسم: ما الدليل على الناتج الذي سيبقى لنقدّره؟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معايير الجودة (لين وبيكر ودنبار، 1991)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9107424" y="155448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36024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العواقب والعدالة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336024" y="333756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ما أثر المهمة في التعليم؟ وهل الفرصة متكافئة في المواد واللغة والخبرة؟</a:t>
            </a:r>
            <a:endParaRPr lang="en-US" sz="1800" dirty="0"/>
          </a:p>
        </p:txBody>
      </p:sp>
      <p:sp>
        <p:nvSpPr>
          <p:cNvPr id="7" name="card-1"/>
          <p:cNvSpPr/>
          <p:nvPr/>
        </p:nvSpPr>
        <p:spPr>
          <a:xfrm>
            <a:off x="6254496" y="155448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10144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83096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التعقيد المعرفي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483096" y="333756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هل تتطلب استدلالاً فعلاً، لا تنفيذ خطوات محفوظة؟</a:t>
            </a:r>
            <a:endParaRPr lang="en-US" sz="1800" dirty="0"/>
          </a:p>
        </p:txBody>
      </p:sp>
      <p:sp>
        <p:nvSpPr>
          <p:cNvPr id="11" name="card-2"/>
          <p:cNvSpPr/>
          <p:nvPr/>
        </p:nvSpPr>
        <p:spPr>
          <a:xfrm>
            <a:off x="3401568" y="155448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157216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30168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جودة المحتوى وتغطيته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3630168" y="333756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محتوى صحيح ومهم، مع وعي بأن المهمة تغطي جزءاً صغيراً من الوحدة.</a:t>
            </a:r>
            <a:endParaRPr lang="en-US" sz="1800" dirty="0"/>
          </a:p>
        </p:txBody>
      </p:sp>
      <p:sp>
        <p:nvSpPr>
          <p:cNvPr id="15" name="card-3"/>
          <p:cNvSpPr/>
          <p:nvPr/>
        </p:nvSpPr>
        <p:spPr>
          <a:xfrm>
            <a:off x="548640" y="155448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304288" y="1783080"/>
            <a:ext cx="457200" cy="457200"/>
          </a:xfrm>
          <a:prstGeom prst="ellipse">
            <a:avLst/>
          </a:prstGeom>
          <a:solidFill>
            <a:srgbClr val="B0AEA5"/>
          </a:solidFill>
          <a:ln w="12700">
            <a:solidFill>
              <a:srgbClr val="B0AEA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المعنى والكلفة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333756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هل يرى الطالب قيمة لما يفعل؟ وهل تستحق النتيجة الوقت والجهد؟</a:t>
            </a:r>
            <a:endParaRPr lang="en-US" sz="1800" dirty="0"/>
          </a:p>
        </p:txBody>
      </p:sp>
      <p:sp>
        <p:nvSpPr>
          <p:cNvPr id="19" name="foote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14400" y="5349240"/>
            <a:ext cx="10360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والمعيار الأصعب: النقل وقابلية التعميم.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الضعف المعروف: قابلية التعميم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035040" y="1554480"/>
            <a:ext cx="560527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المهمة الواحدة عينة صغيرة من الأداء. سياق غريب أو أداة معطلة أو يوم سيئ يغيّر الحكم كله.</a:t>
            </a:r>
            <a:endParaRPr lang="en-US" sz="2200" dirty="0"/>
          </a:p>
          <a:p>
            <a:pPr rtl="1" algn="r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الإضافات الثلاث: سجل وتوصية فرديان، وعمل في الصف مع سؤال شفهي، وضم المهمة إلى فقرات ن6 في الاختبار.</a:t>
            </a:r>
            <a:endParaRPr lang="en-US" sz="2200" dirty="0"/>
          </a:p>
        </p:txBody>
      </p:sp>
      <p:sp>
        <p:nvSpPr>
          <p:cNvPr id="4" name="stat"/>
          <p:cNvSpPr/>
          <p:nvPr/>
        </p:nvSpPr>
        <p:spPr>
          <a:xfrm>
            <a:off x="548640" y="1554480"/>
            <a:ext cx="5029200" cy="4389120"/>
          </a:xfrm>
          <a:prstGeom prst="roundRect">
            <a:avLst>
              <a:gd name="adj" fmla="val 25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مهمة المرشّح في قائمة الفحص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6032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← 8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97764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المسودة الأولى، ثم بعد ثلاث إضافات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العمل الفردي والجماعي</a:t>
            </a:r>
            <a:endParaRPr lang="en-US" sz="3800" dirty="0"/>
          </a:p>
        </p:txBody>
      </p:sp>
      <p:sp>
        <p:nvSpPr>
          <p:cNvPr id="3" name="panel-0"/>
          <p:cNvSpPr/>
          <p:nvPr/>
        </p:nvSpPr>
        <p:spPr>
          <a:xfrm>
            <a:off x="6323076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82880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97396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جماعي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597396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بناء النموذج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إجراء القياس معاً</a:t>
            </a:r>
            <a:endParaRPr lang="en-US" sz="2000" dirty="0"/>
          </a:p>
        </p:txBody>
      </p:sp>
      <p:sp>
        <p:nvSpPr>
          <p:cNvPr id="7" name="panel-1"/>
          <p:cNvSpPr/>
          <p:nvPr/>
        </p:nvSpPr>
        <p:spPr>
          <a:xfrm>
            <a:off x="548640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88636" y="182880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فردي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تبرير التصميم في السجل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تسجيل القراءات في جدول خاص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التفسير والتوصية في الصف</a:t>
            </a:r>
            <a:endParaRPr lang="en-US" sz="2000" dirty="0"/>
          </a:p>
        </p:txBody>
      </p:sp>
      <p:sp>
        <p:nvSpPr>
          <p:cNvPr id="11" name="footer"/>
          <p:cNvSpPr/>
          <p:nvPr/>
        </p:nvSpPr>
        <p:spPr>
          <a:xfrm>
            <a:off x="548640" y="5486400"/>
            <a:ext cx="11091672" cy="685800"/>
          </a:xfrm>
          <a:prstGeom prst="roundRect">
            <a:avLst>
              <a:gd name="adj" fmla="val 160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14400" y="5486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اعمل جماعياً، وقيّم فردياً ما يمكن فصله. سجل المساهمة دليل مساند لا يكفي وحده.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أصالة العمل مع أدوات الذكاء الاصطناعي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035040" y="1554480"/>
            <a:ext cx="560527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صمّم المهمة بحيث يصعب أن يصنعها غير الطالب: القياس والكتابة في الصف، وتوثيق العملية، وفحص شفهي قصير.</a:t>
            </a:r>
            <a:endParaRPr lang="en-US" sz="2200" dirty="0"/>
          </a:p>
          <a:p>
            <a:pPr rtl="1" algn="r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أدوات الكشف الآلي لا يُعتمد عليها وحدها. حدّد المسموح والممنوع، واطلب الإفصاح.</a:t>
            </a:r>
            <a:endParaRPr lang="en-US" sz="2200" dirty="0"/>
          </a:p>
        </p:txBody>
      </p:sp>
      <p:sp>
        <p:nvSpPr>
          <p:cNvPr id="4" name="stat"/>
          <p:cNvSpPr/>
          <p:nvPr/>
        </p:nvSpPr>
        <p:spPr>
          <a:xfrm>
            <a:off x="548640" y="1554480"/>
            <a:ext cx="5029200" cy="4389120"/>
          </a:xfrm>
          <a:prstGeom prst="roundRect">
            <a:avLst>
              <a:gd name="adj" fmla="val 25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محادثات طلبة «مباشرة»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6032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97764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نحو 574,740 محادثة مجهّلة لطلبة جامعات (أنثروبيك، أبريل 2025)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السلم التحليلي الموزون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نقسم مستوى الطالب في كل معيار على 4، ونضربه في وزن المعيار، ثم نجمع.</a:t>
            </a:r>
            <a:endParaRPr lang="en-US" sz="2400" dirty="0"/>
          </a:p>
        </p:txBody>
      </p:sp>
      <p:sp>
        <p:nvSpPr>
          <p:cNvPr id="4" name="formula"/>
          <p:cNvSpPr/>
          <p:nvPr/>
        </p:nvSpPr>
        <p:spPr>
          <a:xfrm>
            <a:off x="2194560" y="2880360"/>
            <a:ext cx="7799832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2194560" y="2880360"/>
            <a:ext cx="7799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% = Σ (level / 4 × weight)</a:t>
            </a:r>
            <a:endParaRPr lang="en-US" sz="2800" dirty="0"/>
          </a:p>
        </p:txBody>
      </p:sp>
      <p:sp>
        <p:nvSpPr>
          <p:cNvPr id="6" name="after"/>
          <p:cNvSpPr/>
          <p:nvPr/>
        </p:nvSpPr>
        <p:spPr>
          <a:xfrm>
            <a:off x="548640" y="4206240"/>
            <a:ext cx="11091672" cy="1645920"/>
          </a:xfrm>
          <a:prstGeom prst="roundRect">
            <a:avLst>
              <a:gd name="adj" fmla="val 6667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4206240"/>
            <a:ext cx="103601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ط6 (4، 4، 2، 1) بالأوزان 30 و25 و25 و20: 30 + 25 + 12.5 + 5 = 72.5%، وبأوزان متساوية 68.75%.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ثمانية طلبة: موزونة أم متساوية؟</a:t>
            </a:r>
            <a:endParaRPr lang="en-US" sz="3800" dirty="0"/>
          </a:p>
        </p:txBody>
      </p:sp>
      <p:graphicFrame>
        <p:nvGraphicFramePr>
          <p:cNvPr id="3" name="chart" descr=""/>
          <p:cNvGraphicFramePr/>
          <p:nvPr/>
        </p:nvGraphicFramePr>
        <p:xfrm>
          <a:off x="548640" y="1371600"/>
          <a:ext cx="676656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680960" y="1554480"/>
            <a:ext cx="395935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الأوزان الافتراضية تغيّر قليلاً: أكبر فرق 3.75 نقطة.</a:t>
            </a:r>
            <a:endParaRPr lang="en-US" sz="21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ط4 وط2، قوتهما في التواصل، يخسران.</a:t>
            </a:r>
            <a:endParaRPr lang="en-US" sz="21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ط6، قوته في التصميم والقياس، يربح.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الأوزان قرار تربوي يعلن ما يهمك</a:t>
            </a:r>
            <a:endParaRPr lang="en-US" sz="3800" dirty="0"/>
          </a:p>
        </p:txBody>
      </p:sp>
      <p:graphicFrame>
        <p:nvGraphicFramePr>
          <p:cNvPr id="1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2918861"/>
                <a:gridCol w="3210747"/>
                <a:gridCol w="3210747"/>
                <a:gridCol w="1751317"/>
              </a:tblGrid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متساوية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40/30/20/10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30/25/25/20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الطالب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68.75% (4)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82.5% (2)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72.5% (4)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ط6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 (2)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 (4)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 (3)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ط5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62.5% (5)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55% (6)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 (6)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ط2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 (7)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 (7)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46.25% (7)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ط4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الرقم بين القوسين هو الترتيب بين الطلبة الثمانية.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كلود يصوغ المسودة، وأنت تحكم</a:t>
            </a:r>
            <a:endParaRPr lang="en-US" sz="3800" dirty="0"/>
          </a:p>
        </p:txBody>
      </p:sp>
      <p:sp>
        <p:nvSpPr>
          <p:cNvPr id="3" name="panel-0"/>
          <p:cNvSpPr/>
          <p:nvPr/>
        </p:nvSpPr>
        <p:spPr>
          <a:xfrm>
            <a:off x="6323076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82880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97396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ما يحسنه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597396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مسودة «غراسبس» في دقيقة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سلم تحليلي بمستويات وأوزان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نقد مسودته بقائمة محددة</a:t>
            </a:r>
            <a:endParaRPr lang="en-US" sz="2000" dirty="0"/>
          </a:p>
        </p:txBody>
      </p:sp>
      <p:sp>
        <p:nvSpPr>
          <p:cNvPr id="7" name="panel-1"/>
          <p:cNvSpPr/>
          <p:nvPr/>
        </p:nvSpPr>
        <p:spPr>
          <a:xfrm>
            <a:off x="548640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88636" y="182880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ما تفحصه بنفسك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نشاط لا تقويم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معايير تكافئ العرض لا العلم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موارد غير واقعية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واصفات غامضة</a:t>
            </a:r>
            <a:endParaRPr lang="en-US" sz="2000" dirty="0"/>
          </a:p>
        </p:txBody>
      </p:sp>
      <p:sp>
        <p:nvSpPr>
          <p:cNvPr id="11" name="footer"/>
          <p:cNvSpPr/>
          <p:nvPr/>
        </p:nvSpPr>
        <p:spPr>
          <a:xfrm>
            <a:off x="548640" y="5486400"/>
            <a:ext cx="11091672" cy="685800"/>
          </a:xfrm>
          <a:prstGeom prst="roundRect">
            <a:avLst>
              <a:gd name="adj" fmla="val 160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14400" y="5486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مستوى الاستخدام 2: تعاون موثّق. وثّق ما أخذته وما غيّرته ولماذا.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مشغل الأسبوع</a:t>
            </a:r>
            <a:endParaRPr lang="en-US" sz="3800" dirty="0"/>
          </a:p>
        </p:txBody>
      </p:sp>
      <p:sp>
        <p:nvSpPr>
          <p:cNvPr id="3" name="step-1"/>
          <p:cNvSpPr/>
          <p:nvPr/>
        </p:nvSpPr>
        <p:spPr>
          <a:xfrm>
            <a:off x="8125968" y="150876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10771632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354568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5 د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354568" y="246888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اختر ناتجاً من جدولك في الأسبوع 6</a:t>
            </a:r>
            <a:endParaRPr lang="en-US" sz="2100" dirty="0"/>
          </a:p>
        </p:txBody>
      </p:sp>
      <p:sp>
        <p:nvSpPr>
          <p:cNvPr id="7" name="step-2"/>
          <p:cNvSpPr/>
          <p:nvPr/>
        </p:nvSpPr>
        <p:spPr>
          <a:xfrm>
            <a:off x="4337304" y="150876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982968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565904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10 د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565904" y="246888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كلود يصوغ مهمة «غراسبس»</a:t>
            </a:r>
            <a:endParaRPr lang="en-US" sz="2100" dirty="0"/>
          </a:p>
        </p:txBody>
      </p:sp>
      <p:sp>
        <p:nvSpPr>
          <p:cNvPr id="11" name="step-3"/>
          <p:cNvSpPr/>
          <p:nvPr/>
        </p:nvSpPr>
        <p:spPr>
          <a:xfrm>
            <a:off x="548640" y="150876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194304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20 د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246888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افحص المسودة ثم عدّلها</a:t>
            </a:r>
            <a:endParaRPr lang="en-US" sz="2100" dirty="0"/>
          </a:p>
        </p:txBody>
      </p:sp>
      <p:sp>
        <p:nvSpPr>
          <p:cNvPr id="15" name="step-4"/>
          <p:cNvSpPr/>
          <p:nvPr/>
        </p:nvSpPr>
        <p:spPr>
          <a:xfrm>
            <a:off x="8125968" y="374904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10771632" y="39319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8354568" y="4069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15 د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354568" y="470916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سلم تحليلي وإصلاح الواصفات</a:t>
            </a:r>
            <a:endParaRPr lang="en-US" sz="2100" dirty="0"/>
          </a:p>
        </p:txBody>
      </p:sp>
      <p:sp>
        <p:nvSpPr>
          <p:cNvPr id="19" name="step-5"/>
          <p:cNvSpPr/>
          <p:nvPr/>
        </p:nvSpPr>
        <p:spPr>
          <a:xfrm>
            <a:off x="4337304" y="374904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982968" y="39319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4565904" y="4069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10 د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565904" y="470916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الأوزان وأثرها على ثمانية طلبة</a:t>
            </a:r>
            <a:endParaRPr lang="en-US" sz="2100" dirty="0"/>
          </a:p>
        </p:txBody>
      </p:sp>
      <p:sp>
        <p:nvSpPr>
          <p:cNvPr id="23" name="step-6"/>
          <p:cNvSpPr/>
          <p:nvPr/>
        </p:nvSpPr>
        <p:spPr>
          <a:xfrm>
            <a:off x="548640" y="374904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3194304" y="39319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4069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10 د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470916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خطة أصالة العمل</a:t>
            </a:r>
            <a:endParaRPr lang="en-US" sz="21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8978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المنتج يدخل ملف الإنجاز، ويمكن أن يُضاف جزءاً أدائياً إلى النسخة النهائية من الاختبار.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قبل أن تغادر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1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ثلاث أفكار تأخذها معك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8186928" y="3200400"/>
            <a:ext cx="3453384" cy="2377440"/>
          </a:xfrm>
          <a:prstGeom prst="roundRect">
            <a:avLst>
              <a:gd name="adj" fmla="val 4615"/>
            </a:avLst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61248" y="342900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الناتج لا من الفكرة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8461248" y="4160520"/>
            <a:ext cx="2904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E8E6DC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المهمة الأدائية تبدأ من جدول المواصفات، وتترك دليلاً يقابل كل معيار.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367784" y="3200400"/>
            <a:ext cx="3453384" cy="2377440"/>
          </a:xfrm>
          <a:prstGeom prst="roundRect">
            <a:avLst>
              <a:gd name="adj" fmla="val 4615"/>
            </a:avLst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42104" y="342900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مهمة واحدة لا تكفي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4642104" y="4160520"/>
            <a:ext cx="2904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E8E6DC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قابلية التعميم ضعيفة؛ اجمع المهمة مع أدلة أخرى، وقيّم الفرد لا الفريق وحده.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3453384" cy="2377440"/>
          </a:xfrm>
          <a:prstGeom prst="roundRect">
            <a:avLst>
              <a:gd name="adj" fmla="val 4615"/>
            </a:avLst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42900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الأوزان تعلن ما يهم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160520"/>
            <a:ext cx="2904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E8E6DC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قرار تربوي يُحدد قبل رؤية الأداء ويُبرر بالناتج، ويُعاير السلم قبل التصحيح.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thropic Arabic">
  <a:themeElements>
    <a:clrScheme name="Anthropic Arabic">
      <a:dk1>
        <a:srgbClr val="141413"/>
      </a:dk1>
      <a:lt1>
        <a:srgbClr val="FFFFFF"/>
      </a:lt1>
      <a:dk2>
        <a:srgbClr val="141413"/>
      </a:dk2>
      <a:lt2>
        <a:srgbClr val="FAF9F5"/>
      </a:lt2>
      <a:accent1>
        <a:srgbClr val="D97757"/>
      </a:accent1>
      <a:accent2>
        <a:srgbClr val="6A9BCC"/>
      </a:accent2>
      <a:accent3>
        <a:srgbClr val="788C5D"/>
      </a:accent3>
      <a:accent4>
        <a:srgbClr val="B0AEA5"/>
      </a:accent4>
      <a:accent5>
        <a:srgbClr val="E8E6DC"/>
      </a:accent5>
      <a:accent6>
        <a:srgbClr val="141413"/>
      </a:accent6>
      <a:hlink>
        <a:srgbClr val="6A9BCC"/>
      </a:hlink>
      <a:folHlink>
        <a:srgbClr val="788C5D"/>
      </a:folHlink>
    </a:clrScheme>
    <a:fontScheme name="Anthropic Arabic">
      <a:majorFont>
        <a:latin typeface="Sakkal Majall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akkal Majall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الأسبوع 9</dc:title>
  <dc:subject>PptxGenJS Presentation</dc:subject>
  <dc:creator>PptxGenJS</dc:creator>
  <cp:lastModifiedBy>PptxGenJS</cp:lastModifiedBy>
  <cp:revision>1</cp:revision>
  <dcterms:created xsi:type="dcterms:W3CDTF">2026-10-07T19:24:53Z</dcterms:created>
  <dcterms:modified xsi:type="dcterms:W3CDTF">2026-10-07T19:24:53Z</dcterms:modified>
</cp:coreProperties>
</file>