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70222d-4531-e6d5-8703-91f61c244ce9}">
          <p14:sldIdLst>
            <p14:sldId id="256"/>
            <p14:sldId id="257"/>
          </p14:sldIdLst>
        </p14:section>
        <p14:section name="Content" id="{76619be1-b6c9-4953-e33a-beda32149e7d}">
          <p14:sldIdLst>
            <p14:sldId id="258"/>
            <p14:sldId id="259"/>
            <p14:sldId id="260"/>
            <p14:sldId id="261"/>
            <p14:sldId id="262"/>
            <p14:sldId id="263"/>
            <p14:sldId id="264"/>
            <p14:sldId id="265"/>
            <p14:sldId id="266"/>
            <p14:sldId id="267"/>
            <p14:sldId id="268"/>
            <p14:sldId id="269"/>
            <p14:sldId id="270"/>
            <p14:sldId id="271"/>
          </p14:sldIdLst>
        </p14:section>
        <p14:section name="Closing" id="{6b78e2b8-d265-7d9f-7e68-4de107d7ff17}">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 weights</c:v>
                </c:pt>
              </c:strCache>
            </c:strRef>
          </c:tx>
          <c:spPr>
            <a:solidFill>
              <a:srgbClr val="D97757"/>
            </a:solidFill>
            <a:effectLst/>
          </c:spPr>
          <c:invertIfNegative val="0"/>
          <c:dLbls>
            <c:numFmt formatCode="0%" sourceLinked="0"/>
            <c:txPr>
              <a:bodyPr/>
              <a:lstStyle/>
              <a:p>
                <a:pPr>
                  <a:defRPr b="0" i="0" strike="noStrike" sz="1200" u="none">
                    <a:solidFill>
                      <a:srgbClr val="141413"/>
                    </a:solidFill>
                    <a:latin typeface="+mn-lt"/>
                  </a:defRPr>
                </a:pPr>
              </a:p>
            </c:txPr>
            <c:showLegendKey val="0"/>
            <c:showVal val="1"/>
            <c:showCatName val="0"/>
            <c:showSerName val="0"/>
            <c:showPercent val="0"/>
            <c:showBubbleSize val="0"/>
            <c:showLeaderLines val="0"/>
          </c:dLbls>
          <c:cat>
            <c:multiLvlStrRef>
              <c:f>Sheet1!$A$2:$A$9</c:f>
              <c:multiLvlStrCache>
                <c:ptCount val="8"/>
                <c:lvl>
                  <c:pt idx="0">
                    <c:v>S1</c:v>
                  </c:pt>
                  <c:pt idx="1">
                    <c:v>S2</c:v>
                  </c:pt>
                  <c:pt idx="2">
                    <c:v>S3</c:v>
                  </c:pt>
                  <c:pt idx="3">
                    <c:v>S4</c:v>
                  </c:pt>
                  <c:pt idx="4">
                    <c:v>S5</c:v>
                  </c:pt>
                  <c:pt idx="5">
                    <c:v>S6</c:v>
                  </c:pt>
                  <c:pt idx="6">
                    <c:v>S7</c:v>
                  </c:pt>
                  <c:pt idx="7">
                    <c:v>S8</c:v>
                  </c:pt>
                </c:lvl>
              </c:multiLvlStrCache>
            </c:multiLvlStrRef>
          </c:cat>
          <c:val>
            <c:numRef>
              <c:f>Sheet1!$B$2:$B$9</c:f>
              <c:numCache>
                <c:formatCode>General</c:formatCode>
                <c:ptCount val="8"/>
                <c:pt idx="0">
                  <c:v>0.8875</c:v>
                </c:pt>
                <c:pt idx="1">
                  <c:v>0.6</c:v>
                </c:pt>
                <c:pt idx="2">
                  <c:v>0.7625</c:v>
                </c:pt>
                <c:pt idx="3">
                  <c:v>0.4625</c:v>
                </c:pt>
                <c:pt idx="4">
                  <c:v>0.75</c:v>
                </c:pt>
                <c:pt idx="5">
                  <c:v>0.725</c:v>
                </c:pt>
                <c:pt idx="6">
                  <c:v>0.625</c:v>
                </c:pt>
                <c:pt idx="7">
                  <c:v>0.3625</c:v>
                </c:pt>
              </c:numCache>
            </c:numRef>
          </c:val>
        </c:ser>
        <c:ser>
          <c:idx val="1"/>
          <c:order val="1"/>
          <c:tx>
            <c:strRef>
              <c:f>Sheet1!$C$1</c:f>
              <c:strCache>
                <c:ptCount val="1"/>
                <c:pt idx="0">
                  <c:v>Equal weights</c:v>
                </c:pt>
              </c:strCache>
            </c:strRef>
          </c:tx>
          <c:spPr>
            <a:solidFill>
              <a:srgbClr val="B0AEA5"/>
            </a:solidFill>
            <a:effectLst/>
          </c:spPr>
          <c:invertIfNegative val="0"/>
          <c:dLbls>
            <c:numFmt formatCode="0%" sourceLinked="0"/>
            <c:txPr>
              <a:bodyPr/>
              <a:lstStyle/>
              <a:p>
                <a:pPr>
                  <a:defRPr b="0" i="0" strike="noStrike" sz="1200" u="none">
                    <a:solidFill>
                      <a:srgbClr val="141413"/>
                    </a:solidFill>
                    <a:latin typeface="+mn-lt"/>
                  </a:defRPr>
                </a:pPr>
              </a:p>
            </c:txPr>
            <c:showLegendKey val="0"/>
            <c:showVal val="1"/>
            <c:showCatName val="0"/>
            <c:showSerName val="0"/>
            <c:showPercent val="0"/>
            <c:showBubbleSize val="0"/>
            <c:showLeaderLines val="0"/>
          </c:dLbls>
          <c:cat>
            <c:multiLvlStrRef>
              <c:f>Sheet1!$A$2:$A$9</c:f>
              <c:multiLvlStrCache>
                <c:ptCount val="8"/>
                <c:lvl>
                  <c:pt idx="0">
                    <c:v>S1</c:v>
                  </c:pt>
                  <c:pt idx="1">
                    <c:v>S2</c:v>
                  </c:pt>
                  <c:pt idx="2">
                    <c:v>S3</c:v>
                  </c:pt>
                  <c:pt idx="3">
                    <c:v>S4</c:v>
                  </c:pt>
                  <c:pt idx="4">
                    <c:v>S5</c:v>
                  </c:pt>
                  <c:pt idx="5">
                    <c:v>S6</c:v>
                  </c:pt>
                  <c:pt idx="6">
                    <c:v>S7</c:v>
                  </c:pt>
                  <c:pt idx="7">
                    <c:v>S8</c:v>
                  </c:pt>
                </c:lvl>
              </c:multiLvlStrCache>
            </c:multiLvlStrRef>
          </c:cat>
          <c:val>
            <c:numRef>
              <c:f>Sheet1!$C$2:$C$9</c:f>
              <c:numCache>
                <c:formatCode>General</c:formatCode>
                <c:ptCount val="8"/>
                <c:pt idx="0">
                  <c:v>0.875</c:v>
                </c:pt>
                <c:pt idx="1">
                  <c:v>0.625</c:v>
                </c:pt>
                <c:pt idx="2">
                  <c:v>0.75</c:v>
                </c:pt>
                <c:pt idx="3">
                  <c:v>0.5</c:v>
                </c:pt>
                <c:pt idx="4">
                  <c:v>0.75</c:v>
                </c:pt>
                <c:pt idx="5">
                  <c:v>0.6875</c:v>
                </c:pt>
                <c:pt idx="6">
                  <c:v>0.625</c:v>
                </c:pt>
                <c:pt idx="7">
                  <c:v>0.375</c:v>
                </c:pt>
              </c:numCache>
            </c:numRef>
          </c:val>
        </c:ser>
        <c:dLbls>
          <c:numFmt formatCode="0%" sourceLinked="0"/>
          <c:txPr>
            <a:bodyPr/>
            <a:lstStyle/>
            <a:p>
              <a:pPr>
                <a:defRPr b="0" i="0" strike="noStrike" sz="1200" u="none">
                  <a:solidFill>
                    <a:srgbClr val="14141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141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6D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B0AEA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from a question: how do we assess what the student does, not what they choose? Today's product is a performance task and its weighted rubric, and they go into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S4 and S6 from the Excel file. Collect the vote on the board without comment, and return to it after showing the effect of the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students to classify outcomes from their blueprints: which of them really needs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of an unfair context: a task about air travel for students who have not travelled.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course's portfolio is a living example: a product each week, then reflection and an oral defense in Week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scientific constraint: the filter does not remove dissolved substances and cannot be relied on to remove microorganisms, so the water does not become drinkable. This is the first draft, later amended in the role and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that recurs most in Claude's drafts. Every verb in the assessment task corresponds to a criterion in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is devoted to generalisability because it is the most neglected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checklist to the first draft with the students before showing the number: 5 out of 8, "Needs fundamental review". After the three additions: 8 out of 8, "Ready for piloting". The checklist was prepared by the course, and its thresholds are guiding.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score for the team is a problem of fairness and validity at the same time: the score no longer describes its holder's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direct conversation the student asks for the solution with minimal interaction. Link to the two-lane approach at the University of Sydney and the UAE University policy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 S6 on the board, then ask the students to calculate S4 (1, 2, 1, 4): 46.25% versus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changed only in tied cases: S3 separated from S5, and S7 from S2. The rank function in Excel gives tied students the same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weights express the outcome "plans to separate the components of a mixture"? Weights are set before seeing the performance and justified by the outcome. Do not show the results of S1, S3, S7 and S8 with the alternative weights, as they are in the workshop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real draft from your own trial before the lecture, and ask the students to identify the problems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cut short checking the draft and fixing the descriptors. And recall the calibration in Week 8 before scoring any class with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now. Return to the opening vote: S6 is ahead of S4 under all three weightings tried, and the gap widens as the science criteria get heavier.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41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AF9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800" b="1" dirty="0">
                <a:solidFill>
                  <a:srgbClr val="141413"/>
                </a:solidFill>
                <a:latin typeface="Calibri" pitchFamily="34" charset="0"/>
                <a:ea typeface="Calibri" pitchFamily="34" charset="-122"/>
                <a:cs typeface="Calibri" pitchFamily="34" charset="-120"/>
              </a:defRPr>
            </a:lvl1pPr>
          </a:lstStyle>
          <a:p>
            <a:pPr algn="l" indent="0" marL="0">
              <a:buNone/>
            </a:pPr>
            <a:endParaRPr lang="en-US" sz="3800" dirty="0"/>
          </a:p>
        </p:txBody>
      </p:sp>
      <p:sp>
        <p:nvSpPr>
          <p:cNvPr id="3" name="Text 0"/>
          <p:cNvSpPr/>
          <p:nvPr/>
        </p:nvSpPr>
        <p:spPr>
          <a:xfrm>
            <a:off x="548640" y="6355080"/>
            <a:ext cx="5696712" cy="274320"/>
          </a:xfrm>
          <a:prstGeom prst="rect">
            <a:avLst/>
          </a:prstGeom>
          <a:noFill/>
          <a:ln/>
        </p:spPr>
        <p:txBody>
          <a:bodyPr wrap="square" lIns="0" tIns="0" rIns="0" bIns="0" rtlCol="0" anchor="ctr"/>
          <a:lstStyle/>
          <a:p>
            <a:pPr algn="l" indent="0" marL="0">
              <a:buNone/>
            </a:pPr>
            <a:r>
              <a:rPr lang="en-US" sz="1200" dirty="0">
                <a:solidFill>
                  <a:srgbClr val="B0AEA5"/>
                </a:solidFill>
                <a:latin typeface="Calibri" pitchFamily="34" charset="0"/>
                <a:ea typeface="Calibri" pitchFamily="34" charset="-122"/>
                <a:cs typeface="Calibri" pitchFamily="34" charset="-120"/>
              </a:rPr>
              <a:t>Educational Measurement and Evaluation · Week 9</a:t>
            </a:r>
            <a:endParaRPr lang="en-US" sz="1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Week 9</a:t>
            </a:r>
            <a:endParaRPr lang="en-US" sz="2800" dirty="0"/>
          </a:p>
        </p:txBody>
      </p:sp>
      <p:sp>
        <p:nvSpPr>
          <p:cNvPr id="3" name="Text 1"/>
          <p:cNvSpPr txBox="1"/>
          <p:nvPr/>
        </p:nvSpPr>
        <p:spPr>
          <a:xfrm>
            <a:off x="548640" y="2011680"/>
            <a:ext cx="11091672" cy="1645920"/>
          </a:xfrm>
          <a:prstGeom prst="rect">
            <a:avLst/>
          </a:prstGeom>
          <a:noFill/>
          <a:ln/>
        </p:spPr>
        <p:txBody>
          <a:bodyPr wrap="square" lIns="0" tIns="0" rIns="0" bIns="0" rtlCol="0" anchor="ctr">
            <a:normAutofit/>
          </a:bodyPr>
          <a:lstStyle/>
          <a:p>
            <a:pPr algn="l" indent="0" marL="0">
              <a:buNone/>
            </a:pPr>
            <a:r>
              <a:rPr lang="en-US" sz="5400" b="1" dirty="0">
                <a:solidFill>
                  <a:srgbClr val="FFFFFF"/>
                </a:solidFill>
                <a:latin typeface="Calibri" pitchFamily="34" charset="0"/>
                <a:ea typeface="Calibri" pitchFamily="34" charset="-122"/>
                <a:cs typeface="Calibri" pitchFamily="34" charset="-120"/>
              </a:rPr>
              <a:t>Performance and Alternative Assessment</a:t>
            </a:r>
            <a:endParaRPr lang="en-US" sz="5400" dirty="0"/>
          </a:p>
        </p:txBody>
      </p:sp>
      <p:sp>
        <p:nvSpPr>
          <p:cNvPr id="4" name="Text 2"/>
          <p:cNvSpPr txBox="1"/>
          <p:nvPr/>
        </p:nvSpPr>
        <p:spPr>
          <a:xfrm>
            <a:off x="548640" y="3840480"/>
            <a:ext cx="11091672" cy="82296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An authentic task with the GRASPS model and a weighted rubric</a:t>
            </a:r>
            <a:endParaRPr lang="en-US" sz="24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97280" cy="1280160"/>
          </a:xfrm>
          <a:prstGeom prst="rect">
            <a:avLst/>
          </a:prstGeom>
          <a:noFill/>
          <a:ln/>
        </p:spPr>
        <p:txBody>
          <a:bodyPr wrap="square" lIns="0" tIns="0" rIns="0" bIns="0" rtlCol="0" anchor="t">
            <a:normAutofit/>
          </a:bodyPr>
          <a:lstStyle/>
          <a:p>
            <a:pPr algn="l" indent="0" marL="0">
              <a:buNone/>
            </a:pPr>
            <a:r>
              <a:rPr lang="en-US" sz="12000" b="1" dirty="0">
                <a:solidFill>
                  <a:srgbClr val="D97757"/>
                </a:solidFill>
                <a:latin typeface="Calibri" pitchFamily="34" charset="0"/>
                <a:ea typeface="Calibri" pitchFamily="34" charset="-122"/>
                <a:cs typeface="Calibri" pitchFamily="34" charset="-120"/>
              </a:rPr>
              <a:t>“</a:t>
            </a:r>
            <a:endParaRPr lang="en-US" sz="12000" dirty="0"/>
          </a:p>
        </p:txBody>
      </p:sp>
      <p:sp>
        <p:nvSpPr>
          <p:cNvPr id="3" name="Text 1"/>
          <p:cNvSpPr txBox="1"/>
          <p:nvPr/>
        </p:nvSpPr>
        <p:spPr>
          <a:xfrm>
            <a:off x="548640" y="1463040"/>
            <a:ext cx="10543032" cy="2286000"/>
          </a:xfrm>
          <a:prstGeom prst="rect">
            <a:avLst/>
          </a:prstGeom>
          <a:noFill/>
          <a:ln/>
        </p:spPr>
        <p:txBody>
          <a:bodyPr wrap="square" lIns="0" tIns="0" rIns="0" bIns="0" rtlCol="0" anchor="ctr">
            <a:normAutofit/>
          </a:bodyPr>
          <a:lstStyle/>
          <a:p>
            <a:pPr algn="l" indent="0" marL="0">
              <a:buNone/>
            </a:pPr>
            <a:r>
              <a:rPr lang="en-US" sz="3400" dirty="0">
                <a:solidFill>
                  <a:srgbClr val="FFFFFF"/>
                </a:solidFill>
                <a:latin typeface="Calibri" pitchFamily="34" charset="0"/>
                <a:ea typeface="Calibri" pitchFamily="34" charset="-122"/>
                <a:cs typeface="Calibri" pitchFamily="34" charset="-120"/>
              </a:rPr>
              <a:t>One student wrote a clear recommendation to the committee suggesting an improvement, but their filter design has no justification and their explanation is missing. Another student designed and measured precisely, and their recommendation is weak.</a:t>
            </a:r>
            <a:endParaRPr lang="en-US" sz="3400" dirty="0"/>
          </a:p>
        </p:txBody>
      </p:sp>
      <p:sp>
        <p:nvSpPr>
          <p:cNvPr id="4" name="Text 2"/>
          <p:cNvSpPr txBox="1"/>
          <p:nvPr/>
        </p:nvSpPr>
        <p:spPr>
          <a:xfrm>
            <a:off x="548640" y="4023360"/>
            <a:ext cx="10543032" cy="914400"/>
          </a:xfrm>
          <a:prstGeom prst="rect">
            <a:avLst/>
          </a:prstGeom>
          <a:noFill/>
          <a:ln/>
        </p:spPr>
        <p:txBody>
          <a:bodyPr wrap="square" lIns="0" tIns="0" rIns="0" bIns="0" rtlCol="0" anchor="t">
            <a:normAutofit/>
          </a:bodyPr>
          <a:lstStyle/>
          <a:p>
            <a:pPr algn="l" indent="0" marL="0">
              <a:buNone/>
            </a:pPr>
            <a:r>
              <a:rPr lang="en-US" sz="3200" b="1" dirty="0">
                <a:solidFill>
                  <a:srgbClr val="D97757"/>
                </a:solidFill>
                <a:latin typeface="Calibri" pitchFamily="34" charset="0"/>
                <a:ea typeface="Calibri" pitchFamily="34" charset="-122"/>
                <a:cs typeface="Calibri" pitchFamily="34" charset="-120"/>
              </a:rPr>
              <a:t>Who deserves a higher rank?</a:t>
            </a:r>
            <a:endParaRPr lang="en-US" sz="3200" dirty="0"/>
          </a:p>
        </p:txBody>
      </p:sp>
      <p:sp>
        <p:nvSpPr>
          <p:cNvPr id="5" name="Text 3"/>
          <p:cNvSpPr txBox="1"/>
          <p:nvPr/>
        </p:nvSpPr>
        <p:spPr>
          <a:xfrm>
            <a:off x="548640" y="5029200"/>
            <a:ext cx="10543032" cy="548640"/>
          </a:xfrm>
          <a:prstGeom prst="rect">
            <a:avLst/>
          </a:prstGeom>
          <a:noFill/>
          <a:ln/>
        </p:spPr>
        <p:txBody>
          <a:bodyPr wrap="square" lIns="0" tIns="0" rIns="0" bIns="0" rtlCol="0" anchor="t">
            <a:normAutofit/>
          </a:bodyPr>
          <a:lstStyle/>
          <a:p>
            <a:pPr algn="l" indent="0" marL="0">
              <a:buNone/>
            </a:pPr>
            <a:r>
              <a:rPr lang="en-US" sz="2000" dirty="0">
                <a:solidFill>
                  <a:srgbClr val="B0AEA5"/>
                </a:solidFill>
                <a:latin typeface="Calibri" pitchFamily="34" charset="0"/>
                <a:ea typeface="Calibri" pitchFamily="34" charset="-122"/>
                <a:cs typeface="Calibri" pitchFamily="34" charset="-120"/>
              </a:rPr>
              <a:t>The answer depends on what your rubric's weights declare to be important.</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When is performance assessment worth its cost?</a:t>
            </a:r>
            <a:endParaRPr lang="en-US" sz="3800" dirty="0"/>
          </a:p>
        </p:txBody>
      </p:sp>
      <p:sp>
        <p:nvSpPr>
          <p:cNvPr id="3" name="card-0"/>
          <p:cNvSpPr/>
          <p:nvPr/>
        </p:nvSpPr>
        <p:spPr>
          <a:xfrm>
            <a:off x="548640" y="1554480"/>
            <a:ext cx="3483864" cy="356616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The outcome requires performance</a:t>
            </a:r>
            <a:endParaRPr lang="en-US" sz="2700" dirty="0"/>
          </a:p>
        </p:txBody>
      </p:sp>
      <p:sp>
        <p:nvSpPr>
          <p:cNvPr id="6" name="Text 4"/>
          <p:cNvSpPr txBox="1"/>
          <p:nvPr/>
        </p:nvSpPr>
        <p:spPr>
          <a:xfrm>
            <a:off x="777240" y="3337560"/>
            <a:ext cx="3026664" cy="164592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"Plans to separate the components of a mixture" needs carrying out, whereas "names separation methods" is served by a selected-response item.</a:t>
            </a:r>
            <a:endParaRPr lang="en-US" sz="2000" dirty="0"/>
          </a:p>
        </p:txBody>
      </p:sp>
      <p:sp>
        <p:nvSpPr>
          <p:cNvPr id="7" name="card-1"/>
          <p:cNvSpPr/>
          <p:nvPr/>
        </p:nvSpPr>
        <p:spPr>
          <a:xfrm>
            <a:off x="4352544" y="1554480"/>
            <a:ext cx="3483864" cy="356616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4672584"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4581144"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The outcome is important</a:t>
            </a:r>
            <a:endParaRPr lang="en-US" sz="2700" dirty="0"/>
          </a:p>
        </p:txBody>
      </p:sp>
      <p:sp>
        <p:nvSpPr>
          <p:cNvPr id="10" name="Text 8"/>
          <p:cNvSpPr txBox="1"/>
          <p:nvPr/>
        </p:nvSpPr>
        <p:spPr>
          <a:xfrm>
            <a:off x="4581144" y="3337560"/>
            <a:ext cx="3026664" cy="164592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We do not spend three lessons on an outcome whose weight in the test blueprint is marginal.</a:t>
            </a:r>
            <a:endParaRPr lang="en-US" sz="2000" dirty="0"/>
          </a:p>
        </p:txBody>
      </p:sp>
      <p:sp>
        <p:nvSpPr>
          <p:cNvPr id="11" name="card-2"/>
          <p:cNvSpPr/>
          <p:nvPr/>
        </p:nvSpPr>
        <p:spPr>
          <a:xfrm>
            <a:off x="8156448" y="1554480"/>
            <a:ext cx="3483864" cy="356616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8476488"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8385048"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The resources are available</a:t>
            </a:r>
            <a:endParaRPr lang="en-US" sz="2700" dirty="0"/>
          </a:p>
        </p:txBody>
      </p:sp>
      <p:sp>
        <p:nvSpPr>
          <p:cNvPr id="14" name="Text 12"/>
          <p:cNvSpPr txBox="1"/>
          <p:nvPr/>
        </p:nvSpPr>
        <p:spPr>
          <a:xfrm>
            <a:off x="8385048" y="3337560"/>
            <a:ext cx="3026664" cy="164592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Time, materials and the capacity for fair assessment. A task that cannot be carried out in your school is not a good task.</a:t>
            </a:r>
            <a:endParaRPr lang="en-US" sz="2000" dirty="0"/>
          </a:p>
        </p:txBody>
      </p:sp>
      <p:sp>
        <p:nvSpPr>
          <p:cNvPr id="15"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Its cost: teaching time, materials, longer scoring, and weaker inter-rater agreement.</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Authentic assessment</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Non-authentic task</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Separate sand from water as in the textbook</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Memorised steps with no decision</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Success is repeating the procedure</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Authentic task</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Muddy water at a school camp and available materials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The student chooses, arranges and justifies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Measurement, explanation and a recommendation for a real audience</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Authenticity is not the goal: an engaging story does not make up for the absence of the outcome, and an unfamiliar context harms fairness.</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Forms of alternative assessment</a:t>
            </a:r>
            <a:endParaRPr lang="en-US" sz="3800" dirty="0"/>
          </a:p>
        </p:txBody>
      </p:sp>
      <p:sp>
        <p:nvSpPr>
          <p:cNvPr id="3" name="card-0"/>
          <p:cNvSpPr/>
          <p:nvPr/>
        </p:nvSpPr>
        <p:spPr>
          <a:xfrm>
            <a:off x="548640"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project</a:t>
            </a:r>
            <a:endParaRPr lang="en-US" sz="2400" dirty="0"/>
          </a:p>
        </p:txBody>
      </p:sp>
      <p:sp>
        <p:nvSpPr>
          <p:cNvPr id="6" name="Text 4"/>
          <p:cNvSpPr txBox="1"/>
          <p:nvPr/>
        </p:nvSpPr>
        <p:spPr>
          <a:xfrm>
            <a:off x="777240"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Extended work ending in a product. A large part may be done outside class.</a:t>
            </a:r>
            <a:endParaRPr lang="en-US" sz="1800" dirty="0"/>
          </a:p>
        </p:txBody>
      </p:sp>
      <p:sp>
        <p:nvSpPr>
          <p:cNvPr id="7" name="card-1"/>
          <p:cNvSpPr/>
          <p:nvPr/>
        </p:nvSpPr>
        <p:spPr>
          <a:xfrm>
            <a:off x="3401568"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portfolio</a:t>
            </a:r>
            <a:endParaRPr lang="en-US" sz="2400" dirty="0"/>
          </a:p>
        </p:txBody>
      </p:sp>
      <p:sp>
        <p:nvSpPr>
          <p:cNvPr id="10" name="Text 8"/>
          <p:cNvSpPr txBox="1"/>
          <p:nvPr/>
        </p:nvSpPr>
        <p:spPr>
          <a:xfrm>
            <a:off x="3630168"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Selected work with reflection on it that shows growth. Needs announced selection criteria.</a:t>
            </a:r>
            <a:endParaRPr lang="en-US" sz="1800" dirty="0"/>
          </a:p>
        </p:txBody>
      </p:sp>
      <p:sp>
        <p:nvSpPr>
          <p:cNvPr id="11" name="card-2"/>
          <p:cNvSpPr/>
          <p:nvPr/>
        </p:nvSpPr>
        <p:spPr>
          <a:xfrm>
            <a:off x="6254496"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Observation with a checklist</a:t>
            </a:r>
            <a:endParaRPr lang="en-US" sz="2400" dirty="0"/>
          </a:p>
        </p:txBody>
      </p:sp>
      <p:sp>
        <p:nvSpPr>
          <p:cNvPr id="14" name="Text 12"/>
          <p:cNvSpPr txBox="1"/>
          <p:nvPr/>
        </p:nvSpPr>
        <p:spPr>
          <a:xfrm>
            <a:off x="6483096"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Did the behaviour appear? Yes or no. For quality we need a rubric.</a:t>
            </a:r>
            <a:endParaRPr lang="en-US" sz="1800" dirty="0"/>
          </a:p>
        </p:txBody>
      </p:sp>
      <p:sp>
        <p:nvSpPr>
          <p:cNvPr id="15" name="card-3"/>
          <p:cNvSpPr/>
          <p:nvPr/>
        </p:nvSpPr>
        <p:spPr>
          <a:xfrm>
            <a:off x="9107424"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presentation</a:t>
            </a:r>
            <a:endParaRPr lang="en-US" sz="2400" dirty="0"/>
          </a:p>
        </p:txBody>
      </p:sp>
      <p:sp>
        <p:nvSpPr>
          <p:cNvPr id="18" name="Text 16"/>
          <p:cNvSpPr txBox="1"/>
          <p:nvPr/>
        </p:nvSpPr>
        <p:spPr>
          <a:xfrm>
            <a:off x="9336024"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Oral presentation and answering questions. May reward fluency instead of science.</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GRASPS model: the first draft</a:t>
            </a:r>
            <a:endParaRPr lang="en-US" sz="38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198349"/>
                <a:gridCol w="8893323"/>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Element</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The water filter task</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Goal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filter from available materials that improves the clarity of muddy water</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Role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member of the school science team</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Audience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The school sustainability committee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Situation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Water cut off from a camp; improve clarity before disinfection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Product or performance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working filter, a table of measurements, and a one-page recommendation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Success criteria</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justified design, repeatable measurement, explanation, and a recommendation with limits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It measures outcome O6 from the Week 6 blueprint: plans to separate the components of a mixture using suitable methods.</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An assessment task or an activity?</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Activity</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Make a filter and decorate it</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And display it at the school exhibition</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No measurement, no justification and no explanation</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Assessment task</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Design and justify the order of the layers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Measure clarity before and after filtering</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Explain the results and make a recommendation to the committee</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The decisive question: what evidence of the outcome will remain for us to assess?</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Quality criteria (Linn, Baker and Dunbar, 1991)</a:t>
            </a:r>
            <a:endParaRPr lang="en-US" sz="3800" dirty="0"/>
          </a:p>
        </p:txBody>
      </p:sp>
      <p:sp>
        <p:nvSpPr>
          <p:cNvPr id="3" name="card-0"/>
          <p:cNvSpPr/>
          <p:nvPr/>
        </p:nvSpPr>
        <p:spPr>
          <a:xfrm>
            <a:off x="548640"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Consequences and fairness</a:t>
            </a:r>
            <a:endParaRPr lang="en-US" sz="2400" dirty="0"/>
          </a:p>
        </p:txBody>
      </p:sp>
      <p:sp>
        <p:nvSpPr>
          <p:cNvPr id="6" name="Text 4"/>
          <p:cNvSpPr txBox="1"/>
          <p:nvPr/>
        </p:nvSpPr>
        <p:spPr>
          <a:xfrm>
            <a:off x="777240"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What is the task's effect on teaching? And is the opportunity equal in materials, language and experience?</a:t>
            </a:r>
            <a:endParaRPr lang="en-US" sz="1800" dirty="0"/>
          </a:p>
        </p:txBody>
      </p:sp>
      <p:sp>
        <p:nvSpPr>
          <p:cNvPr id="7" name="card-1"/>
          <p:cNvSpPr/>
          <p:nvPr/>
        </p:nvSpPr>
        <p:spPr>
          <a:xfrm>
            <a:off x="3401568"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Cognitive complexity</a:t>
            </a:r>
            <a:endParaRPr lang="en-US" sz="2400" dirty="0"/>
          </a:p>
        </p:txBody>
      </p:sp>
      <p:sp>
        <p:nvSpPr>
          <p:cNvPr id="10" name="Text 8"/>
          <p:cNvSpPr txBox="1"/>
          <p:nvPr/>
        </p:nvSpPr>
        <p:spPr>
          <a:xfrm>
            <a:off x="3630168"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Does it really require reasoning, not carrying out memorised steps?</a:t>
            </a:r>
            <a:endParaRPr lang="en-US" sz="1800" dirty="0"/>
          </a:p>
        </p:txBody>
      </p:sp>
      <p:sp>
        <p:nvSpPr>
          <p:cNvPr id="11" name="card-2"/>
          <p:cNvSpPr/>
          <p:nvPr/>
        </p:nvSpPr>
        <p:spPr>
          <a:xfrm>
            <a:off x="6254496"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Content quality and coverage</a:t>
            </a:r>
            <a:endParaRPr lang="en-US" sz="2400" dirty="0"/>
          </a:p>
        </p:txBody>
      </p:sp>
      <p:sp>
        <p:nvSpPr>
          <p:cNvPr id="14" name="Text 12"/>
          <p:cNvSpPr txBox="1"/>
          <p:nvPr/>
        </p:nvSpPr>
        <p:spPr>
          <a:xfrm>
            <a:off x="6483096"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Correct and important content, with awareness that the task covers a small part of the unit.</a:t>
            </a:r>
            <a:endParaRPr lang="en-US" sz="1800" dirty="0"/>
          </a:p>
        </p:txBody>
      </p:sp>
      <p:sp>
        <p:nvSpPr>
          <p:cNvPr id="15" name="card-3"/>
          <p:cNvSpPr/>
          <p:nvPr/>
        </p:nvSpPr>
        <p:spPr>
          <a:xfrm>
            <a:off x="9107424"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Meaningfulness and cost</a:t>
            </a:r>
            <a:endParaRPr lang="en-US" sz="2400" dirty="0"/>
          </a:p>
        </p:txBody>
      </p:sp>
      <p:sp>
        <p:nvSpPr>
          <p:cNvPr id="18" name="Text 16"/>
          <p:cNvSpPr txBox="1"/>
          <p:nvPr/>
        </p:nvSpPr>
        <p:spPr>
          <a:xfrm>
            <a:off x="9336024"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Does the student see value in what they do? And is the result worth the time and effort?</a:t>
            </a:r>
            <a:endParaRPr lang="en-US" sz="1800" dirty="0"/>
          </a:p>
        </p:txBody>
      </p:sp>
      <p:sp>
        <p:nvSpPr>
          <p:cNvPr id="19"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And the hardest criterion: transfer and generalisability.</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known weakness: generalisability</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A single task is a small sample of performance. An unfamiliar context, a broken tool or a bad day changes the whole judgement.</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three additions: an individual log and recommendation, work in class with an oral question, and combining the task with the O6 items in the test.</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The filter task on the checklist</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5 → 8</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The first draft, then after three additions</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Individual and group work</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Group</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Building the model</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Taking the measurements together</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Individual</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Justifying the design in the log</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Recording the readings in one's own table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The explanation and recommendation in class</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Work as a group, and assess individually whatever can be separated. A contribution log is supporting evidence and not enough on its own.</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Authenticity of work with AI tools</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Design the task so that it is hard for anyone other than the student to produce it: measurement and writing in class, documenting the process, and a short oral check.</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Automated detection tools cannot be relied on alone. Specify what is allowed and what is prohibited, and require disclosure.</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of student conversations were "direct"</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47%</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About 574,740 anonymised conversations of university students (Anthropic, April 2025)</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weighted analytic rubric</a:t>
            </a:r>
            <a:endParaRPr lang="en-US" sz="3800" dirty="0"/>
          </a:p>
        </p:txBody>
      </p:sp>
      <p:sp>
        <p:nvSpPr>
          <p:cNvPr id="3" name="Text 1"/>
          <p:cNvSpPr txBox="1"/>
          <p:nvPr/>
        </p:nvSpPr>
        <p:spPr>
          <a:xfrm>
            <a:off x="548640" y="1554480"/>
            <a:ext cx="11091672" cy="1188720"/>
          </a:xfrm>
          <a:prstGeom prst="rect">
            <a:avLst/>
          </a:prstGeom>
          <a:noFill/>
          <a:ln/>
        </p:spPr>
        <p:txBody>
          <a:bodyPr wrap="square" lIns="0" tIns="0" rIns="0" bIns="0" rtlCol="0" anchor="t">
            <a:normAutofit/>
          </a:bodyPr>
          <a:lstStyle/>
          <a:p>
            <a:pPr algn="l" indent="0" marL="0">
              <a:buNone/>
            </a:pPr>
            <a:r>
              <a:rPr lang="en-US" sz="2400" dirty="0">
                <a:solidFill>
                  <a:srgbClr val="141413"/>
                </a:solidFill>
                <a:latin typeface="Calibri" pitchFamily="34" charset="0"/>
                <a:ea typeface="Calibri" pitchFamily="34" charset="-122"/>
                <a:cs typeface="Calibri" pitchFamily="34" charset="-120"/>
              </a:rPr>
              <a:t>We divide the student's level on each criterion by 4, multiply it by the criterion's weight, then add.</a:t>
            </a:r>
            <a:endParaRPr lang="en-US" sz="2400" dirty="0"/>
          </a:p>
        </p:txBody>
      </p:sp>
      <p:sp>
        <p:nvSpPr>
          <p:cNvPr id="4" name="formula"/>
          <p:cNvSpPr/>
          <p:nvPr/>
        </p:nvSpPr>
        <p:spPr>
          <a:xfrm>
            <a:off x="2194560" y="2880360"/>
            <a:ext cx="7799832"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2194560" y="2880360"/>
            <a:ext cx="7799832" cy="960120"/>
          </a:xfrm>
          <a:prstGeom prst="rect">
            <a:avLst/>
          </a:prstGeom>
          <a:noFill/>
          <a:ln/>
        </p:spPr>
        <p:txBody>
          <a:bodyPr wrap="square" lIns="0" tIns="0" rIns="0" bIns="0" rtlCol="0" anchor="ctr"/>
          <a:lstStyle/>
          <a:p>
            <a:pPr algn="ctr" indent="0" marL="0">
              <a:buNone/>
            </a:pPr>
            <a:r>
              <a:rPr lang="en-US" sz="2800" dirty="0">
                <a:solidFill>
                  <a:srgbClr val="141413"/>
                </a:solidFill>
                <a:latin typeface="Calibri" pitchFamily="34" charset="0"/>
                <a:ea typeface="Calibri" pitchFamily="34" charset="-122"/>
                <a:cs typeface="Calibri" pitchFamily="34" charset="-120"/>
              </a:rPr>
              <a:t>Weighted % = Σ (level / 4 × weight)</a:t>
            </a:r>
            <a:endParaRPr lang="en-US" sz="2800" dirty="0"/>
          </a:p>
        </p:txBody>
      </p:sp>
      <p:sp>
        <p:nvSpPr>
          <p:cNvPr id="6" name="after"/>
          <p:cNvSpPr/>
          <p:nvPr/>
        </p:nvSpPr>
        <p:spPr>
          <a:xfrm>
            <a:off x="548640" y="4206240"/>
            <a:ext cx="11091672" cy="1645920"/>
          </a:xfrm>
          <a:prstGeom prst="roundRect">
            <a:avLst>
              <a:gd name="adj" fmla="val 6667"/>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7" name="Text 5"/>
          <p:cNvSpPr txBox="1"/>
          <p:nvPr/>
        </p:nvSpPr>
        <p:spPr>
          <a:xfrm>
            <a:off x="914400" y="4206240"/>
            <a:ext cx="10360152" cy="1645920"/>
          </a:xfrm>
          <a:prstGeom prst="rect">
            <a:avLst/>
          </a:prstGeom>
          <a:noFill/>
          <a:ln/>
        </p:spPr>
        <p:txBody>
          <a:bodyPr wrap="square" lIns="0" tIns="0" rIns="0" bIns="0" rtlCol="0" anchor="ctr">
            <a:normAutofit/>
          </a:bodyPr>
          <a:lstStyle/>
          <a:p>
            <a:pPr algn="l" indent="0" marL="0">
              <a:buNone/>
            </a:pPr>
            <a:r>
              <a:rPr lang="en-US" sz="2200" dirty="0">
                <a:solidFill>
                  <a:srgbClr val="FFFFFF"/>
                </a:solidFill>
                <a:latin typeface="Calibri" pitchFamily="34" charset="0"/>
                <a:ea typeface="Calibri" pitchFamily="34" charset="-122"/>
                <a:cs typeface="Calibri" pitchFamily="34" charset="-120"/>
              </a:rPr>
              <a:t>S6 (4, 4, 2, 1) with weights 30, 25, 25 and 20: 30 + 25 + 12.5 + 5 = 72.5%, and with equal weights 68.75%.</a:t>
            </a:r>
            <a:endParaRPr lang="en-US" sz="2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Eight students: weighted or equal?</a:t>
            </a:r>
            <a:endParaRPr lang="en-US" sz="3800" dirty="0"/>
          </a:p>
        </p:txBody>
      </p:sp>
      <p:graphicFrame>
        <p:nvGraphicFramePr>
          <p:cNvPr id="3" name="chart" descr=""/>
          <p:cNvGraphicFramePr/>
          <p:nvPr/>
        </p:nvGraphicFramePr>
        <p:xfrm>
          <a:off x="4873752" y="137160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1554480"/>
            <a:ext cx="3959352" cy="43891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100" dirty="0">
                <a:solidFill>
                  <a:srgbClr val="141413"/>
                </a:solidFill>
                <a:latin typeface="Calibri" pitchFamily="34" charset="0"/>
                <a:ea typeface="Calibri" pitchFamily="34" charset="-122"/>
                <a:cs typeface="Calibri" pitchFamily="34" charset="-120"/>
              </a:rPr>
              <a:t>The default weights change little: the largest difference is 3.75 points.</a:t>
            </a:r>
            <a:endParaRPr lang="en-US" sz="2100" dirty="0"/>
          </a:p>
          <a:p>
            <a:pPr algn="l" marL="342900" indent="-342900">
              <a:spcAft>
                <a:spcPts val="1000"/>
              </a:spcAft>
              <a:buSzPct val="100000"/>
              <a:buChar char="•"/>
            </a:pPr>
            <a:r>
              <a:rPr lang="en-US" sz="2100" dirty="0">
                <a:solidFill>
                  <a:srgbClr val="141413"/>
                </a:solidFill>
                <a:latin typeface="Calibri" pitchFamily="34" charset="0"/>
                <a:ea typeface="Calibri" pitchFamily="34" charset="-122"/>
                <a:cs typeface="Calibri" pitchFamily="34" charset="-120"/>
              </a:rPr>
              <a:t>S4 and S2, whose strength is in communication, lose.</a:t>
            </a:r>
            <a:endParaRPr lang="en-US" sz="2100" dirty="0"/>
          </a:p>
          <a:p>
            <a:pPr algn="l" marL="342900" indent="-342900">
              <a:spcAft>
                <a:spcPts val="1000"/>
              </a:spcAft>
              <a:buSzPct val="100000"/>
              <a:buChar char="•"/>
            </a:pPr>
            <a:r>
              <a:rPr lang="en-US" sz="2100" dirty="0">
                <a:solidFill>
                  <a:srgbClr val="141413"/>
                </a:solidFill>
                <a:latin typeface="Calibri" pitchFamily="34" charset="0"/>
                <a:ea typeface="Calibri" pitchFamily="34" charset="-122"/>
                <a:cs typeface="Calibri" pitchFamily="34" charset="-120"/>
              </a:rPr>
              <a:t>S6, whose strength is in design and measurement, gains.</a:t>
            </a:r>
            <a:endParaRPr lang="en-US" sz="21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Weights are a pedagogical decision that declares what matters to you</a:t>
            </a:r>
            <a:endParaRPr lang="en-US" sz="38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990813"/>
                <a:gridCol w="3128420"/>
                <a:gridCol w="3128420"/>
                <a:gridCol w="2844018"/>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Student</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30/25/25/20</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40/30/20/10</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Equal</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S6</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72.5% (4)</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82.5% (2)</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68.75% (4)</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S5</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75% (3)</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75% (4)</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75% (2)</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S2</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60% (6)</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55% (6)</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62.5% (5)</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S4</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46.25% (7)</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40% (7)</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50% (7)</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The number in brackets is the rank among the eight students.</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Claude drafts, and you judge</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What it does well</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 GRASPS draft in a minute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An analytic rubric with levels and weights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Critiquing its own draft with a specific checklist</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What you check yourself</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An activity, not an assessment</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Criteria that reward presentation, not science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Unrealistic resources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Vague descriptors</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Use level 2: Documented collaboration. Document what you took and what you changed and why.</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This week's workshop</a:t>
            </a:r>
            <a:endParaRPr lang="en-US" sz="3800" dirty="0"/>
          </a:p>
        </p:txBody>
      </p:sp>
      <p:sp>
        <p:nvSpPr>
          <p:cNvPr id="3" name="step-1"/>
          <p:cNvSpPr/>
          <p:nvPr/>
        </p:nvSpPr>
        <p:spPr>
          <a:xfrm>
            <a:off x="548640"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Text 2"/>
          <p:cNvSpPr txBox="1"/>
          <p:nvPr/>
        </p:nvSpPr>
        <p:spPr>
          <a:xfrm>
            <a:off x="777240"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1</a:t>
            </a:r>
            <a:endParaRPr lang="en-US" sz="4000" dirty="0"/>
          </a:p>
        </p:txBody>
      </p:sp>
      <p:sp>
        <p:nvSpPr>
          <p:cNvPr id="5" name="Text 3"/>
          <p:cNvSpPr txBox="1"/>
          <p:nvPr/>
        </p:nvSpPr>
        <p:spPr>
          <a:xfrm>
            <a:off x="2371039"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5 min</a:t>
            </a:r>
            <a:endParaRPr lang="en-US" sz="1700" dirty="0"/>
          </a:p>
        </p:txBody>
      </p:sp>
      <p:sp>
        <p:nvSpPr>
          <p:cNvPr id="6" name="Text 4"/>
          <p:cNvSpPr txBox="1"/>
          <p:nvPr/>
        </p:nvSpPr>
        <p:spPr>
          <a:xfrm>
            <a:off x="777240"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Choose an outcome from your Week 6 blueprint</a:t>
            </a:r>
            <a:endParaRPr lang="en-US" sz="2100" dirty="0"/>
          </a:p>
        </p:txBody>
      </p:sp>
      <p:sp>
        <p:nvSpPr>
          <p:cNvPr id="7" name="step-2"/>
          <p:cNvSpPr/>
          <p:nvPr/>
        </p:nvSpPr>
        <p:spPr>
          <a:xfrm>
            <a:off x="4336999"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4565599"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2</a:t>
            </a:r>
            <a:endParaRPr lang="en-US" sz="4000" dirty="0"/>
          </a:p>
        </p:txBody>
      </p:sp>
      <p:sp>
        <p:nvSpPr>
          <p:cNvPr id="9" name="Text 7"/>
          <p:cNvSpPr txBox="1"/>
          <p:nvPr/>
        </p:nvSpPr>
        <p:spPr>
          <a:xfrm>
            <a:off x="6160313"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10" name="Text 8"/>
          <p:cNvSpPr txBox="1"/>
          <p:nvPr/>
        </p:nvSpPr>
        <p:spPr>
          <a:xfrm>
            <a:off x="4565599"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Claude drafts a GRASPS task</a:t>
            </a:r>
            <a:endParaRPr lang="en-US" sz="2100" dirty="0"/>
          </a:p>
        </p:txBody>
      </p:sp>
      <p:sp>
        <p:nvSpPr>
          <p:cNvPr id="11" name="step-3"/>
          <p:cNvSpPr/>
          <p:nvPr/>
        </p:nvSpPr>
        <p:spPr>
          <a:xfrm>
            <a:off x="8126273"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8354873"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3</a:t>
            </a:r>
            <a:endParaRPr lang="en-US" sz="4000" dirty="0"/>
          </a:p>
        </p:txBody>
      </p:sp>
      <p:sp>
        <p:nvSpPr>
          <p:cNvPr id="13" name="Text 11"/>
          <p:cNvSpPr txBox="1"/>
          <p:nvPr/>
        </p:nvSpPr>
        <p:spPr>
          <a:xfrm>
            <a:off x="9948672"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20 min</a:t>
            </a:r>
            <a:endParaRPr lang="en-US" sz="1700" dirty="0"/>
          </a:p>
        </p:txBody>
      </p:sp>
      <p:sp>
        <p:nvSpPr>
          <p:cNvPr id="14" name="Text 12"/>
          <p:cNvSpPr txBox="1"/>
          <p:nvPr/>
        </p:nvSpPr>
        <p:spPr>
          <a:xfrm>
            <a:off x="8354873"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Check the draft, then amend it</a:t>
            </a:r>
            <a:endParaRPr lang="en-US" sz="2100" dirty="0"/>
          </a:p>
        </p:txBody>
      </p:sp>
      <p:sp>
        <p:nvSpPr>
          <p:cNvPr id="15" name="step-4"/>
          <p:cNvSpPr/>
          <p:nvPr/>
        </p:nvSpPr>
        <p:spPr>
          <a:xfrm>
            <a:off x="548640"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777240"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4</a:t>
            </a:r>
            <a:endParaRPr lang="en-US" sz="4000" dirty="0"/>
          </a:p>
        </p:txBody>
      </p:sp>
      <p:sp>
        <p:nvSpPr>
          <p:cNvPr id="17" name="Text 15"/>
          <p:cNvSpPr txBox="1"/>
          <p:nvPr/>
        </p:nvSpPr>
        <p:spPr>
          <a:xfrm>
            <a:off x="2371039"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15 min</a:t>
            </a:r>
            <a:endParaRPr lang="en-US" sz="1700" dirty="0"/>
          </a:p>
        </p:txBody>
      </p:sp>
      <p:sp>
        <p:nvSpPr>
          <p:cNvPr id="18" name="Text 16"/>
          <p:cNvSpPr txBox="1"/>
          <p:nvPr/>
        </p:nvSpPr>
        <p:spPr>
          <a:xfrm>
            <a:off x="777240"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Analytic rubric and fixing the descriptors</a:t>
            </a:r>
            <a:endParaRPr lang="en-US" sz="2100" dirty="0"/>
          </a:p>
        </p:txBody>
      </p:sp>
      <p:sp>
        <p:nvSpPr>
          <p:cNvPr id="19" name="step-5"/>
          <p:cNvSpPr/>
          <p:nvPr/>
        </p:nvSpPr>
        <p:spPr>
          <a:xfrm>
            <a:off x="4336999"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4565599"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5</a:t>
            </a:r>
            <a:endParaRPr lang="en-US" sz="4000" dirty="0"/>
          </a:p>
        </p:txBody>
      </p:sp>
      <p:sp>
        <p:nvSpPr>
          <p:cNvPr id="21" name="Text 19"/>
          <p:cNvSpPr txBox="1"/>
          <p:nvPr/>
        </p:nvSpPr>
        <p:spPr>
          <a:xfrm>
            <a:off x="6160313"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22" name="Text 20"/>
          <p:cNvSpPr txBox="1"/>
          <p:nvPr/>
        </p:nvSpPr>
        <p:spPr>
          <a:xfrm>
            <a:off x="4565599"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The weights and their effect on eight students</a:t>
            </a:r>
            <a:endParaRPr lang="en-US" sz="2100" dirty="0"/>
          </a:p>
        </p:txBody>
      </p:sp>
      <p:sp>
        <p:nvSpPr>
          <p:cNvPr id="23" name="step-6"/>
          <p:cNvSpPr/>
          <p:nvPr/>
        </p:nvSpPr>
        <p:spPr>
          <a:xfrm>
            <a:off x="8126273"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4" name="Text 22"/>
          <p:cNvSpPr txBox="1"/>
          <p:nvPr/>
        </p:nvSpPr>
        <p:spPr>
          <a:xfrm>
            <a:off x="8354873"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6</a:t>
            </a:r>
            <a:endParaRPr lang="en-US" sz="4000" dirty="0"/>
          </a:p>
        </p:txBody>
      </p:sp>
      <p:sp>
        <p:nvSpPr>
          <p:cNvPr id="25" name="Text 23"/>
          <p:cNvSpPr txBox="1"/>
          <p:nvPr/>
        </p:nvSpPr>
        <p:spPr>
          <a:xfrm>
            <a:off x="9948672"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26" name="Text 24"/>
          <p:cNvSpPr txBox="1"/>
          <p:nvPr/>
        </p:nvSpPr>
        <p:spPr>
          <a:xfrm>
            <a:off x="8354873"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Work authenticity plan</a:t>
            </a:r>
            <a:endParaRPr lang="en-US" sz="2100" dirty="0"/>
          </a:p>
        </p:txBody>
      </p:sp>
      <p:sp>
        <p:nvSpPr>
          <p:cNvPr id="27" name="Text 25"/>
          <p:cNvSpPr txBox="1"/>
          <p:nvPr/>
        </p:nvSpPr>
        <p:spPr>
          <a:xfrm>
            <a:off x="548640" y="5897880"/>
            <a:ext cx="11091672" cy="411480"/>
          </a:xfrm>
          <a:prstGeom prst="rect">
            <a:avLst/>
          </a:prstGeom>
          <a:noFill/>
          <a:ln/>
        </p:spPr>
        <p:txBody>
          <a:bodyPr wrap="square" lIns="0" tIns="0" rIns="0" bIns="0" rtlCol="0" anchor="t">
            <a:normAutofit/>
          </a:bodyPr>
          <a:lstStyle/>
          <a:p>
            <a:pPr algn="l" indent="0" marL="0">
              <a:buNone/>
            </a:pPr>
            <a:r>
              <a:rPr lang="en-US" sz="1800" dirty="0">
                <a:solidFill>
                  <a:srgbClr val="B0AEA5"/>
                </a:solidFill>
                <a:latin typeface="Calibri" pitchFamily="34" charset="0"/>
                <a:ea typeface="Calibri" pitchFamily="34" charset="-122"/>
                <a:cs typeface="Calibri" pitchFamily="34" charset="-120"/>
              </a:rPr>
              <a:t>The product goes into the portfolio, and can be added as a performance component to the final version of the test.</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82296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Before you leave</a:t>
            </a:r>
            <a:endParaRPr lang="en-US" sz="2800" dirty="0"/>
          </a:p>
        </p:txBody>
      </p:sp>
      <p:sp>
        <p:nvSpPr>
          <p:cNvPr id="3" name="Text 1"/>
          <p:cNvSpPr txBox="1"/>
          <p:nvPr/>
        </p:nvSpPr>
        <p:spPr>
          <a:xfrm>
            <a:off x="548640" y="1463040"/>
            <a:ext cx="11091672" cy="1371600"/>
          </a:xfrm>
          <a:prstGeom prst="rect">
            <a:avLst/>
          </a:prstGeom>
          <a:noFill/>
          <a:ln/>
        </p:spPr>
        <p:txBody>
          <a:bodyPr wrap="square" lIns="0" tIns="0" rIns="0" bIns="0" rtlCol="0" anchor="ctr">
            <a:normAutofit/>
          </a:bodyPr>
          <a:lstStyle/>
          <a:p>
            <a:pPr algn="l" indent="0" marL="0">
              <a:buNone/>
            </a:pPr>
            <a:r>
              <a:rPr lang="en-US" sz="4800" b="1" dirty="0">
                <a:solidFill>
                  <a:srgbClr val="FFFFFF"/>
                </a:solidFill>
                <a:latin typeface="Calibri" pitchFamily="34" charset="0"/>
                <a:ea typeface="Calibri" pitchFamily="34" charset="-122"/>
                <a:cs typeface="Calibri" pitchFamily="34" charset="-120"/>
              </a:rPr>
              <a:t>Three ideas to take with you</a:t>
            </a:r>
            <a:endParaRPr lang="en-US" sz="4800" dirty="0"/>
          </a:p>
        </p:txBody>
      </p:sp>
      <p:sp>
        <p:nvSpPr>
          <p:cNvPr id="4" name="Shape 2"/>
          <p:cNvSpPr/>
          <p:nvPr/>
        </p:nvSpPr>
        <p:spPr>
          <a:xfrm>
            <a:off x="548640" y="3200400"/>
            <a:ext cx="3453384" cy="2377440"/>
          </a:xfrm>
          <a:prstGeom prst="roundRect">
            <a:avLst>
              <a:gd name="adj" fmla="val 4615"/>
            </a:avLst>
          </a:prstGeom>
          <a:solidFill>
            <a:srgbClr val="2A2A28"/>
          </a:solidFill>
          <a:ln w="12700">
            <a:solidFill>
              <a:srgbClr val="2A2A28"/>
            </a:solidFill>
            <a:prstDash val="solid"/>
          </a:ln>
        </p:spPr>
      </p:sp>
      <p:sp>
        <p:nvSpPr>
          <p:cNvPr id="5" name="Text 3"/>
          <p:cNvSpPr txBox="1"/>
          <p:nvPr/>
        </p:nvSpPr>
        <p:spPr>
          <a:xfrm>
            <a:off x="822960"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From the outcome, not the idea</a:t>
            </a:r>
            <a:endParaRPr lang="en-US" sz="2500" dirty="0"/>
          </a:p>
        </p:txBody>
      </p:sp>
      <p:sp>
        <p:nvSpPr>
          <p:cNvPr id="6" name="Text 4"/>
          <p:cNvSpPr txBox="1"/>
          <p:nvPr/>
        </p:nvSpPr>
        <p:spPr>
          <a:xfrm>
            <a:off x="822960"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The performance task starts from the test blueprint, and leaves evidence corresponding to each criterion.</a:t>
            </a:r>
            <a:endParaRPr lang="en-US" sz="1900" dirty="0"/>
          </a:p>
        </p:txBody>
      </p:sp>
      <p:sp>
        <p:nvSpPr>
          <p:cNvPr id="7" name="Shape 5"/>
          <p:cNvSpPr/>
          <p:nvPr/>
        </p:nvSpPr>
        <p:spPr>
          <a:xfrm>
            <a:off x="4368089" y="3200400"/>
            <a:ext cx="3453384" cy="2377440"/>
          </a:xfrm>
          <a:prstGeom prst="roundRect">
            <a:avLst>
              <a:gd name="adj" fmla="val 4615"/>
            </a:avLst>
          </a:prstGeom>
          <a:solidFill>
            <a:srgbClr val="2A2A28"/>
          </a:solidFill>
          <a:ln w="12700">
            <a:solidFill>
              <a:srgbClr val="2A2A28"/>
            </a:solidFill>
            <a:prstDash val="solid"/>
          </a:ln>
        </p:spPr>
      </p:sp>
      <p:sp>
        <p:nvSpPr>
          <p:cNvPr id="8" name="Text 6"/>
          <p:cNvSpPr txBox="1"/>
          <p:nvPr/>
        </p:nvSpPr>
        <p:spPr>
          <a:xfrm>
            <a:off x="4642409"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One task is not enough</a:t>
            </a:r>
            <a:endParaRPr lang="en-US" sz="2500" dirty="0"/>
          </a:p>
        </p:txBody>
      </p:sp>
      <p:sp>
        <p:nvSpPr>
          <p:cNvPr id="9" name="Text 7"/>
          <p:cNvSpPr txBox="1"/>
          <p:nvPr/>
        </p:nvSpPr>
        <p:spPr>
          <a:xfrm>
            <a:off x="4642409"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Generalisability is weak; combine the task with other evidence, and assess the individual, not the team alone.</a:t>
            </a:r>
            <a:endParaRPr lang="en-US" sz="1900" dirty="0"/>
          </a:p>
        </p:txBody>
      </p:sp>
      <p:sp>
        <p:nvSpPr>
          <p:cNvPr id="10" name="Shape 8"/>
          <p:cNvSpPr/>
          <p:nvPr/>
        </p:nvSpPr>
        <p:spPr>
          <a:xfrm>
            <a:off x="8186623" y="3200400"/>
            <a:ext cx="3453384" cy="2377440"/>
          </a:xfrm>
          <a:prstGeom prst="roundRect">
            <a:avLst>
              <a:gd name="adj" fmla="val 4615"/>
            </a:avLst>
          </a:prstGeom>
          <a:solidFill>
            <a:srgbClr val="2A2A28"/>
          </a:solidFill>
          <a:ln w="12700">
            <a:solidFill>
              <a:srgbClr val="2A2A28"/>
            </a:solidFill>
            <a:prstDash val="solid"/>
          </a:ln>
        </p:spPr>
      </p:sp>
      <p:sp>
        <p:nvSpPr>
          <p:cNvPr id="11" name="Text 9"/>
          <p:cNvSpPr txBox="1"/>
          <p:nvPr/>
        </p:nvSpPr>
        <p:spPr>
          <a:xfrm>
            <a:off x="8460943"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Weights declare what matters</a:t>
            </a:r>
            <a:endParaRPr lang="en-US" sz="2500" dirty="0"/>
          </a:p>
        </p:txBody>
      </p:sp>
      <p:sp>
        <p:nvSpPr>
          <p:cNvPr id="12" name="Text 10"/>
          <p:cNvSpPr txBox="1"/>
          <p:nvPr/>
        </p:nvSpPr>
        <p:spPr>
          <a:xfrm>
            <a:off x="8460943"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A pedagogical decision set before seeing the performance and justified by the outcome, and the rubric is calibrated before scoring.</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nthropic English">
  <a:themeElements>
    <a:clrScheme name="Anthropic English">
      <a:dk1>
        <a:srgbClr val="141413"/>
      </a:dk1>
      <a:lt1>
        <a:srgbClr val="FFFFFF"/>
      </a:lt1>
      <a:dk2>
        <a:srgbClr val="141413"/>
      </a:dk2>
      <a:lt2>
        <a:srgbClr val="FAF9F5"/>
      </a:lt2>
      <a:accent1>
        <a:srgbClr val="D97757"/>
      </a:accent1>
      <a:accent2>
        <a:srgbClr val="6A9BCC"/>
      </a:accent2>
      <a:accent3>
        <a:srgbClr val="788C5D"/>
      </a:accent3>
      <a:accent4>
        <a:srgbClr val="B0AEA5"/>
      </a:accent4>
      <a:accent5>
        <a:srgbClr val="E8E6DC"/>
      </a:accent5>
      <a:accent6>
        <a:srgbClr val="141413"/>
      </a:accent6>
      <a:hlink>
        <a:srgbClr val="6A9BCC"/>
      </a:hlink>
      <a:folHlink>
        <a:srgbClr val="788C5D"/>
      </a:folHlink>
    </a:clrScheme>
    <a:fontScheme name="Anthropic Englis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dc:title>
  <dc:subject>PptxGenJS Presentation</dc:subject>
  <dc:creator>PptxGenJS</dc:creator>
  <cp:lastModifiedBy>PptxGenJS</cp:lastModifiedBy>
  <cp:revision>1</cp:revision>
  <dcterms:created xsi:type="dcterms:W3CDTF">2026-10-15T04:06:13Z</dcterms:created>
  <dcterms:modified xsi:type="dcterms:W3CDTF">2026-10-15T04:06:13Z</dcterms:modified>
</cp:coreProperties>
</file>