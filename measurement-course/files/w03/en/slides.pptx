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96a9d42-310e-f0ca-7ec8-1bfecf7b9cbc}">
          <p14:sldIdLst>
            <p14:sldId id="256"/>
            <p14:sldId id="257"/>
          </p14:sldIdLst>
        </p14:section>
        <p14:section name="Content" id="{07443f0b-fd75-f49e-0b4c-087cd382a4c2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losing" id="{e95bc520-6ced-4fce-1fd3-a1cf89a69a73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O1</c:v>
                  </c:pt>
                  <c:pt idx="1">
                    <c:v>O2</c:v>
                  </c:pt>
                  <c:pt idx="2">
                    <c:v>O3</c:v>
                  </c:pt>
                  <c:pt idx="3">
                    <c:v>O4</c:v>
                  </c:pt>
                  <c:pt idx="4">
                    <c:v>O5</c:v>
                  </c:pt>
                  <c:pt idx="5">
                    <c:v>O6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0.333</c:v>
                </c:pt>
                <c:pt idx="1">
                  <c:v>0.2</c:v>
                </c:pt>
                <c:pt idx="2">
                  <c:v>0.167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Intended</c:v>
                </c:pt>
              </c:strCache>
            </c:strRef>
          </c:tx>
          <c:spPr>
            <a:solidFill>
              <a:srgbClr val="B0AEA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O1</c:v>
                  </c:pt>
                  <c:pt idx="1">
                    <c:v>O2</c:v>
                  </c:pt>
                  <c:pt idx="2">
                    <c:v>O3</c:v>
                  </c:pt>
                  <c:pt idx="3">
                    <c:v>O4</c:v>
                  </c:pt>
                  <c:pt idx="4">
                    <c:v>O5</c:v>
                  </c:pt>
                  <c:pt idx="5">
                    <c:v>O6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</c:v>
                </c:pt>
                <c:pt idx="1">
                  <c:v>0.2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141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141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6D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0AE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week as a shift from the question «Is the test valid?» to the question «Are we entitled to interpret the score in this way?».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discussion for three minutes. The expected answer: we know nothing, because the test does not include a single item on this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 international Standards (2014) adopted this view, and that they are the course's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students to identify the weakest link in the opening example before showing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student for an example from their class of one source other than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into Webb's details; it is enough for the student to link each criterion to a sheet in the Excel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 O1 in front of the students: 10 marks out of 30 = 33%, the intended weight is 20%, so the gap is +13.3.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two threshold cases for discussion: O6 is measured by only one question, so is the balance real?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Applying is balanced by marks even though it is in only 4 items, because their marks are higher.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if we changed the tolerance to 4, what would happen to the index? Let them try it in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 I14 by hand: 4 experts out of 5 equals 0.80, so it needs review even though it looks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message of the calculation part: we read the index of each item first, then the mean.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to the University of Sydney's two-track approach and the UAE University policy of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outcome and level columns must be deleted before pasting; otherwise the critique loses its independence.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give the correct classification while circulating; ask about the text of the outcome and what the item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goes into the portfolio, and it is direct practice for checking the test blueprint in Week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week: reliability, which is the second link in Kane's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Measurement and Evaluation · Week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Validity: The Modern Concept and Sources of Evidence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as «critic»: checking a school test's alignment with its outcomes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scored 28 out of 30 on the unit test, and the teacher wrote: «Mastered the unit».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know about her ability to apply the law of conservation of mass?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outcomes the test actually covers, not at the score.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validity of the test to validity of the interpretation</a:t>
            </a:r>
            <a:endParaRPr lang="en-US" sz="3800" dirty="0"/>
          </a:p>
        </p:txBody>
      </p:sp>
      <p:sp>
        <p:nvSpPr>
          <p:cNvPr id="3" name="panel-0"/>
          <p:cNvSpPr/>
          <p:nvPr/>
        </p:nvSpPr>
        <p:spPr>
          <a:xfrm>
            <a:off x="548640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traditional view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is a property of the test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types of validity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is valid or not valid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 are outside measurement</a:t>
            </a:r>
            <a:endParaRPr lang="en-US" sz="2000" dirty="0"/>
          </a:p>
        </p:txBody>
      </p:sp>
      <p:sp>
        <p:nvSpPr>
          <p:cNvPr id="7" name="panel-1"/>
          <p:cNvSpPr/>
          <p:nvPr/>
        </p:nvSpPr>
        <p:spPr>
          <a:xfrm>
            <a:off x="6323076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43116" y="1828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37476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modern view (Messick 1989)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597396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judgement on the interpretation and use of scores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and five sources of evidence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supports the interpretation to some degree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 are part of the judgement</a:t>
            </a:r>
            <a:endParaRPr lang="en-US" sz="2000" dirty="0"/>
          </a:p>
        </p:txBody>
      </p:sp>
      <p:sp>
        <p:nvSpPr>
          <p:cNvPr id="11" name="footer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5486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test may be valid for one purpose and not valid for another.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is an argument: Kane's chain (2013)</a:t>
            </a:r>
            <a:endParaRPr lang="en-US" sz="3800" dirty="0"/>
          </a:p>
        </p:txBody>
      </p:sp>
      <p:sp>
        <p:nvSpPr>
          <p:cNvPr id="3" name="step-1"/>
          <p:cNvSpPr/>
          <p:nvPr/>
        </p:nvSpPr>
        <p:spPr>
          <a:xfrm>
            <a:off x="548640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24635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the score was calculated accurately</a:t>
            </a:r>
            <a:endParaRPr lang="en-US" sz="2100" dirty="0"/>
          </a:p>
        </p:txBody>
      </p:sp>
      <p:sp>
        <p:nvSpPr>
          <p:cNvPr id="7" name="step-2"/>
          <p:cNvSpPr/>
          <p:nvPr/>
        </p:nvSpPr>
        <p:spPr>
          <a:xfrm>
            <a:off x="3390595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9195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65676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19195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Generalisation: a similar score on a comparable test</a:t>
            </a:r>
            <a:endParaRPr lang="en-US" sz="2100" dirty="0"/>
          </a:p>
        </p:txBody>
      </p:sp>
      <p:sp>
        <p:nvSpPr>
          <p:cNvPr id="11" name="step-3"/>
          <p:cNvSpPr/>
          <p:nvPr/>
        </p:nvSpPr>
        <p:spPr>
          <a:xfrm>
            <a:off x="6231636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60236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7107631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60236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Extrapolation: the items represent the whole unit</a:t>
            </a:r>
            <a:endParaRPr lang="en-US" sz="2100" dirty="0"/>
          </a:p>
        </p:txBody>
      </p:sp>
      <p:sp>
        <p:nvSpPr>
          <p:cNvPr id="15" name="step-4"/>
          <p:cNvSpPr/>
          <p:nvPr/>
        </p:nvSpPr>
        <p:spPr>
          <a:xfrm>
            <a:off x="9072677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2191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948672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01277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the score is sufficient for moving on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example the third link breaks: an entire outcome is absent.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sources of validity evidence (Standards 2014)</a:t>
            </a:r>
            <a:endParaRPr lang="en-US" sz="38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074919"/>
                <a:gridCol w="8016753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 example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Comparing the test with the test blueprint and expert review of the items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processes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explaining aloud how they solved an item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structure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analysis and the items' correlation with the total score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 to other variables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scores versus performance in the practical experiment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Consequences of testing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recall test pushes students to memorise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focuses on the first source.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best-known of Webb's alignment criteria (1997)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548640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concurrence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every outcome have items that measure it?</a:t>
            </a:r>
            <a:endParaRPr lang="en-US" sz="1800" dirty="0"/>
          </a:p>
        </p:txBody>
      </p:sp>
      <p:sp>
        <p:nvSpPr>
          <p:cNvPr id="7" name="card-1"/>
          <p:cNvSpPr/>
          <p:nvPr/>
        </p:nvSpPr>
        <p:spPr>
          <a:xfrm>
            <a:off x="3401568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721608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Depth-of-knowledge consistency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items require the level of thinking that the outcome requires?</a:t>
            </a:r>
            <a:endParaRPr lang="en-US" sz="1800" dirty="0"/>
          </a:p>
        </p:txBody>
      </p:sp>
      <p:sp>
        <p:nvSpPr>
          <p:cNvPr id="11" name="card-2"/>
          <p:cNvSpPr/>
          <p:nvPr/>
        </p:nvSpPr>
        <p:spPr>
          <a:xfrm>
            <a:off x="6254496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74536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of knowledge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items cover the different aspects of the outcome?</a:t>
            </a:r>
            <a:endParaRPr lang="en-US" sz="1800" dirty="0"/>
          </a:p>
        </p:txBody>
      </p:sp>
      <p:sp>
        <p:nvSpPr>
          <p:cNvPr id="15" name="card-3"/>
          <p:cNvSpPr/>
          <p:nvPr/>
        </p:nvSpPr>
        <p:spPr>
          <a:xfrm>
            <a:off x="9107424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427464" y="1783080"/>
            <a:ext cx="457200" cy="457200"/>
          </a:xfrm>
          <a:prstGeom prst="ellipse">
            <a:avLst/>
          </a:prstGeom>
          <a:solidFill>
            <a:srgbClr val="B0AEA5"/>
          </a:solidFill>
          <a:ln w="12700">
            <a:solidFill>
              <a:srgbClr val="B0A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6024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representation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336024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items distributed across the outcomes fairly evenly? We adapt it to compare with the intended weights.</a:t>
            </a:r>
            <a:endParaRPr lang="en-US" sz="1800" dirty="0"/>
          </a:p>
        </p:txBody>
      </p:sp>
      <p:sp>
        <p:nvSpPr>
          <p:cNvPr id="19" name="footer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53492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take Webb's questions, not his numerical thresholds, which were set for large-scale tests.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weight and the gap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calculate the weight by marks, not by the number of items.</a:t>
            </a:r>
            <a:endParaRPr lang="en-US" sz="2400" dirty="0"/>
          </a:p>
        </p:txBody>
      </p:sp>
      <p:sp>
        <p:nvSpPr>
          <p:cNvPr id="4" name="formula"/>
          <p:cNvSpPr/>
          <p:nvPr/>
        </p:nvSpPr>
        <p:spPr>
          <a:xfrm>
            <a:off x="2194560" y="2880360"/>
            <a:ext cx="77998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194560" y="2880360"/>
            <a:ext cx="7799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= outcome marks / total marks</a:t>
            </a:r>
            <a:endParaRPr lang="en-US" sz="2800" dirty="0"/>
          </a:p>
        </p:txBody>
      </p:sp>
      <p:sp>
        <p:nvSpPr>
          <p:cNvPr id="6" name="after"/>
          <p:cNvSpPr/>
          <p:nvPr/>
        </p:nvSpPr>
        <p:spPr>
          <a:xfrm>
            <a:off x="548640" y="4206240"/>
            <a:ext cx="11091672" cy="1645920"/>
          </a:xfrm>
          <a:prstGeom prst="roundRect">
            <a:avLst>
              <a:gd name="adj" fmla="val 6667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4206240"/>
            <a:ext cx="103601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actual minus intended, in percentage points, compared with a tolerance of 5. The threshold is the department's decision, not a scientific rule.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versus intended weight for each outcome</a:t>
            </a:r>
            <a:endParaRPr lang="en-US" sz="38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4873752" y="137160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1554480"/>
            <a:ext cx="39593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over-represented: 9 items and 10 marks out of 30</a:t>
            </a:r>
            <a:endParaRPr lang="en-US" sz="2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 not represented: not a single item</a:t>
            </a:r>
            <a:endParaRPr lang="en-US" sz="2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(+5.0) and O6 (−5.0) lie exactly at the threshold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cognitive levels</a:t>
            </a:r>
            <a:endParaRPr lang="en-US" sz="38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1883491"/>
                <a:gridCol w="1255661"/>
                <a:gridCol w="4394813"/>
                <a:gridCol w="355770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Intended (TIMSS 2023)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Judgement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Over-represented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Under-represented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entirely in one item (item 19).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coverage index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6052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balanced outcomes out of 6, and one outcome not represented.</a:t>
            </a:r>
            <a:endParaRPr lang="en-US" sz="22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is useful for comparison before and after revision, but it is no substitute for the table: two of the four outcomes lie exactly at the threshold.</a:t>
            </a:r>
            <a:endParaRPr lang="en-US" sz="2200" dirty="0"/>
          </a:p>
        </p:txBody>
      </p:sp>
      <p:sp>
        <p:nvSpPr>
          <p:cNvPr id="4" name="stat"/>
          <p:cNvSpPr/>
          <p:nvPr/>
        </p:nvSpPr>
        <p:spPr>
          <a:xfrm>
            <a:off x="6611112" y="155448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76872" y="18288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index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976872" y="25603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6976872" y="397764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revision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 content validity index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expert rates the item's relevance to its outcome from 1 to 4, and we count ratings of 3 and 4 as agreement.</a:t>
            </a:r>
            <a:endParaRPr lang="en-US" sz="2400" dirty="0"/>
          </a:p>
        </p:txBody>
      </p:sp>
      <p:sp>
        <p:nvSpPr>
          <p:cNvPr id="4" name="formula"/>
          <p:cNvSpPr/>
          <p:nvPr/>
        </p:nvSpPr>
        <p:spPr>
          <a:xfrm>
            <a:off x="2194560" y="2880360"/>
            <a:ext cx="77998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194560" y="2880360"/>
            <a:ext cx="7799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I-CVI = experts rating 3 or 4 / N</a:t>
            </a:r>
            <a:endParaRPr lang="en-US" sz="2800" dirty="0"/>
          </a:p>
        </p:txBody>
      </p:sp>
      <p:sp>
        <p:nvSpPr>
          <p:cNvPr id="6" name="after"/>
          <p:cNvSpPr/>
          <p:nvPr/>
        </p:nvSpPr>
        <p:spPr>
          <a:xfrm>
            <a:off x="548640" y="4206240"/>
            <a:ext cx="11091672" cy="1645920"/>
          </a:xfrm>
          <a:prstGeom prst="roundRect">
            <a:avLst>
              <a:gd name="adj" fmla="val 6667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4206240"/>
            <a:ext cx="103601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Lynn's criterion (1986): with five experts or fewer, the index must be 1.00.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hides the problems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6052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exceeds Polit and Beck's threshold of 0.90.</a:t>
            </a:r>
            <a:endParaRPr lang="en-US" sz="22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three items did not reach 1.00: I3 (0.60), I11 (0.20) and I14 (0.80). And the proportion of full agreement is 85%.</a:t>
            </a:r>
            <a:endParaRPr lang="en-US" sz="2200" dirty="0"/>
          </a:p>
        </p:txBody>
      </p:sp>
      <p:sp>
        <p:nvSpPr>
          <p:cNvPr id="4" name="stat"/>
          <p:cNvSpPr/>
          <p:nvPr/>
        </p:nvSpPr>
        <p:spPr>
          <a:xfrm>
            <a:off x="6611112" y="155448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76872" y="18288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item indices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976872" y="25603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6976872" y="397764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experts, 20 items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validity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548640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under-representation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omits part of what it is supposed to measure, such as the absence of O5 and weak Reasoning.</a:t>
            </a:r>
            <a:endParaRPr lang="en-US" sz="2000" dirty="0"/>
          </a:p>
        </p:txBody>
      </p:sp>
      <p:sp>
        <p:nvSpPr>
          <p:cNvPr id="7" name="card-1"/>
          <p:cNvSpPr/>
          <p:nvPr/>
        </p:nvSpPr>
        <p:spPr>
          <a:xfrm>
            <a:off x="4352544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72584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Construct-irrelevant variance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load in a science test, an ambiguous blank as in items 6 and 9, or guessing.</a:t>
            </a:r>
            <a:endParaRPr lang="en-US" sz="2000" dirty="0"/>
          </a:p>
        </p:txBody>
      </p:sp>
      <p:sp>
        <p:nvSpPr>
          <p:cNvPr id="11" name="card-2"/>
          <p:cNvSpPr/>
          <p:nvPr/>
        </p:nvSpPr>
        <p:spPr>
          <a:xfrm>
            <a:off x="8156448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76488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done with AI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may reflect skill in using the tool rather than the student's learning.</a:t>
            </a:r>
            <a:endParaRPr lang="en-US" sz="2000" dirty="0"/>
          </a:p>
        </p:txBody>
      </p:sp>
      <p:sp>
        <p:nvSpPr>
          <p:cNvPr id="15" name="footer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53492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lies in design: a secure track without AI, and an open track with documentation.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as critic: what it does well and what you verify</a:t>
            </a:r>
            <a:endParaRPr lang="en-US" sz="3800" dirty="0"/>
          </a:p>
        </p:txBody>
      </p:sp>
      <p:sp>
        <p:nvSpPr>
          <p:cNvPr id="3" name="panel-0"/>
          <p:cNvSpPr/>
          <p:nvPr/>
        </p:nvSpPr>
        <p:spPr>
          <a:xfrm>
            <a:off x="548640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well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items by outcome and level, with a justification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common wording flaws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Suggesting items for an absent outcome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Recalculating the weights</a:t>
            </a:r>
            <a:endParaRPr lang="en-US" sz="2000" dirty="0"/>
          </a:p>
        </p:txBody>
      </p:sp>
      <p:sp>
        <p:nvSpPr>
          <p:cNvPr id="7" name="panel-1"/>
          <p:cNvSpPr/>
          <p:nvPr/>
        </p:nvSpPr>
        <p:spPr>
          <a:xfrm>
            <a:off x="6323076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43116" y="1828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37476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verify yourself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597396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it has not seen the teacher's classification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level matches what the item actually requires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correctness and level of every new item</a:t>
            </a:r>
            <a:endParaRPr lang="en-US" sz="20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in Excel, not in the conversation</a:t>
            </a:r>
            <a:endParaRPr lang="en-US" sz="2000" dirty="0"/>
          </a:p>
        </p:txBody>
      </p:sp>
      <p:sp>
        <p:nvSpPr>
          <p:cNvPr id="11" name="footer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5486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in a disagreement is yours, with a written justification.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steps</a:t>
            </a:r>
            <a:endParaRPr lang="en-US" sz="3800" dirty="0"/>
          </a:p>
        </p:txBody>
      </p:sp>
      <p:sp>
        <p:nvSpPr>
          <p:cNvPr id="3" name="step-1"/>
          <p:cNvSpPr/>
          <p:nvPr/>
        </p:nvSpPr>
        <p:spPr>
          <a:xfrm>
            <a:off x="548640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1039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judgement first, from the Excel file</a:t>
            </a:r>
            <a:endParaRPr lang="en-US" sz="2100" dirty="0"/>
          </a:p>
        </p:txBody>
      </p:sp>
      <p:sp>
        <p:nvSpPr>
          <p:cNvPr id="7" name="step-2"/>
          <p:cNvSpPr/>
          <p:nvPr/>
        </p:nvSpPr>
        <p:spPr>
          <a:xfrm>
            <a:off x="4336999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5599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60313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65599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the text without the teacher's classification</a:t>
            </a:r>
            <a:endParaRPr lang="en-US" sz="2100" dirty="0"/>
          </a:p>
        </p:txBody>
      </p:sp>
      <p:sp>
        <p:nvSpPr>
          <p:cNvPr id="11" name="step-3"/>
          <p:cNvSpPr/>
          <p:nvPr/>
        </p:nvSpPr>
        <p:spPr>
          <a:xfrm>
            <a:off x="8126273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54873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9948672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54873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classifies the items</a:t>
            </a:r>
            <a:endParaRPr lang="en-US" sz="2100" dirty="0"/>
          </a:p>
        </p:txBody>
      </p:sp>
      <p:sp>
        <p:nvSpPr>
          <p:cNvPr id="15" name="step-4"/>
          <p:cNvSpPr/>
          <p:nvPr/>
        </p:nvSpPr>
        <p:spPr>
          <a:xfrm>
            <a:off x="548640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2371039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and judgement</a:t>
            </a:r>
            <a:endParaRPr lang="en-US" sz="2100" dirty="0"/>
          </a:p>
        </p:txBody>
      </p:sp>
      <p:sp>
        <p:nvSpPr>
          <p:cNvPr id="19" name="step-5"/>
          <p:cNvSpPr/>
          <p:nvPr/>
        </p:nvSpPr>
        <p:spPr>
          <a:xfrm>
            <a:off x="4336999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65599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160313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65599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and re-checking</a:t>
            </a:r>
            <a:endParaRPr lang="en-US" sz="2100" dirty="0"/>
          </a:p>
        </p:txBody>
      </p:sp>
      <p:sp>
        <p:nvSpPr>
          <p:cNvPr id="23" name="step-6"/>
          <p:cNvSpPr/>
          <p:nvPr/>
        </p:nvSpPr>
        <p:spPr>
          <a:xfrm>
            <a:off x="8126273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54873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948672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354873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report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product: a one-page content validity evidence report.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validity evidence report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548640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results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unbalanced outcomes and levels with figures, the coverage index, and your position on the two threshold cases.</a:t>
            </a:r>
            <a:endParaRPr lang="en-US" sz="2000" dirty="0"/>
          </a:p>
        </p:txBody>
      </p:sp>
      <p:sp>
        <p:nvSpPr>
          <p:cNvPr id="7" name="card-1"/>
          <p:cNvSpPr/>
          <p:nvPr/>
        </p:nvSpPr>
        <p:spPr>
          <a:xfrm>
            <a:off x="4352544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72584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results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items that did not meet Lynn's criterion, the mean, and why it is not enough on its own.</a:t>
            </a:r>
            <a:endParaRPr lang="en-US" sz="2000" dirty="0"/>
          </a:p>
        </p:txBody>
      </p:sp>
      <p:sp>
        <p:nvSpPr>
          <p:cNvPr id="11" name="card-2"/>
          <p:cNvSpPr/>
          <p:nvPr/>
        </p:nvSpPr>
        <p:spPr>
          <a:xfrm>
            <a:off x="8156448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76488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justified changes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change: the problem, the evidence, and the effect on the matrix after revision.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ideas to take with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belongs to the interpretation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ask: valid for which interpretation and for which decision?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368089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2409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is by marks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642409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actual weight with the intended weight for each outcome and each level, and read threshold cases with a critical eye.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186623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60943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is not enough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460943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of each item first, then the test mean.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thropic English">
  <a:themeElements>
    <a:clrScheme name="Anthropic English">
      <a:dk1>
        <a:srgbClr val="141413"/>
      </a:dk1>
      <a:lt1>
        <a:srgbClr val="FFFFFF"/>
      </a:lt1>
      <a:dk2>
        <a:srgbClr val="141413"/>
      </a:dk2>
      <a:lt2>
        <a:srgbClr val="FAF9F5"/>
      </a:lt2>
      <a:accent1>
        <a:srgbClr val="D97757"/>
      </a:accent1>
      <a:accent2>
        <a:srgbClr val="6A9BCC"/>
      </a:accent2>
      <a:accent3>
        <a:srgbClr val="788C5D"/>
      </a:accent3>
      <a:accent4>
        <a:srgbClr val="B0AEA5"/>
      </a:accent4>
      <a:accent5>
        <a:srgbClr val="E8E6DC"/>
      </a:accent5>
      <a:accent6>
        <a:srgbClr val="141413"/>
      </a:accent6>
      <a:hlink>
        <a:srgbClr val="6A9BCC"/>
      </a:hlink>
      <a:folHlink>
        <a:srgbClr val="788C5D"/>
      </a:folHlink>
    </a:clrScheme>
    <a:fontScheme name="Anthropic Englis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PptxGenJS Presentation</dc:subject>
  <dc:creator>PptxGenJS</dc:creator>
  <cp:lastModifiedBy>PptxGenJS</cp:lastModifiedBy>
  <cp:revision>1</cp:revision>
  <dcterms:created xsi:type="dcterms:W3CDTF">2026-10-15T04:06:01Z</dcterms:created>
  <dcterms:modified xsi:type="dcterms:W3CDTF">2026-10-15T04:06:01Z</dcterms:modified>
</cp:coreProperties>
</file>