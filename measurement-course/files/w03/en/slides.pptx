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aa3c776-69fd-9529-061f-199e394ada7d}">
          <p14:sldIdLst>
            <p14:sldId id="256"/>
            <p14:sldId id="257"/>
          </p14:sldIdLst>
        </p14:section>
        <p14:section name="Content" id="{ab956970-e49d-ff26-32f7-08f1bad4b4cb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losing" id="{495ed531-5700-79ae-dd1a-98378d8e95bd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O1</c:v>
                  </c:pt>
                  <c:pt idx="1">
                    <c:v>O2</c:v>
                  </c:pt>
                  <c:pt idx="2">
                    <c:v>O3</c:v>
                  </c:pt>
                  <c:pt idx="3">
                    <c:v>O4</c:v>
                  </c:pt>
                  <c:pt idx="4">
                    <c:v>O5</c:v>
                  </c:pt>
                  <c:pt idx="5">
                    <c:v>O6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0.333</c:v>
                </c:pt>
                <c:pt idx="1">
                  <c:v>0.2</c:v>
                </c:pt>
                <c:pt idx="2">
                  <c:v>0.167</c:v>
                </c:pt>
                <c:pt idx="3">
                  <c:v>0.2</c:v>
                </c:pt>
                <c:pt idx="4">
                  <c:v>0</c:v>
                </c:pt>
                <c:pt idx="5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Intended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O1</c:v>
                  </c:pt>
                  <c:pt idx="1">
                    <c:v>O2</c:v>
                  </c:pt>
                  <c:pt idx="2">
                    <c:v>O3</c:v>
                  </c:pt>
                  <c:pt idx="3">
                    <c:v>O4</c:v>
                  </c:pt>
                  <c:pt idx="4">
                    <c:v>O5</c:v>
                  </c:pt>
                  <c:pt idx="5">
                    <c:v>O6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</c:v>
                </c:pt>
                <c:pt idx="1">
                  <c:v>0.2</c:v>
                </c:pt>
                <c:pt idx="2">
                  <c:v>0.15</c:v>
                </c:pt>
                <c:pt idx="3">
                  <c:v>0.15</c:v>
                </c:pt>
                <c:pt idx="4">
                  <c:v>0.15</c:v>
                </c:pt>
                <c:pt idx="5">
                  <c:v>0.15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week as a shift from the question «Is the test valid?» to the question «Are we entitled to interpret the score in this way?».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discussion for three minutes. The expected answer: we know nothing, because the test does not include a single item on this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international Standards (2014) adopted this view, and that they are the course's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to identify the weakest link in the opening example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student for an example from their class of one source other than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go into Webb's details; it is enough for the student to link each criterion to a sheet in the Excel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Calculate O1 in front of the students: 10 marks out of 30 = 33%, the intended weight is 20%, so the gap is +13.3.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two threshold cases for discussion: O6 is measured by only one question, so is the balance real?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Applying is balanced by marks even though it is in only 4 items, because their marks are higher.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if we changed the tolerance to 4, what would happen to the index? Let them try it in the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Calculate I14 by hand: 4 experts out of 5 equals 0.80, so it needs review even though it looks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message of the calculation part: we read the index of each item first, then the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the University of Sydney's two-track approach and the UAE University policy of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outcome and level columns must be deleted before pasting; otherwise the critique loses its independence.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give the correct classification while circulating; ask about the text of the outcome and what the item requires.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goes into the portfolio, and it is direct practice for checking the test blueprint in Week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week: reliability, which is the second link in Kane's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Measurement and Evaluation · Week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Validity: The Modern Concept and Sources of Evidence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as «critic»: checking a school test's alignment with its outcomes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scored 28 out of 30 on the unit test, and the teacher wrote: «Mastered the unit».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know about her ability to apply the law of conservation of mass?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outcomes the test actually covers, not at the score.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validity of the test to validity of the interpretation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traditional view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is a property of the test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types of validity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is valid or not valid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are outside measurement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view (Messick 1989)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judgement on the interpretation and use of scores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concept and five sources of evidence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supports the interpretation to some degree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are part of the judgement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test may be valid for one purpose and not valid for another.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is an argument: Kane's chain (2013)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548640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424635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the score was calculated accurately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3390595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9195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265676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619195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Generalisation: a similar score on a comparable test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6231636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60236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107631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60236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Extrapolation: the items represent the whole unit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9072677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302191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948672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01277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the score is sufficient for moving on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example the third link breaks: an entire outcome is absent.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sources of validity evidence (Standards 2014)</a:t>
            </a:r>
            <a:endParaRPr lang="en-US" sz="3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074919"/>
                <a:gridCol w="8016753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 example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Comparing the test with the test blueprint and expert review of the items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processes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explaining aloud how they solved an item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structure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analysis and the items' correlation with the total score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 to other variables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scores versus performance in the practical experiment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Consequences of testing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recall test pushes students to memorise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focuses on the first source.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best-known of Webb's alignment criteria (1997)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concurrence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outcome have items that measure it?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2160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Depth-of-knowledge consistency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items require the level of thinking that the outcome requires?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7453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knowledge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items cover the different aspects of the outcome?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27464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representation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items distributed across the outcomes fairly evenly? We adapt it to compare with the intended weights.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take Webb's questions, not his numerical thresholds, which were set for large-scale tests.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weight and the gap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calculate the weight by marks, not by the number of items.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= outcome marks / total marks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actual minus intended, in percentage points, compared with a tolerance of 5. The threshold is the department's decision, not a scientific rule.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versus intended weight for each outcome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4873752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over-represented: 9 items and 10 marks out of 30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 not represented: not a single item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(+5.0) and O6 (−5.0) lie exactly at the threshold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cognitive levels</a:t>
            </a:r>
            <a:endParaRPr lang="en-US" sz="38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535770"/>
                <a:gridCol w="1023847"/>
                <a:gridCol w="5631157"/>
                <a:gridCol w="2900899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Intended (teacher's distribution)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Judgement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Over-represented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Under-represented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is entirely in one item (item 19). For comparison, TIMSS 2023: 35%, 35% and 30%.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coverage index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balanced outcomes out of 6, and one outcome not represented.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is useful for comparison before and after revision, but it is no substitute for the table: two of the four outcomes lie exactly at the threshold.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index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revision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 content validity index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expert rates the item's relevance to its outcome from 1 to 4, and we count ratings of 3 and 4 as agreement.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I-CVI = experts rating 3 or 4 / N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Lynn's criterion (1986): with five experts or fewer, the index must be 1.00.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hides the problems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exceeds Polit and Beck's threshold of 0.90.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three items did not reach 1.00: I3 (0.60), I11 (0.20) and I14 (0.80). And the proportion of full agreement is 85%.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the item indices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experts, 20 items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to validity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under-representation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omits part of what it is supposed to measure, such as the absence of O5 and weak Reasoning.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Construct-irrelevant variance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load in a science test, an ambiguous blank as in items 6 and 9, or guessing.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done with AI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may reflect skill in using the tool rather than the student's learning.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lies in design: a secure track without AI, and an open track with documentation.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as critic: what it does well and what you verify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well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items by outcome and level, with a justification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common wording flaws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items for an absent outcome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Recalculating the weights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verify yourself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it has not seen the teacher's classification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level matches what the item actually requires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correctness and level of every new item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are in Excel, not in the conversation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in a disagreement is yours, with a written justification.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steps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371039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judgement first, from the Excel file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6999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5599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60313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599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text without the teacher's classification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8126273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54873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948672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54873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classifies the items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2371039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and judgement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6999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65599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160313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599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and re-checking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8126273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54873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948672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54873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report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product: a one-page content validity evidence report.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validity evidence report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results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unbalanced outcomes and levels with figures, the coverage index, and your position on the two threshold cases.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results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items that did not meet Lynn's criterion, the mean, and why it is not enough on its own.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justified changes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change: the problem, the evidence, and the effect on the matrix after revision.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ideas to take with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belongs to the interpretation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ask: valid for which interpretation and for which decision?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8089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409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is by marks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409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actual weight with the intended weight for each outcome and each level, and read threshold cases with a critical eye.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86623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0943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not enough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460943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of each item first, then the test mean.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English">
  <a:themeElements>
    <a:clrScheme name="Anthropic English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Englis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</dc:title>
  <dc:subject>PptxGenJS Presentation</dc:subject>
  <dc:creator>PptxGenJS</dc:creator>
  <cp:lastModifiedBy>PptxGenJS</cp:lastModifiedBy>
  <cp:revision>1</cp:revision>
  <dcterms:created xsi:type="dcterms:W3CDTF">2026-10-15T04:35:14Z</dcterms:created>
  <dcterms:modified xsi:type="dcterms:W3CDTF">2026-10-15T04:35:14Z</dcterms:modified>
</cp:coreProperties>
</file>