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فتتاح" id="{30d18f8b-191e-d188-2263-807d55abacc3}">
          <p14:sldIdLst>
            <p14:sldId id="256"/>
            <p14:sldId id="257"/>
          </p14:sldIdLst>
        </p14:section>
        <p14:section name="المحتوى" id="{894870dc-5860-9419-3b22-590322e6e15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الختام" id="{cf2fcb74-b27f-d0ee-72f5-222a908169fe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الفعلي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ن1</c:v>
                  </c:pt>
                  <c:pt idx="1">
                    <c:v>ن2</c:v>
                  </c:pt>
                  <c:pt idx="2">
                    <c:v>ن3</c:v>
                  </c:pt>
                  <c:pt idx="3">
                    <c:v>ن4</c:v>
                  </c:pt>
                  <c:pt idx="4">
                    <c:v>ن5</c:v>
                  </c:pt>
                  <c:pt idx="5">
                    <c:v>ن6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0.333</c:v>
                </c:pt>
                <c:pt idx="1">
                  <c:v>0.2</c:v>
                </c:pt>
                <c:pt idx="2">
                  <c:v>0.167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المقصود</c:v>
                </c:pt>
              </c:strCache>
            </c:strRef>
          </c:tx>
          <c:spPr>
            <a:solidFill>
              <a:srgbClr val="B0AEA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ن1</c:v>
                  </c:pt>
                  <c:pt idx="1">
                    <c:v>ن2</c:v>
                  </c:pt>
                  <c:pt idx="2">
                    <c:v>ن3</c:v>
                  </c:pt>
                  <c:pt idx="3">
                    <c:v>ن4</c:v>
                  </c:pt>
                  <c:pt idx="4">
                    <c:v>ن5</c:v>
                  </c:pt>
                  <c:pt idx="5">
                    <c:v>ن6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</c:v>
                </c:pt>
                <c:pt idx="1">
                  <c:v>0.2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141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141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6D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0AE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عرّف الأسبوع بأنه انتقال من سؤال «هل الاختبار صادق؟» إلى سؤال «هل يحق لنا تفسير الدرجة بهذه الطريقة؟».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نقاش ثنائي ثلاث دقائق. الإجابة المنتظرة: لا نعرف شيئاً، لأن الاختبار لا يتضمن أي فقرة عن هذا الناتج.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أكّد أن المعايير الدولية 2014 تبنّت هذه النظرة، وأنها مرجع المساق.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اطلب من الطلبة تحديد الحلقة الأضعف في مثال الافتتاح قبل عرض الإجابة.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اطلب من كل طالب مثالاً من صفه لمصدر واحد غير المحتوى.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لا تتوسع في تفاصيل ويب؛ يكفي أن يربط الطالب كل معيار بورقة في ملف الإكسل.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احسب ن1 أمام الطلبة: 10 درجات من 30 = 33%، والمقصود 20%، فالفرق +13.3.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افتح الحالتين الحدّيتين للنقاش: ن6 يقيسه سؤال واحد فقط، فهل التوازن حقيقي؟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لاحظ أن التطبيق متوازن بالدرجات مع أنه في 4 فقرات فقط، لأن درجاتها أعلى.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اسأل: لو غيّرنا حد التسامح إلى 4، ماذا يحدث للمؤشر؟ دعهم يجربون في الملف.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احسب ف14 يدوياً: 4 محكّمين من 5 يساوي 0.80، فتحتاج مراجعة مع أنها تبدو مرتفعة.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هذه أهم رسالة في الجزء الحسابي: نقرأ مؤشر كل فقرة أولاً، ثم المتوسط.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اربط بنهج المسارين في جامعة سيدني وسياسة جامعة الإمارات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نبّه إلى حذف عمودي الناتج والمستوى قبل اللصق، وإلا فقد النقد استقلاله.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لا تعطِ التصنيف الصحيح أثناء التجوال؛ اسأل عن نص الناتج وما تطلبه الفقرة.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التقرير يدخل ملف الإنجاز، وهو تمرين مباشر على فحص جدول المواصفات في الأسبوع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/>
            <a:r>
              <a:rPr lang="en-US" dirty="0"/>
              <a:t>الأسبوع القادم: الثبات، وهو الحلقة الثانية في سلسلة كين.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defRPr>
            </a:lvl1pPr>
          </a:lstStyle>
          <a:p>
            <a:pPr algn="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/>
        </p:nvSpPr>
        <p:spPr>
          <a:xfrm>
            <a:off x="5943600" y="635508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القياس والتقويم التربوي · الأسبوع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الأسبوع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الصدق: المفهوم الحديث ومصادر الأدلة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كلود بدور «الناقد»: فحص مواءمة اختبار مدرسي مع نواتجه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543032" y="4572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20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«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46304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حصلت طالبة على 28 من 30 في اختبار الوحدة، فكتب المعلم: «أتقنت الوحدة».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40233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ماذا نعرف عن قدرتها على تطبيق قانون حفظ الكتلة؟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50292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انظر إلى النواتج التي يغطيها الاختبار فعلاً، لا إلى الدرجة.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من صدق الاختبار إلى صدق التفسير</a:t>
            </a:r>
            <a:endParaRPr lang="en-US" sz="3800" dirty="0"/>
          </a:p>
        </p:txBody>
      </p:sp>
      <p:sp>
        <p:nvSpPr>
          <p:cNvPr id="3" name="panel-0"/>
          <p:cNvSpPr/>
          <p:nvPr/>
        </p:nvSpPr>
        <p:spPr>
          <a:xfrm>
            <a:off x="6323076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63072" y="182880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97396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النظرة التقليدية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97396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الصدق خاصية في الاختبار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ثلاثة أنواع منفصلة للصدق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الاختبار صادق أو غير صادق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العواقب خارج القياس</a:t>
            </a:r>
            <a:endParaRPr lang="en-US" sz="2000" dirty="0"/>
          </a:p>
        </p:txBody>
      </p:sp>
      <p:sp>
        <p:nvSpPr>
          <p:cNvPr id="7" name="panel-1"/>
          <p:cNvSpPr/>
          <p:nvPr/>
        </p:nvSpPr>
        <p:spPr>
          <a:xfrm>
            <a:off x="548640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88636" y="1828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النظرة الحديثة (ميسك 1989)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حكم على تفسير الدرجات واستخدامها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مفهوم واحد وخمسة مصادر للأدلة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الأدلة تدعم التفسير بدرجة ما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العواقب جزء من الحكم</a:t>
            </a:r>
            <a:endParaRPr lang="en-US" sz="2000" dirty="0"/>
          </a:p>
        </p:txBody>
      </p:sp>
      <p:sp>
        <p:nvSpPr>
          <p:cNvPr id="11" name="footer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5486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الاختبار نفسه قد يكون صادقاً لغرض وغير صادق لآخر.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الصدق حجة: سلسلة كين (2013)</a:t>
            </a:r>
            <a:endParaRPr lang="en-US" sz="3800" dirty="0"/>
          </a:p>
        </p:txBody>
      </p:sp>
      <p:sp>
        <p:nvSpPr>
          <p:cNvPr id="3" name="step-1"/>
          <p:cNvSpPr/>
          <p:nvPr/>
        </p:nvSpPr>
        <p:spPr>
          <a:xfrm>
            <a:off x="9073134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771632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9301734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الحلقة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301734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التصحيح: الدرجة حُسبت بدقة</a:t>
            </a:r>
            <a:endParaRPr lang="en-US" sz="2100" dirty="0"/>
          </a:p>
        </p:txBody>
      </p:sp>
      <p:sp>
        <p:nvSpPr>
          <p:cNvPr id="7" name="step-2"/>
          <p:cNvSpPr/>
          <p:nvPr/>
        </p:nvSpPr>
        <p:spPr>
          <a:xfrm>
            <a:off x="6231636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930134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60236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الحلقة 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60236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التعميم: درجة قريبة في اختبار مماثل</a:t>
            </a:r>
            <a:endParaRPr lang="en-US" sz="2100" dirty="0"/>
          </a:p>
        </p:txBody>
      </p:sp>
      <p:sp>
        <p:nvSpPr>
          <p:cNvPr id="11" name="step-3"/>
          <p:cNvSpPr/>
          <p:nvPr/>
        </p:nvSpPr>
        <p:spPr>
          <a:xfrm>
            <a:off x="3390138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088636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618738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الحلقة 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18738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الاستقراء: الفقرات تمثّل الوحدة كلها</a:t>
            </a:r>
            <a:endParaRPr lang="en-US" sz="2100" dirty="0"/>
          </a:p>
        </p:txBody>
      </p:sp>
      <p:sp>
        <p:nvSpPr>
          <p:cNvPr id="15" name="step-4"/>
          <p:cNvSpPr/>
          <p:nvPr/>
        </p:nvSpPr>
        <p:spPr>
          <a:xfrm>
            <a:off x="548640" y="1508760"/>
            <a:ext cx="2567178" cy="3291840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247138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الحلقة 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246888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القرار: الدرجة كافية للانتقال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في مثالنا تنكسر الحلقة الثالثة: ناتج كامل غائب.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المصادر الخمسة لأدلة الصدق (المعايير 2014)</a:t>
            </a:r>
            <a:endParaRPr lang="en-US" sz="38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7615178"/>
                <a:gridCol w="3476494"/>
              </a:tblGrid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مثال صفي</a:t>
                      </a:r>
                      <a:endParaRPr lang="en-US" sz="19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المصدر</a:t>
                      </a:r>
                      <a:endParaRPr lang="en-US" sz="19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مقارنة الاختبار بجدول المواصفات وتحكيم الفقرات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المحتوى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طلبة يشرحون بصوت مرتفع كيف حلّوا فقرة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عمليات الاستجابة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تحليل الفقرات وارتباطها بالدرجة الكلية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البنية الداخلية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درجات الاختبار مقابل أداء التجربة العملية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العلاقة بمتغيرات أخرى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اختبار تذكّر يدفع الطلبة إلى الحفظ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عواقب الاختبار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هذا الأسبوع يركّز على المصدر الأول.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أشهر أربعة من معايير ويب للمواءمة (1997)</a:t>
            </a:r>
            <a:endParaRPr lang="en-US" sz="3800" dirty="0"/>
          </a:p>
        </p:txBody>
      </p:sp>
      <p:sp>
        <p:nvSpPr>
          <p:cNvPr id="3" name="card-0"/>
          <p:cNvSpPr/>
          <p:nvPr/>
        </p:nvSpPr>
        <p:spPr>
          <a:xfrm>
            <a:off x="9107424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63072" y="17830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36024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التوافق الفئوي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هل لكل ناتج فقرات تقيسه؟</a:t>
            </a:r>
            <a:endParaRPr lang="en-US" sz="1800" dirty="0"/>
          </a:p>
        </p:txBody>
      </p:sp>
      <p:sp>
        <p:nvSpPr>
          <p:cNvPr id="7" name="card-1"/>
          <p:cNvSpPr/>
          <p:nvPr/>
        </p:nvSpPr>
        <p:spPr>
          <a:xfrm>
            <a:off x="6254496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10144" y="1783080"/>
            <a:ext cx="457200" cy="457200"/>
          </a:xfrm>
          <a:prstGeom prst="ellipse">
            <a:avLst/>
          </a:prstGeom>
          <a:solidFill>
            <a:srgbClr val="6A9BCC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اتساق عمق المعرفة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هل تطلب الفقرات مستوى التفكير الذي يطلبه الناتج؟</a:t>
            </a:r>
            <a:endParaRPr lang="en-US" sz="1800" dirty="0"/>
          </a:p>
        </p:txBody>
      </p:sp>
      <p:sp>
        <p:nvSpPr>
          <p:cNvPr id="11" name="card-2"/>
          <p:cNvSpPr/>
          <p:nvPr/>
        </p:nvSpPr>
        <p:spPr>
          <a:xfrm>
            <a:off x="3401568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157216" y="178308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0168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مدى المعرفة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هل تغطي الفقرات جوانب الناتج المختلفة؟</a:t>
            </a:r>
            <a:endParaRPr lang="en-US" sz="1800" dirty="0"/>
          </a:p>
        </p:txBody>
      </p:sp>
      <p:sp>
        <p:nvSpPr>
          <p:cNvPr id="15" name="card-3"/>
          <p:cNvSpPr/>
          <p:nvPr/>
        </p:nvSpPr>
        <p:spPr>
          <a:xfrm>
            <a:off x="548640" y="155448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304288" y="1783080"/>
            <a:ext cx="457200" cy="457200"/>
          </a:xfrm>
          <a:prstGeom prst="ellipse">
            <a:avLst/>
          </a:prstGeom>
          <a:solidFill>
            <a:srgbClr val="B0AEA5"/>
          </a:solidFill>
          <a:ln w="12700">
            <a:solidFill>
              <a:srgbClr val="B0A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237744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توازن التمثيل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337560"/>
            <a:ext cx="207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هل توزّعت الفقرات على النواتج توزيعاً متقارباً؟ ونكيّفه لنقارن بالأوزان المقصودة.</a:t>
            </a:r>
            <a:endParaRPr lang="en-US" sz="1800" dirty="0"/>
          </a:p>
        </p:txBody>
      </p:sp>
      <p:sp>
        <p:nvSpPr>
          <p:cNvPr id="19" name="footer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53492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نأخذ من ويب الأسئلة لا الحدود الرقمية، فهي وُضعت لاختبارات واسعة النطاق.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الوزن الفعلي والفرق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نحسب الوزن بالدرجات لا بعدد الفقرات.</a:t>
            </a:r>
            <a:endParaRPr lang="en-US" sz="2400" dirty="0"/>
          </a:p>
        </p:txBody>
      </p:sp>
      <p:sp>
        <p:nvSpPr>
          <p:cNvPr id="4" name="formula"/>
          <p:cNvSpPr/>
          <p:nvPr/>
        </p:nvSpPr>
        <p:spPr>
          <a:xfrm>
            <a:off x="2194560" y="2880360"/>
            <a:ext cx="77998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194560" y="2880360"/>
            <a:ext cx="7799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= outcome marks / total marks</a:t>
            </a:r>
            <a:endParaRPr lang="en-US" sz="2800" dirty="0"/>
          </a:p>
        </p:txBody>
      </p:sp>
      <p:sp>
        <p:nvSpPr>
          <p:cNvPr id="6" name="after"/>
          <p:cNvSpPr/>
          <p:nvPr/>
        </p:nvSpPr>
        <p:spPr>
          <a:xfrm>
            <a:off x="548640" y="4206240"/>
            <a:ext cx="11091672" cy="1645920"/>
          </a:xfrm>
          <a:prstGeom prst="roundRect">
            <a:avLst>
              <a:gd name="adj" fmla="val 6667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4206240"/>
            <a:ext cx="103601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الفرق = الفعلي ناقص المقصود بالنقاط المئوية، ويُقارن بحد التسامح 5. الحد قرار القسم لا قاعدة علمية.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الوزن الفعلي مقابل المقصود لكل ناتج</a:t>
            </a:r>
            <a:endParaRPr lang="en-US" sz="38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37160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80960" y="1554480"/>
            <a:ext cx="39593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ن1 تمثيل زائد: 9 فقرات و10 درجات من 30</a:t>
            </a:r>
            <a:endParaRPr lang="en-US" sz="21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ن5 غير ممثَّل: لا فقرة واحدة</a:t>
            </a:r>
            <a:endParaRPr lang="en-US" sz="21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ن4 (+5.0) و ن6 (−5.0) على الحد تماماً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توازن المستويات المعرفية</a:t>
            </a:r>
            <a:endParaRPr lang="en-US" sz="38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464816"/>
                <a:gridCol w="5422595"/>
                <a:gridCol w="1478890"/>
                <a:gridCol w="1725371"/>
              </a:tblGrid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الحكم</a:t>
                      </a:r>
                      <a:endParaRPr lang="en-US" sz="19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المقصود (توزيع المعلم)</a:t>
                      </a:r>
                      <a:endParaRPr lang="en-US" sz="19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الفعلي</a:t>
                      </a:r>
                      <a:endParaRPr lang="en-US" sz="19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المستوى</a:t>
                      </a:r>
                      <a:endParaRPr lang="en-US" sz="19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تمثيل زائد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معرفة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متوازن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تطبيق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تمثيل ناقص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800" dirty="0">
                          <a:solidFill>
                            <a:srgbClr val="141413"/>
                          </a:solidFill>
                          <a:latin typeface="Sakkal Majalla" pitchFamily="34" charset="0"/>
                          <a:ea typeface="Sakkal Majalla" pitchFamily="34" charset="-122"/>
                          <a:cs typeface="Sakkal Majalla" pitchFamily="34" charset="-120"/>
                        </a:rPr>
                        <a:t>استدلال</a:t>
                      </a:r>
                      <a:endParaRPr lang="en-US" sz="1800" dirty="0">
                        <a:latin typeface="Sakkal Majalla" charset="0"/>
                        <a:ea typeface="Sakkal Majalla" charset="0"/>
                        <a:cs typeface="Sakkal Majalla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الاستدلال كله في فقرة واحدة (الفقرة 19). وللمقارنة، إطار تيمس 2023: 35% و35% و30%.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مؤشر التغطية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1554480"/>
            <a:ext cx="56052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4 نواتج متوازنة من 6، وناتج واحد غير ممثَّل.</a:t>
            </a:r>
            <a:endParaRPr lang="en-US" sz="22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الرقم مفيد للمقارنة قبل التعديل وبعده، لكنه لا يغني عن الجدول: ناتجان من الأربعة على الحد تماماً.</a:t>
            </a:r>
            <a:endParaRPr lang="en-US" sz="2200" dirty="0"/>
          </a:p>
        </p:txBody>
      </p:sp>
      <p:sp>
        <p:nvSpPr>
          <p:cNvPr id="4" name="stat"/>
          <p:cNvSpPr/>
          <p:nvPr/>
        </p:nvSpPr>
        <p:spPr>
          <a:xfrm>
            <a:off x="548640" y="155448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مؤشر التغطية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7764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قبل التعديل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مؤشر صدق الفقرة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يقدّر كل محكّم ارتباط الفقرة بناتجها من 1 إلى 4، ونعدّ التقديرين 3 و4 موافقة.</a:t>
            </a:r>
            <a:endParaRPr lang="en-US" sz="2400" dirty="0"/>
          </a:p>
        </p:txBody>
      </p:sp>
      <p:sp>
        <p:nvSpPr>
          <p:cNvPr id="4" name="formula"/>
          <p:cNvSpPr/>
          <p:nvPr/>
        </p:nvSpPr>
        <p:spPr>
          <a:xfrm>
            <a:off x="2194560" y="2880360"/>
            <a:ext cx="77998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194560" y="2880360"/>
            <a:ext cx="7799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I-CVI = experts rating 3 or 4 / N</a:t>
            </a:r>
            <a:endParaRPr lang="en-US" sz="2800" dirty="0"/>
          </a:p>
        </p:txBody>
      </p:sp>
      <p:sp>
        <p:nvSpPr>
          <p:cNvPr id="6" name="after"/>
          <p:cNvSpPr/>
          <p:nvPr/>
        </p:nvSpPr>
        <p:spPr>
          <a:xfrm>
            <a:off x="548640" y="4206240"/>
            <a:ext cx="11091672" cy="1645920"/>
          </a:xfrm>
          <a:prstGeom prst="roundRect">
            <a:avLst>
              <a:gd name="adj" fmla="val 6667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4206240"/>
            <a:ext cx="103601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معيار لين (1986): مع خمسة محكّمين أو أقل يجب أن يكون المؤشر 1.00.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المتوسط يخفي المشكلات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1554480"/>
            <a:ext cx="56052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المتوسط يتجاوز حد بوليت وبيك 0.90.</a:t>
            </a:r>
            <a:endParaRPr lang="en-US" sz="22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لكن ثلاث فقرات لم تبلغ 1.00: ف3 (0.60) وف11 (0.20) وف14 (0.80). ونسبة الإجماع التام 85%.</a:t>
            </a:r>
            <a:endParaRPr lang="en-US" sz="2200" dirty="0"/>
          </a:p>
        </p:txBody>
      </p:sp>
      <p:sp>
        <p:nvSpPr>
          <p:cNvPr id="4" name="stat"/>
          <p:cNvSpPr/>
          <p:nvPr/>
        </p:nvSpPr>
        <p:spPr>
          <a:xfrm>
            <a:off x="548640" y="155448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متوسط مؤشرات الفقرات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7764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5 محكّمين، 20 فقرة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مهددات الصدق</a:t>
            </a:r>
            <a:endParaRPr lang="en-US" sz="3800" dirty="0"/>
          </a:p>
        </p:txBody>
      </p:sp>
      <p:sp>
        <p:nvSpPr>
          <p:cNvPr id="3" name="card-0"/>
          <p:cNvSpPr/>
          <p:nvPr/>
        </p:nvSpPr>
        <p:spPr>
          <a:xfrm>
            <a:off x="8156448" y="1554480"/>
            <a:ext cx="3483864" cy="356616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63072" y="17830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5048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نقص تمثيل البنية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8385048" y="3337560"/>
            <a:ext cx="3026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الاختبار يغفل جزءاً مما يُفترض أن يقيسه، مثل غياب ن5 وضعف الاستدلال.</a:t>
            </a:r>
            <a:endParaRPr lang="en-US" sz="2000" dirty="0"/>
          </a:p>
        </p:txBody>
      </p:sp>
      <p:sp>
        <p:nvSpPr>
          <p:cNvPr id="7" name="card-1"/>
          <p:cNvSpPr/>
          <p:nvPr/>
        </p:nvSpPr>
        <p:spPr>
          <a:xfrm>
            <a:off x="4352544" y="1554480"/>
            <a:ext cx="3483864" cy="356616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059168" y="1783080"/>
            <a:ext cx="457200" cy="457200"/>
          </a:xfrm>
          <a:prstGeom prst="ellipse">
            <a:avLst/>
          </a:prstGeom>
          <a:solidFill>
            <a:srgbClr val="6A9BCC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تباين لا يرتبط بالبنية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3337560"/>
            <a:ext cx="3026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عبء قرائي في اختبار علوم، أو فراغ غامض كما في الفقرتين 6 و9، أو تخمين.</a:t>
            </a:r>
            <a:endParaRPr lang="en-US" sz="2000" dirty="0"/>
          </a:p>
        </p:txBody>
      </p:sp>
      <p:sp>
        <p:nvSpPr>
          <p:cNvPr id="11" name="card-2"/>
          <p:cNvSpPr/>
          <p:nvPr/>
        </p:nvSpPr>
        <p:spPr>
          <a:xfrm>
            <a:off x="548640" y="1554480"/>
            <a:ext cx="3483864" cy="356616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55264" y="178308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العمل المنزلي بالذكاء الاصطناعي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37560"/>
            <a:ext cx="3026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الدرجة قد تعبّر عن مهارة استخدام الأداة لا عن تعلم الطالب.</a:t>
            </a:r>
            <a:endParaRPr lang="en-US" sz="2000" dirty="0"/>
          </a:p>
        </p:txBody>
      </p:sp>
      <p:sp>
        <p:nvSpPr>
          <p:cNvPr id="15" name="footer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53492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الحل في التصميم: مسار آمن دون ذكاء اصطناعي، ومسار مفتوح مع التوثيق.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كلود ناقداً: ما يحسنه وما تتحقق منه</a:t>
            </a:r>
            <a:endParaRPr lang="en-US" sz="3800" dirty="0"/>
          </a:p>
        </p:txBody>
      </p:sp>
      <p:sp>
        <p:nvSpPr>
          <p:cNvPr id="3" name="panel-0"/>
          <p:cNvSpPr/>
          <p:nvPr/>
        </p:nvSpPr>
        <p:spPr>
          <a:xfrm>
            <a:off x="6323076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63072" y="182880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97396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ما يحسن فعله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97396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تصنيف الفقرات بالنواتج والمستويات مع تبرير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رصد عيوب الصياغة الشائعة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اقتراح فقرات لناتج غائب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إعادة حساب الأوزان</a:t>
            </a:r>
            <a:endParaRPr lang="en-US" sz="2000" dirty="0"/>
          </a:p>
        </p:txBody>
      </p:sp>
      <p:sp>
        <p:nvSpPr>
          <p:cNvPr id="7" name="panel-1"/>
          <p:cNvSpPr/>
          <p:nvPr/>
        </p:nvSpPr>
        <p:spPr>
          <a:xfrm>
            <a:off x="548640" y="1554480"/>
            <a:ext cx="531723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88636" y="1828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783080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ما تتحقق منه بنفسك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7685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أنه لم يرَ تصنيف المعلم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أن المستوى يطابق ما تطلبه الفقرة فعلاً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صحة كل فقرة جديدة ومستواها</a:t>
            </a:r>
            <a:endParaRPr lang="en-US" sz="20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الأرقام في الإكسل لا في المحادثة</a:t>
            </a:r>
            <a:endParaRPr lang="en-US" sz="2000" dirty="0"/>
          </a:p>
        </p:txBody>
      </p:sp>
      <p:sp>
        <p:nvSpPr>
          <p:cNvPr id="11" name="footer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141413"/>
          </a:solidFill>
          <a:ln w="12700">
            <a:solidFill>
              <a:srgbClr val="14141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5486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القرار عند الخلاف لك، بمبرر مكتوب.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خطوات المشغل</a:t>
            </a:r>
            <a:endParaRPr lang="en-US" sz="3800" dirty="0"/>
          </a:p>
        </p:txBody>
      </p:sp>
      <p:sp>
        <p:nvSpPr>
          <p:cNvPr id="3" name="step-1"/>
          <p:cNvSpPr/>
          <p:nvPr/>
        </p:nvSpPr>
        <p:spPr>
          <a:xfrm>
            <a:off x="8125968" y="150876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771632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354568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15 د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354568" y="246888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حكمك أولاً من ملف الإكسل</a:t>
            </a:r>
            <a:endParaRPr lang="en-US" sz="2100" dirty="0"/>
          </a:p>
        </p:txBody>
      </p:sp>
      <p:sp>
        <p:nvSpPr>
          <p:cNvPr id="7" name="step-2"/>
          <p:cNvSpPr/>
          <p:nvPr/>
        </p:nvSpPr>
        <p:spPr>
          <a:xfrm>
            <a:off x="4337304" y="150876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82968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65904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5 د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65904" y="246888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تجهيز النص دون تصنيف المعلم</a:t>
            </a:r>
            <a:endParaRPr lang="en-US" sz="2100" dirty="0"/>
          </a:p>
        </p:txBody>
      </p:sp>
      <p:sp>
        <p:nvSpPr>
          <p:cNvPr id="11" name="step-3"/>
          <p:cNvSpPr/>
          <p:nvPr/>
        </p:nvSpPr>
        <p:spPr>
          <a:xfrm>
            <a:off x="548640" y="150876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94304" y="16916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15 د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46888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كلود يصنّف الفقرات</a:t>
            </a:r>
            <a:endParaRPr lang="en-US" sz="2100" dirty="0"/>
          </a:p>
        </p:txBody>
      </p:sp>
      <p:sp>
        <p:nvSpPr>
          <p:cNvPr id="15" name="step-4"/>
          <p:cNvSpPr/>
          <p:nvPr/>
        </p:nvSpPr>
        <p:spPr>
          <a:xfrm>
            <a:off x="8125968" y="374904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771632" y="3931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4069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10 د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470916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المقارنة والحكم</a:t>
            </a:r>
            <a:endParaRPr lang="en-US" sz="2100" dirty="0"/>
          </a:p>
        </p:txBody>
      </p:sp>
      <p:sp>
        <p:nvSpPr>
          <p:cNvPr id="19" name="step-5"/>
          <p:cNvSpPr/>
          <p:nvPr/>
        </p:nvSpPr>
        <p:spPr>
          <a:xfrm>
            <a:off x="4337304" y="374904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82968" y="3931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4565904" y="4069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15 د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565904" y="470916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التعديل وإعادة الفحص</a:t>
            </a:r>
            <a:endParaRPr lang="en-US" sz="2100" dirty="0"/>
          </a:p>
        </p:txBody>
      </p:sp>
      <p:sp>
        <p:nvSpPr>
          <p:cNvPr id="23" name="step-6"/>
          <p:cNvSpPr/>
          <p:nvPr/>
        </p:nvSpPr>
        <p:spPr>
          <a:xfrm>
            <a:off x="548640" y="3749040"/>
            <a:ext cx="351434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194304" y="3931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069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10 د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70916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كتابة التقرير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B0AEA5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المنتج: تقرير أدلة صدق المحتوى في صفحة واحدة.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تقرير أدلة صدق المحتوى</a:t>
            </a:r>
            <a:endParaRPr lang="en-US" sz="3800" dirty="0"/>
          </a:p>
        </p:txBody>
      </p:sp>
      <p:sp>
        <p:nvSpPr>
          <p:cNvPr id="3" name="card-0"/>
          <p:cNvSpPr/>
          <p:nvPr/>
        </p:nvSpPr>
        <p:spPr>
          <a:xfrm>
            <a:off x="8156448" y="1554480"/>
            <a:ext cx="3483864" cy="420624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63072" y="17830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5048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نتائج المواءمة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8385048" y="33375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النواتج والمستويات غير المتوازنة بالأرقام، ومؤشر التغطية، وموقفك من حالتي الحد.</a:t>
            </a:r>
            <a:endParaRPr lang="en-US" sz="2000" dirty="0"/>
          </a:p>
        </p:txBody>
      </p:sp>
      <p:sp>
        <p:nvSpPr>
          <p:cNvPr id="7" name="card-1"/>
          <p:cNvSpPr/>
          <p:nvPr/>
        </p:nvSpPr>
        <p:spPr>
          <a:xfrm>
            <a:off x="4352544" y="1554480"/>
            <a:ext cx="3483864" cy="420624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059168" y="1783080"/>
            <a:ext cx="457200" cy="457200"/>
          </a:xfrm>
          <a:prstGeom prst="ellipse">
            <a:avLst/>
          </a:prstGeom>
          <a:solidFill>
            <a:srgbClr val="6A9BCC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نتائج المحكّمين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33375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الفقرات التي لم تبلغ معيار لين، والمتوسط، وسبب عدم الاكتفاء به.</a:t>
            </a:r>
            <a:endParaRPr lang="en-US" sz="2000" dirty="0"/>
          </a:p>
        </p:txBody>
      </p:sp>
      <p:sp>
        <p:nvSpPr>
          <p:cNvPr id="11" name="card-2"/>
          <p:cNvSpPr/>
          <p:nvPr/>
        </p:nvSpPr>
        <p:spPr>
          <a:xfrm>
            <a:off x="548640" y="1554480"/>
            <a:ext cx="3483864" cy="420624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55264" y="1783080"/>
            <a:ext cx="457200" cy="457200"/>
          </a:xfrm>
          <a:prstGeom prst="ellipse">
            <a:avLst/>
          </a:prstGeom>
          <a:solidFill>
            <a:srgbClr val="788C5D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3774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ثلاثة تغييرات مبررة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375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41413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لكل تغيير: المشكلة، والدليل، والأثر في المصفوفة بعد التعديل.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قبل أن تغادر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ثلاث أفكار تأخذها معك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186928" y="3200400"/>
            <a:ext cx="3453384" cy="2377440"/>
          </a:xfrm>
          <a:prstGeom prst="roundRect">
            <a:avLst>
              <a:gd name="adj" fmla="val 4615"/>
            </a:avLst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61248" y="342900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الصدق للتفسير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461248" y="4160520"/>
            <a:ext cx="29047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E8E6DC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اسأل دائماً: صادق لأي تفسير ولأي قرار؟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367784" y="3200400"/>
            <a:ext cx="3453384" cy="2377440"/>
          </a:xfrm>
          <a:prstGeom prst="roundRect">
            <a:avLst>
              <a:gd name="adj" fmla="val 4615"/>
            </a:avLst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2104" y="342900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الوزن بالدرجات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4642104" y="4160520"/>
            <a:ext cx="29047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E8E6DC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قارن الوزن الفعلي بالمقصود لكل ناتج ولكل مستوى، واقرأ حالات الحد بعين ناقدة.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3453384" cy="2377440"/>
          </a:xfrm>
          <a:prstGeom prst="roundRect">
            <a:avLst>
              <a:gd name="adj" fmla="val 4615"/>
            </a:avLst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2900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D97757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المتوسط لا يكفي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60520"/>
            <a:ext cx="29047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E8E6DC"/>
                </a:solidFill>
                <a:latin typeface="Sakkal Majalla" pitchFamily="34" charset="0"/>
                <a:ea typeface="Sakkal Majalla" pitchFamily="34" charset="-122"/>
                <a:cs typeface="Sakkal Majalla" pitchFamily="34" charset="-120"/>
              </a:rPr>
              <a:t>مؤشر كل فقرة أولاً، ثم متوسط الاختبار.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0AEA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thropic Arabic">
  <a:themeElements>
    <a:clrScheme name="Anthropic Arabic">
      <a:dk1>
        <a:srgbClr val="141413"/>
      </a:dk1>
      <a:lt1>
        <a:srgbClr val="FFFFFF"/>
      </a:lt1>
      <a:dk2>
        <a:srgbClr val="141413"/>
      </a:dk2>
      <a:lt2>
        <a:srgbClr val="FAF9F5"/>
      </a:lt2>
      <a:accent1>
        <a:srgbClr val="D97757"/>
      </a:accent1>
      <a:accent2>
        <a:srgbClr val="6A9BCC"/>
      </a:accent2>
      <a:accent3>
        <a:srgbClr val="788C5D"/>
      </a:accent3>
      <a:accent4>
        <a:srgbClr val="B0AEA5"/>
      </a:accent4>
      <a:accent5>
        <a:srgbClr val="E8E6DC"/>
      </a:accent5>
      <a:accent6>
        <a:srgbClr val="141413"/>
      </a:accent6>
      <a:hlink>
        <a:srgbClr val="6A9BCC"/>
      </a:hlink>
      <a:folHlink>
        <a:srgbClr val="788C5D"/>
      </a:folHlink>
    </a:clrScheme>
    <a:fontScheme name="Anthropic Arabic">
      <a:majorFont>
        <a:latin typeface="Sakkal Majall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kkal Majall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الأسبوع 3</dc:title>
  <dc:subject>PptxGenJS Presentation</dc:subject>
  <dc:creator>PptxGenJS</dc:creator>
  <cp:lastModifiedBy>PptxGenJS</cp:lastModifiedBy>
  <cp:revision>1</cp:revision>
  <dcterms:created xsi:type="dcterms:W3CDTF">2026-10-15T04:35:14Z</dcterms:created>
  <dcterms:modified xsi:type="dcterms:W3CDTF">2026-10-15T04:35:14Z</dcterms:modified>
</cp:coreProperties>
</file>