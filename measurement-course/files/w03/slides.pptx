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dd1dd8d1-5e17-fa97-0403-f68cca7168b3}">
          <p14:sldIdLst>
            <p14:sldId id="256"/>
            <p14:sldId id="257"/>
          </p14:sldIdLst>
        </p14:section>
        <p14:section name="المحتوى" id="{9d67d9d6-c840-d23b-879a-942b1804059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الختام" id="{6d6ec2fd-13b0-9d1b-27c9-861306cb21a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الفعلي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ن1</c:v>
                  </c:pt>
                  <c:pt idx="1">
                    <c:v>ن2</c:v>
                  </c:pt>
                  <c:pt idx="2">
                    <c:v>ن3</c:v>
                  </c:pt>
                  <c:pt idx="3">
                    <c:v>ن4</c:v>
                  </c:pt>
                  <c:pt idx="4">
                    <c:v>ن5</c:v>
                  </c:pt>
                  <c:pt idx="5">
                    <c:v>ن6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0.333</c:v>
                </c:pt>
                <c:pt idx="1">
                  <c:v>0.2</c:v>
                </c:pt>
                <c:pt idx="2">
                  <c:v>0.167</c:v>
                </c:pt>
                <c:pt idx="3">
                  <c:v>0.2</c:v>
                </c:pt>
                <c:pt idx="4">
                  <c:v>0</c:v>
                </c:pt>
                <c:pt idx="5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المقصود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ن1</c:v>
                  </c:pt>
                  <c:pt idx="1">
                    <c:v>ن2</c:v>
                  </c:pt>
                  <c:pt idx="2">
                    <c:v>ن3</c:v>
                  </c:pt>
                  <c:pt idx="3">
                    <c:v>ن4</c:v>
                  </c:pt>
                  <c:pt idx="4">
                    <c:v>ن5</c:v>
                  </c:pt>
                  <c:pt idx="5">
                    <c:v>ن6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</c:v>
                </c:pt>
                <c:pt idx="1">
                  <c:v>0.2</c:v>
                </c:pt>
                <c:pt idx="2">
                  <c:v>0.15</c:v>
                </c:pt>
                <c:pt idx="3">
                  <c:v>0.15</c:v>
                </c:pt>
                <c:pt idx="4">
                  <c:v>0.15</c:v>
                </c:pt>
                <c:pt idx="5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عرّف الأسبوع بأنه انتقال من سؤال «هل الاختبار صادق؟» إلى سؤال «هل يحق لنا تفسير الدرجة بهذه الطريقة؟».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نقاش ثنائي ثلاث دقائق. الإجابة المنتظرة: لا نعرف شيئاً، لأن الاختبار لا يتضمن أي فقرة عن هذا الناتج.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أكّد أن المعايير الدولية 2014 تبنّت هذه النظرة، وأنها مرجع المساق.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تحديد الحلقة الأضعف في مثال الافتتاح قبل عرض الإجابة.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كل طالب مثالاً من صفه لمصدر واحد غير المحتوى.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تتوسع في تفاصيل ويب؛ يكفي أن يربط الطالب كل معيار بورقة في ملف الإكسل.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احسب ن1 أمام الطلبة: 10 درجات من 30 = 33%، والمقصود 20%، فالفرق +13.3.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افتح الحالتين الحدّيتين للنقاش: ن6 يقيسه سؤال واحد فقط، فهل التوازن حقيقي؟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لاحظ أن التطبيق متوازن بالدرجات مع أنه في 4 فقرات فقط، لأن درجاتها أعلى.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لو غيّرنا حد التسامح إلى 4، ماذا يحدث للمؤشر؟ دعهم يجربون في الملف.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احسب ف14 يدوياً: 4 محكّمين من 5 يساوي 0.80، فتحتاج مراجعة مع أنها تبدو مرتفعة.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أهم رسالة في الجزء الحسابي: نقرأ مؤشر كل فقرة أولاً، ثم المتوسط.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بنهج المسارين في جامعة سيدني وسياسة جامعة الإمارات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نبّه إلى حذف عمودي الناتج والمستوى قبل اللصق، وإلا فقد النقد استقلاله.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تعطِ التصنيف الصحيح أثناء التجوال؛ اسأل عن نص الناتج وما تطلبه الفقرة.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التقرير يدخل ملف الإنجاز، وهو تمرين مباشر على فحص جدول المواصفات في الأسبوع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الأسبوع القادم: الثبات، وهو الحلقة الثانية في سلسلة كين.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الصدق: المفهوم الحديث ومصادر الأدلة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بدور «الناقد»: فحص مواءمة اختبار مدرسي مع نواتجه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حصلت طالبة على 28 من 30 في اختبار الوحدة، فكتب المعلم: «أتقنت الوحدة».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نعرف عن قدرتها على تطبيق قانون حفظ الكتلة؟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انظر إلى النواتج التي يغطيها الاختبار فعلاً، لا إلى الدرجة.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صدق الاختبار إلى صدق التفسير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النظرة التقليدية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الصدق خاصية في الاختبار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أنواع منفصلة للصدق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 صادق أو غير صادق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العواقب خارج القياس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النظرة الحديثة (ميسك 1989)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حكم على تفسير الدرجات واستخدامها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مفهوم واحد وخمسة مصادر للأدلة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الأدلة تدعم التفسير بدرجة ما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العواقب جزء من الحكم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 نفسه قد يكون صادقاً لغرض وغير صادق لآخر.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الصدق حجة: سلسلة كين (2013)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9073134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30173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الحلقة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01734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التصحيح: الدرجة حُسبت بدقة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6231636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3013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6023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الحلقة 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التعميم: درجة قريبة في اختبار مماثل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3390138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88636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1873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الحلقة 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الاستقراء: الفقرات تمثّل الوحدة كلها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24713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الحلقة 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القرار: الدرجة كافية للانتقال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مثالنا تنكسر الحلقة الثالثة: ناتج كامل غائب.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المصادر الخمسة لأدلة الصدق (المعايير 2014)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7615178"/>
                <a:gridCol w="347649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 صفي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المصدر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مقارنة الاختبار بجدول المواصفات وتحكيم الفقرات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المحتوى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طلبة يشرحون بصوت مرتفع كيف حلّوا فقرة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عمليات الاستجابة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تحليل الفقرات وارتباطها بالدرجة الكلية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البنية الداخلية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درجات الاختبار مقابل أداء التجربة العملية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العلاقة بمتغيرات أخرى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اختبار تذكّر يدفع الطلبة إلى الحفظ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عواقب الاختبار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هذا الأسبوع يركّز على المصدر الأول.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أشهر أربعة من معايير ويب للمواءمة (1997)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التوافق الفئوي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لكل ناتج فقرات تقيسه؟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اتساق عمق المعرفة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تطلب الفقرات مستوى التفكير الذي يطلبه الناتج؟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مدى المعرفة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تغطي الفقرات جوانب الناتج المختلفة؟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توازن التمثيل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توزّعت الفقرات على النواتج توزيعاً متقارباً؟ ونكيّفه لنقارن بالأوزان المقصودة.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نأخذ من ويب الأسئلة لا الحدود الرقمية، فهي وُضعت لاختبارات واسعة النطاق.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الوزن الفعلي والفرق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نحسب الوزن بالدرجات لا بعدد الفقرات.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outcome marks / total marks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= الفعلي ناقص المقصود بالنقاط المئوية، ويُقارن بحد التسامح 5. الحد قرار القسم لا قاعدة علمية.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الوزن الفعلي مقابل المقصود لكل ناتج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ن1 تمثيل زائد: 9 فقرات و10 درجات من 30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ن5 غير ممثَّل: لا فقرة واحدة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ن4 (+5.0) و ن6 (−5.0) على الحد تماماً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توازن المستويات المعرفية</a:t>
            </a:r>
            <a:endParaRPr lang="en-US" sz="38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640874"/>
                <a:gridCol w="5017661"/>
                <a:gridCol w="1584525"/>
                <a:gridCol w="1848612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الحكم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المقصود (تيمس 2023)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الفعلي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المستوى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تمثيل زائد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معرفة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متوازن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تطبيق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تمثيل ناقص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استدلال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الاستدلال كله في فقرة واحدة (الفقرة 19).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مؤشر التغطية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4 نواتج متوازنة من 6، وناتج واحد غير ممثَّل.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الرقم مفيد للمقارنة قبل التعديل وبعده، لكنه لا يغني عن الجدول: ناتجان من الأربعة على الحد تماماً.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مؤشر التغطية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التعديل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مؤشر صدق الفقرة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يقدّر كل محكّم ارتباط الفقرة بناتجها من 1 إلى 4، ونعدّ التقديرين 3 و4 موافقة.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I-CVI = experts rating 3 or 4 / N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معيار لين (1986): مع خمسة محكّمين أو أقل يجب أن يكون المؤشر 1.00.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يخفي المشكلات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يتجاوز حد بوليت وبيك 0.90.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لكن ثلاث فقرات لم تبلغ 1.00: ف3 (0.60) وف11 (0.20) وف14 (0.80). ونسبة الإجماع التام 85%.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متوسط مؤشرات الفقرات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محكّمين، 20 فقرة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مهددات الصدق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نقص تمثيل البنية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 يغفل جزءاً مما يُفترض أن يقيسه، مثل غياب ن5 وضعف الاستدلال.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تباين لا يرتبط بالبنية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عبء قرائي في اختبار علوم، أو فراغ غامض كما في الفقرتين 6 و9، أو تخمين.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العمل المنزلي بالذكاء الاصطناعي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الدرجة قد تعبّر عن مهارة استخدام الأداة لا عن تعلم الطالب.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الحل في التصميم: مسار آمن دون ذكاء اصطناعي، ومسار مفتوح مع التوثيق.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ناقداً: ما يحسنه وما تتحقق منه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يحسن فعله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تصنيف الفقرات بالنواتج والمستويات مع تبرير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رصد عيوب الصياغة الشائعة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اقتراح فقرات لناتج غائب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إعادة حساب الأوزان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تتحقق منه بنفسك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أنه لم يرَ تصنيف المعلم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 المستوى يطابق ما تطلبه الفقرة فعلاً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صحة كل فقرة جديدة ومستواها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الأرقام في الإكسل لا في المحادثة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القرار عند الخلاف لك، بمبرر مكتوب.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خطوات المشغل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حكمك أولاً من ملف الإكسل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تجهيز النص دون تصنيف المعلم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يصنّف الفقرات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المقارنة والحكم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التعديل وإعادة الفحص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كتابة التقرير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المنتج: تقرير أدلة صدق المحتوى في صفحة واحدة.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تقرير أدلة صدق المحتوى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نتائج المواءمة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النواتج والمستويات غير المتوازنة بالأرقام، ومؤشر التغطية، وموقفك من حالتي الحد.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نتائج المحكّمين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الفقرات التي لم تبلغ معيار لين، والمتوسط، وسبب عدم الاكتفاء به.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تغييرات مبررة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لكل تغيير: المشكلة، والدليل، والأثر في المصفوفة بعد التعديل.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الصدق للتفسير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اسأل دائماً: صادق لأي تفسير ولأي قرار؟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الوزن بالدرجات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قارن الوزن الفعلي بالمقصود لكل ناتج ولكل مستوى، واقرأ حالات الحد بعين ناقدة.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لا يكفي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مؤشر كل فقرة أولاً، ثم متوسط الاختبار.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3</dc:title>
  <dc:subject>PptxGenJS Presentation</dc:subject>
  <dc:creator>PptxGenJS</dc:creator>
  <cp:lastModifiedBy>PptxGenJS</cp:lastModifiedBy>
  <cp:revision>1</cp:revision>
  <dcterms:created xsi:type="dcterms:W3CDTF">2026-10-07T19:24:44Z</dcterms:created>
  <dcterms:modified xsi:type="dcterms:W3CDTF">2026-10-07T19:24:44Z</dcterms:modified>
</cp:coreProperties>
</file>