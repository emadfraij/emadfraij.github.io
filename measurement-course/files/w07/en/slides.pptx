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ed14eb2-898e-d67e-4b37-2393aad8f674}">
          <p14:sldIdLst>
            <p14:sldId id="256"/>
            <p14:sldId id="257"/>
          </p14:sldIdLst>
        </p14:section>
        <p14:section name="Content" id="{67a6b509-2aa2-687e-6428-e55e0fe442e1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losing" id="{9029181e-8e2f-784e-3222-9671346632f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marks in the Week 6 blueprint</c:v>
                </c:pt>
              </c:strCache>
            </c:strRef>
          </c:tx>
          <c:spPr>
            <a:solidFill>
              <a:srgbClr val="D97757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Knowing</c:v>
                  </c:pt>
                  <c:pt idx="1">
                    <c:v>Applying</c:v>
                  </c:pt>
                  <c:pt idx="2">
                    <c:v>Reasoning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</c:v>
                </c:pt>
                <c:pt idx="1">
                  <c:v>0.43</c:v>
                </c:pt>
                <c:pt idx="2">
                  <c:v>0.27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items in the bank</c:v>
                </c:pt>
              </c:strCache>
            </c:strRef>
          </c:tx>
          <c:spPr>
            <a:solidFill>
              <a:srgbClr val="B0AEA5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Knowing</c:v>
                  </c:pt>
                  <c:pt idx="1">
                    <c:v>Applying</c:v>
                  </c:pt>
                  <c:pt idx="2">
                    <c:v>Reasoning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0.58</c:v>
                </c:pt>
                <c:pt idx="1">
                  <c:v>0.42</c:v>
                </c:pt>
                <c:pt idx="2">
                  <c:v>0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41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41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6D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0AEA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from a practical question: writing items has become easy, but has reviewing them become easier? Today's product is an item bank that feeds into Phase 2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Two-minute pair discussion, then collect three answers without comment. We will return to them after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student for an outcome from their unit that suits one of the four types.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salt example from the lecture notes, and ask: why did we not put distillation among the options?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rules are from Haladyna and Rodriguez (2013). Some are supported by empirical studies, and many rest on expert consensus.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practical rule: one plausible distractor is better than two weak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example of an object with a mass of 30 grams and a volume of 20 cubic centimetres. Ask the students to write a third distractor and name its misconception.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distractors: rising temperature, increased pressure, and the wax running out. The item remains Applying provided the experiment is new to the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bank is the workshop bank, and the blueprint is the worked example for the same unit in Week 6. We do not amend the blueprint to fit the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 not need the details of template-based generation. It is enough for the student to see where the responsibility has moved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students to predict which of the six flaws they will find in the workshop bank, without revealing the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course principle: Claude proposes, the student judges and documents, and the data decides.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to bring the test blueprint from Week 6. Do not reveal the key during the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now. Next week: constructed-response items and rubrics, and Phase 2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696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Measurement and Evaluation · Week 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Selected-Response Items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quick draft to a reviewed item bank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05430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asked Claude for 30 items for Thursday's test, and they arrived in under a minute, formatted and with their keys ready.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of them would you put in the test without review?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292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know that every key is correct, and that each item has only one answer?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 of selected-response items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broad content and measures higher levels if well written, but its distractors are hard to write.</a:t>
            </a:r>
            <a:endParaRPr lang="en-US" sz="1800" dirty="0"/>
          </a:p>
        </p:txBody>
      </p:sp>
      <p:sp>
        <p:nvSpPr>
          <p:cNvPr id="7" name="card-1"/>
          <p:cNvSpPr/>
          <p:nvPr/>
        </p:nvSpPr>
        <p:spPr>
          <a:xfrm>
            <a:off x="3401568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721608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30168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True–false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630168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write and score, but the chance of guessing is 50% and it tends towards recall.</a:t>
            </a:r>
            <a:endParaRPr lang="en-US" sz="1800" dirty="0"/>
          </a:p>
        </p:txBody>
      </p:sp>
      <p:sp>
        <p:nvSpPr>
          <p:cNvPr id="11" name="card-2"/>
          <p:cNvSpPr/>
          <p:nvPr/>
        </p:nvSpPr>
        <p:spPr>
          <a:xfrm>
            <a:off x="6254496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74536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83096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many relationships in a small space if the two lists are homogeneous.</a:t>
            </a:r>
            <a:endParaRPr lang="en-US" sz="1800" dirty="0"/>
          </a:p>
        </p:txBody>
      </p:sp>
      <p:sp>
        <p:nvSpPr>
          <p:cNvPr id="15" name="card-3"/>
          <p:cNvSpPr/>
          <p:nvPr/>
        </p:nvSpPr>
        <p:spPr>
          <a:xfrm>
            <a:off x="9107424" y="1554480"/>
            <a:ext cx="2532888" cy="3566160"/>
          </a:xfrm>
          <a:prstGeom prst="roundRect">
            <a:avLst>
              <a:gd name="adj" fmla="val 43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427464" y="1783080"/>
            <a:ext cx="457200" cy="457200"/>
          </a:xfrm>
          <a:prstGeom prst="ellipse">
            <a:avLst/>
          </a:prstGeom>
          <a:solidFill>
            <a:srgbClr val="B0AEA5"/>
          </a:solidFill>
          <a:ln w="12700">
            <a:solidFill>
              <a:srgbClr val="B0AE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36024" y="2377440"/>
            <a:ext cx="207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answer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336024" y="3337560"/>
            <a:ext cx="207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guessing from options, and needs a list of acceptable answers before scoring.</a:t>
            </a:r>
            <a:endParaRPr lang="en-US" sz="1800" dirty="0"/>
          </a:p>
        </p:txBody>
      </p:sp>
      <p:sp>
        <p:nvSpPr>
          <p:cNvPr id="19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choose the type according to the outcome to be measured, not according to ease of writing.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multiple-choice item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stem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question the competent student can answer before reading the options.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correct option, whose scientific correctness is beyond dispute.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356616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distractors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answers chosen by those who do not know, each representing a specific misconception.</a:t>
            </a:r>
            <a:endParaRPr lang="en-US" sz="2000" dirty="0"/>
          </a:p>
        </p:txBody>
      </p:sp>
      <p:sp>
        <p:nvSpPr>
          <p:cNvPr id="15" name="footer"/>
          <p:cNvSpPr/>
          <p:nvPr/>
        </p:nvSpPr>
        <p:spPr>
          <a:xfrm>
            <a:off x="548640" y="5349240"/>
            <a:ext cx="11091672" cy="777240"/>
          </a:xfrm>
          <a:prstGeom prst="roundRect">
            <a:avLst>
              <a:gd name="adj" fmla="val 14118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10360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recovering dissolved salt. The key is evaporation; distillation was excluded because it is a second answer.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evidence-based rules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Stem and key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stem is a complete, clear question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Only one correct answer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key is scientifically correct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Any negative in the stem is highlighted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All distractors are plausible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and 9. No linguistic clue and no word repeated from the stem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Option lengths are similar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No "all of the above" or "none of the above"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Rule 10: the actual cognitive level matches the intended level.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options do we need?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Rodriguez's (2005) meta-analysis of eighty years of research concluded that three options are usually enough, because the fourth distractor rarely works.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 finding, not a binding rule: if there is a plausible fourth distractor, there is no need to delete it.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usually enough, and guessing rises from 25% to about 33%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distractor comes from a misconception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distractor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nobody chooses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Unrelated to the way the student thinks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the chance of guessing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Distractor from a misconception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 floats because its volume is large"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"Its density is 0.67": dividing volume by mass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in Week 11 who holds the misconception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distractor must be indisputably wrong in light of what the stem asks.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recall to application</a:t>
            </a:r>
            <a:endParaRPr lang="en-US" sz="3800" dirty="0"/>
          </a:p>
        </p:txBody>
      </p:sp>
      <p:sp>
        <p:nvSpPr>
          <p:cNvPr id="3" name="panel-0"/>
          <p:cNvSpPr/>
          <p:nvPr/>
        </p:nvSpPr>
        <p:spPr>
          <a:xfrm>
            <a:off x="548640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gas is needed for combustion?</a:t>
            </a:r>
            <a:endParaRPr lang="en-US" sz="2000" dirty="0"/>
          </a:p>
        </p:txBody>
      </p:sp>
      <p:sp>
        <p:nvSpPr>
          <p:cNvPr id="7" name="panel-1"/>
          <p:cNvSpPr/>
          <p:nvPr/>
        </p:nvSpPr>
        <p:spPr>
          <a:xfrm>
            <a:off x="6323076" y="1554480"/>
            <a:ext cx="5317236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643116" y="182880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37476" y="1783080"/>
            <a:ext cx="41285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97396" y="2560320"/>
            <a:ext cx="47685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burning candle was placed under an inverted glass and went out after a while.</a:t>
            </a:r>
            <a:endParaRPr lang="en-US" sz="20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suitable explanation?</a:t>
            </a:r>
            <a:endParaRPr lang="en-US" sz="2000" dirty="0"/>
          </a:p>
        </p:txBody>
      </p:sp>
      <p:sp>
        <p:nvSpPr>
          <p:cNvPr id="11" name="footer"/>
          <p:cNvSpPr/>
          <p:nvPr/>
        </p:nvSpPr>
        <p:spPr>
          <a:xfrm>
            <a:off x="548640" y="54864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14400" y="5486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data and a new situation raise the level. The worked example in the textbook remains recall.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versus the test blueprint</a:t>
            </a:r>
            <a:endParaRPr lang="en-US" sz="3800" dirty="0"/>
          </a:p>
        </p:txBody>
      </p:sp>
      <p:graphicFrame>
        <p:nvGraphicFramePr>
          <p:cNvPr id="3" name="chart" descr=""/>
          <p:cNvGraphicFramePr/>
          <p:nvPr/>
        </p:nvGraphicFramePr>
        <p:xfrm>
          <a:off x="4873752" y="1371600"/>
          <a:ext cx="67665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1554480"/>
            <a:ext cx="395935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Knowing items, 5 Applying, and no Reasoning item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items for outcome O1 in a cell worth one mark</a:t>
            </a:r>
            <a:endParaRPr lang="en-US" sz="21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1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has two levels: the item and the bank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generation: then and now</a:t>
            </a:r>
            <a:endParaRPr lang="en-US" sz="3800" dirty="0"/>
          </a:p>
        </p:txBody>
      </p:sp>
      <p:sp>
        <p:nvSpPr>
          <p:cNvPr id="3" name="card-0"/>
          <p:cNvSpPr/>
          <p:nvPr/>
        </p:nvSpPr>
        <p:spPr>
          <a:xfrm>
            <a:off x="548640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83080"/>
            <a:ext cx="457200" cy="4572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automatic generation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 builds an item model with fixed and variable parts, and the computer fills in the variables (Gierl and Haladyna, 2013).</a:t>
            </a:r>
            <a:endParaRPr lang="en-US" sz="2000" dirty="0"/>
          </a:p>
        </p:txBody>
      </p:sp>
      <p:sp>
        <p:nvSpPr>
          <p:cNvPr id="7" name="card-1"/>
          <p:cNvSpPr/>
          <p:nvPr/>
        </p:nvSpPr>
        <p:spPr>
          <a:xfrm>
            <a:off x="4352544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72584" y="1783080"/>
            <a:ext cx="457200" cy="457200"/>
          </a:xfrm>
          <a:prstGeom prst="ellipse">
            <a:avLst/>
          </a:prstGeom>
          <a:solidFill>
            <a:srgbClr val="6A9BCC"/>
          </a:solidFill>
          <a:ln w="12700">
            <a:solidFill>
              <a:srgbClr val="6A9B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1144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</a:t>
            </a:r>
            <a:endParaRPr lang="en-US" sz="2700" dirty="0"/>
          </a:p>
        </p:txBody>
      </p:sp>
      <p:sp>
        <p:nvSpPr>
          <p:cNvPr id="10" name="Text 8"/>
          <p:cNvSpPr txBox="1"/>
          <p:nvPr/>
        </p:nvSpPr>
        <p:spPr>
          <a:xfrm>
            <a:off x="4581144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write the whole item from a text description, with no template to control the key or the level.</a:t>
            </a:r>
            <a:endParaRPr lang="en-US" sz="2000" dirty="0"/>
          </a:p>
        </p:txBody>
      </p:sp>
      <p:sp>
        <p:nvSpPr>
          <p:cNvPr id="11" name="card-2"/>
          <p:cNvSpPr/>
          <p:nvPr/>
        </p:nvSpPr>
        <p:spPr>
          <a:xfrm>
            <a:off x="8156448" y="1554480"/>
            <a:ext cx="3483864" cy="4206240"/>
          </a:xfrm>
          <a:prstGeom prst="roundRect">
            <a:avLst>
              <a:gd name="adj" fmla="val 31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76488" y="1783080"/>
            <a:ext cx="457200" cy="457200"/>
          </a:xfrm>
          <a:prstGeom prst="ellipse">
            <a:avLst/>
          </a:prstGeom>
          <a:solidFill>
            <a:srgbClr val="788C5D"/>
          </a:solidFill>
          <a:ln w="12700">
            <a:solidFill>
              <a:srgbClr val="788C5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377440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changed?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337560"/>
            <a:ext cx="30266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that used to sit in the template has moved to the reviewer's responsibility.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typical flaws in generated items</a:t>
            </a:r>
            <a:endParaRPr lang="en-US" sz="3800" dirty="0"/>
          </a:p>
        </p:txBody>
      </p:sp>
      <p:graphicFrame>
        <p:nvGraphicFramePr>
          <p:cNvPr id="1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617136"/>
                <a:gridCol w="8474536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Flaw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appears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1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Confidently wrong key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convincing explanation for a scientifically incorrect key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possible answers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distractor is also correct, or correct under an unstated condition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clue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key is the longest and most precisely worded option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"All of the above"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Fills a fourth option for which the generator found no distractor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Mismatched level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Tagged "Applying" but asks for memorised text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Repeated patterns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4141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stem template, and the key in the same position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6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observations that recur in practice, to guide review; not measured percentages.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make Claude the sole judge of items it wrote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605272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that produced the wrong key tends to confirm it at review.</a:t>
            </a:r>
            <a:endParaRPr lang="en-US" sz="2200" dirty="0"/>
          </a:p>
          <a:p>
            <a:pPr algn="l" indent="0" marL="0">
              <a:spcAft>
                <a:spcPts val="1400"/>
              </a:spcAft>
              <a:buNone/>
            </a:pPr>
            <a:r>
              <a:rPr lang="en-US" sz="2200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first with the checklist, then a new conversation that solves each item before looking at the key, then the administration data in Week 11.</a:t>
            </a:r>
            <a:endParaRPr lang="en-US" sz="2200" dirty="0"/>
          </a:p>
        </p:txBody>
      </p:sp>
      <p:sp>
        <p:nvSpPr>
          <p:cNvPr id="4" name="stat"/>
          <p:cNvSpPr/>
          <p:nvPr/>
        </p:nvSpPr>
        <p:spPr>
          <a:xfrm>
            <a:off x="6611112" y="1554480"/>
            <a:ext cx="5029200" cy="4389120"/>
          </a:xfrm>
          <a:prstGeom prst="roundRect">
            <a:avLst>
              <a:gd name="adj" fmla="val 2500"/>
            </a:avLst>
          </a:prstGeom>
          <a:solidFill>
            <a:srgbClr val="141413"/>
          </a:solidFill>
          <a:ln w="12700">
            <a:solidFill>
              <a:srgbClr val="14141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76872" y="18288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review layers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976872" y="25603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6976872" y="39776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then an independent review, then the data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Claude workshop</a:t>
            </a:r>
            <a:endParaRPr lang="en-US" sz="3800" dirty="0"/>
          </a:p>
        </p:txBody>
      </p:sp>
      <p:sp>
        <p:nvSpPr>
          <p:cNvPr id="3" name="step-1"/>
          <p:cNvSpPr/>
          <p:nvPr/>
        </p:nvSpPr>
        <p:spPr>
          <a:xfrm>
            <a:off x="548640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371039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bank yourself with the checklist</a:t>
            </a:r>
            <a:endParaRPr lang="en-US" sz="2100" dirty="0"/>
          </a:p>
        </p:txBody>
      </p:sp>
      <p:sp>
        <p:nvSpPr>
          <p:cNvPr id="7" name="step-2"/>
          <p:cNvSpPr/>
          <p:nvPr/>
        </p:nvSpPr>
        <p:spPr>
          <a:xfrm>
            <a:off x="4336999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5599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160313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65599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Claude's review with the ready-made prompt</a:t>
            </a:r>
            <a:endParaRPr lang="en-US" sz="2100" dirty="0"/>
          </a:p>
        </p:txBody>
      </p:sp>
      <p:sp>
        <p:nvSpPr>
          <p:cNvPr id="11" name="step-3"/>
          <p:cNvSpPr/>
          <p:nvPr/>
        </p:nvSpPr>
        <p:spPr>
          <a:xfrm>
            <a:off x="8126273" y="150876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54873" y="16916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9948672" y="18288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54873" y="246888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two reviews and settle disagreements</a:t>
            </a:r>
            <a:endParaRPr lang="en-US" sz="2100" dirty="0"/>
          </a:p>
        </p:txBody>
      </p:sp>
      <p:sp>
        <p:nvSpPr>
          <p:cNvPr id="15" name="step-4"/>
          <p:cNvSpPr/>
          <p:nvPr/>
        </p:nvSpPr>
        <p:spPr>
          <a:xfrm>
            <a:off x="548640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2371039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6 items for two cells of your blueprint</a:t>
            </a:r>
            <a:endParaRPr lang="en-US" sz="2100" dirty="0"/>
          </a:p>
        </p:txBody>
      </p:sp>
      <p:sp>
        <p:nvSpPr>
          <p:cNvPr id="19" name="step-5"/>
          <p:cNvSpPr/>
          <p:nvPr/>
        </p:nvSpPr>
        <p:spPr>
          <a:xfrm>
            <a:off x="4336999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565599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160313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565599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new items with the same checklist</a:t>
            </a:r>
            <a:endParaRPr lang="en-US" sz="2100" dirty="0"/>
          </a:p>
        </p:txBody>
      </p:sp>
      <p:sp>
        <p:nvSpPr>
          <p:cNvPr id="23" name="step-6"/>
          <p:cNvSpPr/>
          <p:nvPr/>
        </p:nvSpPr>
        <p:spPr>
          <a:xfrm>
            <a:off x="8126273" y="3749040"/>
            <a:ext cx="3514344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54873" y="39319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948672" y="4069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54873" y="470916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414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reviewed item bank</a:t>
            </a:r>
            <a:endParaRPr lang="en-US" sz="2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B0A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items were written for the course to simulate AI drafts. Save your first review before seeing Claude's view.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ideas to take with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distractor is a real error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distractor represents a nameable faulty line of thinking, and is indisputably wrong.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68089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42409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item and the bank together</a:t>
            </a:r>
            <a:endParaRPr lang="en-US" sz="2500" dirty="0"/>
          </a:p>
        </p:txBody>
      </p:sp>
      <p:sp>
        <p:nvSpPr>
          <p:cNvPr id="9" name="Text 7"/>
          <p:cNvSpPr txBox="1"/>
          <p:nvPr/>
        </p:nvSpPr>
        <p:spPr>
          <a:xfrm>
            <a:off x="4642409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items are not enough if they do not cover the cells of the test blueprint with their weights.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86623" y="3200400"/>
            <a:ext cx="3453384" cy="2377440"/>
          </a:xfrm>
          <a:prstGeom prst="roundRect">
            <a:avLst>
              <a:gd name="adj" fmla="val 4615"/>
            </a:avLst>
          </a:prstGeom>
          <a:solidFill>
            <a:srgbClr val="2A2A28"/>
          </a:solidFill>
          <a:ln w="12700">
            <a:solidFill>
              <a:srgbClr val="2A2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60943" y="342900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97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before you judge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8460943" y="4160520"/>
            <a:ext cx="29047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item yourself first. And never make Claude the sole judge of items it wrote.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4552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0AEA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hropic English">
  <a:themeElements>
    <a:clrScheme name="Anthropic English">
      <a:dk1>
        <a:srgbClr val="141413"/>
      </a:dk1>
      <a:lt1>
        <a:srgbClr val="FFFFFF"/>
      </a:lt1>
      <a:dk2>
        <a:srgbClr val="141413"/>
      </a:dk2>
      <a:lt2>
        <a:srgbClr val="FAF9F5"/>
      </a:lt2>
      <a:accent1>
        <a:srgbClr val="D97757"/>
      </a:accent1>
      <a:accent2>
        <a:srgbClr val="6A9BCC"/>
      </a:accent2>
      <a:accent3>
        <a:srgbClr val="788C5D"/>
      </a:accent3>
      <a:accent4>
        <a:srgbClr val="B0AEA5"/>
      </a:accent4>
      <a:accent5>
        <a:srgbClr val="E8E6DC"/>
      </a:accent5>
      <a:accent6>
        <a:srgbClr val="141413"/>
      </a:accent6>
      <a:hlink>
        <a:srgbClr val="6A9BCC"/>
      </a:hlink>
      <a:folHlink>
        <a:srgbClr val="788C5D"/>
      </a:folHlink>
    </a:clrScheme>
    <a:fontScheme name="Anthropic English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</dc:title>
  <dc:subject>PptxGenJS Presentation</dc:subject>
  <dc:creator>PptxGenJS</dc:creator>
  <cp:lastModifiedBy>PptxGenJS</cp:lastModifiedBy>
  <cp:revision>1</cp:revision>
  <dcterms:created xsi:type="dcterms:W3CDTF">2026-10-15T04:06:09Z</dcterms:created>
  <dcterms:modified xsi:type="dcterms:W3CDTF">2026-10-15T04:06:09Z</dcterms:modified>
</cp:coreProperties>
</file>