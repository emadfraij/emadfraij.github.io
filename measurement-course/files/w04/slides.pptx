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ab95c368-ccd4-91e6-9c61-ee067fc57de5}">
          <p14:sldIdLst>
            <p14:sldId id="256"/>
            <p14:sldId id="257"/>
          </p14:sldIdLst>
        </p14:section>
        <p14:section name="المحتوى" id="{98cbb5f4-5589-95a9-255e-264eb2df3897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الختام" id="{ff16a696-5703-270e-cd1b-274ac36c6a96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الإجابات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اتفاق تام</c:v>
                  </c:pt>
                  <c:pt idx="1">
                    <c:v>تام أو متجاور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</c:v>
                </c:pt>
                <c:pt idx="1">
                  <c:v>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نبدأ اليوم بسؤال عملي لا بتعريف: متى تكفي درجة واحدة لقرار عن طالب؟ نهاية المحاضرة ستكون قراراً عن طالب حقيقي الشكل.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اترك الطلبة يتناقشون في أزواج دقيقتين. اجمع ثلاث إجابات دون تعليق، وعد إليها في آخر المحاضرة.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شدّد على الفكرة الثانية: نقول ثبات الدرجات في هذه العينة، لا اختبار ثابت.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الخطأ هنا ليس غلطة المعلم: سؤال غامض، تخمين موفق، تعب، تشدد مصحح.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خريطة الأسبوع، والبيانات محاكاة لأربعين طالباً وثلاثين إجابة مقالية. نبّه إلى أن رقم كابا لا يُرتَّب مع الثلاثة الأخرى، واسأل: أي مصدر للخطأ أدعى إلى إجراء من المعلم؟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ورقة الاتساق الداخلي في الإكسل: الصعوبة، ثم تباين كل فقرة، ثم المجموع، ثم المعامل.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المعادلة بقاعدة الطول: الاختبار الأطول أكثر ثباتاً إذا كانت الفقرات المضافة جيدة.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أضف درجة لكل طالب في ورقة إعادة الاختبار أمامهم، وأرهم أن المعامل لم يتغيّر.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في سلم من خمسة مستويات، فرق درجة واحدة قد يغيّر تصنيف الطالب. لا تقبل الاتفاق المتجاور وحده.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نبّه إلى أن الحساب بالقيم المقرّبة يعطي 0.42، والملف 0.41. وأن كابا الموزون يعطي قيمة مختلفة.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كل طالب أن يختار عاملاً واحداً يستطيع تحسينه في اختباره القادم.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هذا أهم رقم في الأسبوع للمعلم، لأنه يقول كم درجة يمكن أن نخطئ.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هل أخطأ الملف؟ لا، المعادلة تفترض خطأً متساوياً عند كل الدرجات، وهذا يضعف قرب السقف.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عد إلى إجابات الافتتاح. من غيّر رأيه؟ ولماذا؟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بالأسبوع 3: اختبار علوم بلغة صعبة قد يكون ثابتاً جداً ويقيس القراءة أكثر من العلوم.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ذكّر بالقاعدة: كل رقم لم يُتحقق منه لا يدخل في ورقة تحليل الثبات.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تذكرة الخروج الآن. الأسبوع القادم: العدالة والتحيّز ومخاطر الذكاء الاصطناعي.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4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الثبات والخطأ المعياري للقياس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كم نثق في درجة طالب واحد؟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حصل الطالب على 9 من 20، ودرجة النجاح 10. المدير يطلب قائمة الراسبين اليوم.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تضع اسمه في القائمة؟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لو أعاد الاختبار غداً، هل سيحصل على 9 بالضبط؟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الثبات؟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اتساق الدرجات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إلى أي حد تبقى الدرجات متقاربة إذا أعدنا القياس في ظروف لا تغيّر مستوى الطالب.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خاصية للدرجات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المعامل يخص درجات هذه العينة، وقد يختلف إذا طُبّق الاختبار نفسه على صف آخر.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يوجد ثبات واحد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معامل يجيب عن سؤال مختلف عن مصدر مختلف للخطأ.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الدرجة الملاحظة = الحقيقية + الخطأ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الدرجة التي نرصدها فيها جزء يعبّر عن مستوى الطالب، وجزء يرفعها أو يخفضها لأسباب لا علاقة لها بما يعرفه.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T + E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معامل الثبات 0.89 يعني تقريباً أن 89% من اختلاف الدرجات حقيقي و11% خطأ.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أربعة مصادر للخطأ وأربعة معاملات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909291"/>
                <a:gridCol w="4363937"/>
                <a:gridCol w="381844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القيمة في المشغل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المعامل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مصدر الخطأ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كودر–ريتشاردسون 20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اختلاف الفقرات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التجزئة النصفية المصحّحة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اختلاف نصفي الاختبار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إعادة الاختبار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تغيّر الأداء مع الزمن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كابا لكوهين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اختلاف المصححين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كابا مؤشر اتفاق مصحَّح للصدفة على 30 إجابة مقالية مستقلة، وليس على مقياس المعاملات الثلاثة نفسه: نقارن المصدر لا الرقم.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الاتساق الداخلي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تقيس الفقرات الشيء نفسه؟ يُحسب من تطبيق واحد، لذلك هو الأكثر استخداماً في المدارس.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KR-20 = k/(k−1) × (1 − Σpq / S²)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بيانات المشغل: 0.89. ومع فقرات متعددة الدرجات نستخدم ألفا كرونباخ.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التجزئة النصفية وتصحيح سبيرمان–براون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ارتباط الفقرات الفردية بالزوجية 0.85، لكنه يقدّر ثبات اختبار من 10 فقرات فقط.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التصحيح يقدّر ثبات الاختبار كاملاً: 2 × 0.85 ÷ 1.85. لا تختر التقسيم الذي يعطي أعلى رقم.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بعد التصحيح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0.85 قبل التصحيح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إعادة الاختبار بعد أسبوعين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ارتفع المتوسط من 10.03 إلى 10.78، ومع ذلك بقي المعامل مرتفعاً.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الارتباط يقيس ثبات ترتيب الطلبة، لا تطابق درجاتهم. زيادة متساوية للجميع لا تغيّره.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معامل الإعادة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الترتيب ثابت والمستوى ارتفع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اتفاق المصححين: رقمان يرويان قصتين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الاتفاق المتجاور 100% يخفي أن المصححين اختلفا في 13 إجابة من 30.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متوسطا المصححين 2.00 و 1.97، وتساوي المتوسطين لا يعني الاتفاق.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معامل كابا لكوهين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يطرح الاتفاق الذي كان سيحدث بالصدفة. الاتفاق المتوقع بالصدفة في بيانات المشغل 0.26.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(Po − Pe) / (1 − Pe)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النتيجة 0.41: بداية فئة «متوسط» عند لانديس وكوخ، وهو تصنيف إرشادي لا معيار.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الذي يؤثر في الثبات؟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طول الاختبار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فقرات أكثر تعني عينة أوسع وأثراً أقل لفقرة سيئة واحدة.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جودة الفقرات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الغامضة أو ذات المفتاح الخاطئ تضيف خطأ ولا تضيف معلومات.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تباين المجموعة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صف متجانس ينخفض المعامل حتى لو كان الاختبار جيداً.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موضوعية التصحيح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تقدير واضح وأمثلة مرجعية وتصحيح مزدوج لعينة.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ويضاف إليها الزمن وظروف التطبيق: التعب والضوضاء والوقت غير الكافي.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الخطأ المعياري للقياس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المعامل يصف المجموعة، والقرار يخص طالباً. نحتاج إلى رقم بوحدة الدرجة نفسها.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= S × √(1 − r)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5.11 × √(1 − 0.89) ≈ 1.69 درجة. النطاق 95% = الدرجة ± 1.96 × الخطأ المعياري.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نطاقات الثقة لثلاثة طلبة</a:t>
            </a:r>
            <a:endParaRPr lang="en-US" sz="3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7524"/>
                <a:gridCol w="3297524"/>
                <a:gridCol w="449662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نطاق 95%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نطاق 68%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الدرجة الملاحظة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 – 8.3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– 6.7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 – 12.3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 – 10.7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 – 21.3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 – 19.7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21.3 تتجاوز الدرجة القصوى 20: النطاقات قرب سقف الاختبار تُفسَّر بحذر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عودة إلى الطالب 9 ودرجة النجاح 10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لا نستطيع قوله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إنه راسب بثقة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إن مستواه الحقيقي دون الحد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إنه أضعف من زميل حصل على 11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نفعله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نلاحظ أن النطاقين يضمان 10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نجمع دليلاً إضافياً على النواتج نفسها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التقويم التكويني: دعم موجّه ثم إعادة قياس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كلما اقترب القرار من درجة القطع وكبرت عواقبه، احتجنا إلى أدلة أكثر.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قيم إرشادية تقريبية لا معايير ملزمة</a:t>
            </a:r>
            <a:endParaRPr lang="en-US" sz="38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5206295"/>
                <a:gridCol w="5885377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القيمة المرغوبة تقريباً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غرض استخدام الدرجات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0.90 فأكثر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قرار فردي عالي المخاطر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0.80 فأكثر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قرار فردي متوسط الأهمية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قد تكفي 0.70 تقريباً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تقويم تكويني أو قرار عن صف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أعراف شائعة تختلف بين المراجع. الثبات شرط ضروري للصدق وليس كافياً.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اليوم مع كلود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استكشاف الملف دون كلود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الحساب بالكود مع التعليمات الجاهزة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مطابقة خمس قيم مع الإكسل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لو تغيّر المعامل؟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قرار عن الطالب 9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ورقة تحليل الثبات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اسأل كلود دائماً: أي صيغة تباين؟ وكيف حسبت كابا؟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لكل خطأ معامله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الفقرات، النصفان، الزمن، المصححون: أربعة مصادر وأربعة أسئلة مختلفة.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الدرجة نطاق لا نقطة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الخطأ المعياري يحوّل الثبات إلى درجات، ويمنع قرارات متسرعة قرب درجة القطع.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يحسب وأنت تتحقق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اطلب الكود، واسأل عن الصيغة، وطابق مع الملف قبل أي تفسير.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4</dc:title>
  <dc:subject>PptxGenJS Presentation</dc:subject>
  <dc:creator>PptxGenJS</dc:creator>
  <cp:lastModifiedBy>PptxGenJS</cp:lastModifiedBy>
  <cp:revision>1</cp:revision>
  <dcterms:created xsi:type="dcterms:W3CDTF">2026-10-07T19:24:46Z</dcterms:created>
  <dcterms:modified xsi:type="dcterms:W3CDTF">2026-10-07T19:24:46Z</dcterms:modified>
</cp:coreProperties>
</file>