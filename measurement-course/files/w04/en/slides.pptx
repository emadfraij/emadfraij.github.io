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5e3e7c5-2b7b-cca9-a708-b248ca3e38d2}">
          <p14:sldIdLst>
            <p14:sldId id="256"/>
            <p14:sldId id="257"/>
          </p14:sldIdLst>
        </p14:section>
        <p14:section name="Content" id="{b4dd03bb-e453-bb70-9348-531bf9e7500a}">
          <p14:sldIdLst>
            <p14:sldId id="258"/>
            <p14:sldId id="259"/>
            <p14:sldId id="260"/>
            <p14:sldId id="261"/>
            <p14:sldId id="262"/>
            <p14:sldId id="263"/>
            <p14:sldId id="264"/>
            <p14:sldId id="265"/>
            <p14:sldId id="266"/>
            <p14:sldId id="267"/>
            <p14:sldId id="268"/>
            <p14:sldId id="269"/>
            <p14:sldId id="270"/>
            <p14:sldId id="271"/>
          </p14:sldIdLst>
        </p14:section>
        <p14:section name="Closing" id="{b03c5127-1eb4-fa66-f074-5b6321f3deb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Proportion of responses</c:v>
                </c:pt>
              </c:strCache>
            </c:strRef>
          </c:tx>
          <c:spPr>
            <a:solidFill>
              <a:srgbClr val="D97757"/>
            </a:solidFill>
            <a:effectLst/>
          </c:spPr>
          <c:invertIfNegative val="0"/>
          <c:dLbls>
            <c:numFmt formatCode="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cat>
            <c:multiLvlStrRef>
              <c:f>Sheet1!$A$2:$A$3</c:f>
              <c:multiLvlStrCache>
                <c:ptCount val="2"/>
                <c:lvl>
                  <c:pt idx="0">
                    <c:v>Exact agreement</c:v>
                  </c:pt>
                  <c:pt idx="1">
                    <c:v>Exact or adjacent</c:v>
                  </c:pt>
                </c:lvl>
              </c:multiLvlStrCache>
            </c:multiLvlStrRef>
          </c:cat>
          <c:val>
            <c:numRef>
              <c:f>Sheet1!$B$2:$B$3</c:f>
              <c:numCache>
                <c:formatCode>General</c:formatCode>
                <c:ptCount val="2"/>
                <c:pt idx="0">
                  <c:v>0.57</c:v>
                </c:pt>
                <c:pt idx="1">
                  <c:v>1</c:v>
                </c:pt>
              </c:numCache>
            </c:numRef>
          </c:val>
        </c:ser>
        <c:dLbls>
          <c:numFmt formatCode="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41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6D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0AEA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start with a practical question, not a definition: when is a single score enough for a decision about a student? The end of the lecture will be a decision about a realistic-looking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discuss in pairs for two minutes. Collect three answers without comment, and return to them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second idea: we say the reliability of the scores in this sample, not a reliable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here is not the teacher's mistake: an ambiguous question, a lucky guess, tiredness, a severe 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week, and the data are simulated for forty students and thirty essay responses. Point out that the kappa figure is not ranked with the other three, and ask: which source of error most calls for action by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Internal consistency sheet in Excel: difficulty, then each item's variance, then the sum, then the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the formula to the length rule: a longer test is more reliable if the added items are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one point to every student in the Test-retest sheet in front of them, and show them that the coefficient did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five-level scale, a one-point difference may change a student's classification. Do not accept adjacent agreement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calculating with rounded values gives 0.42, while the file gives 0.41. And that weighted kappa gives a different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choose one factor they can improve in their next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number of the week for the teacher, because it says by how many points we might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did the file make a mistake? No, the formula assumes equal error at all scores, and this weakens near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opening answers. Who changed their mind?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Week 3: a science test in difficult language may be highly reliable and measure reading more than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rule: no unverified number goes into the reliability analysis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now. Next week: fairness, bias and the risks of artificial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41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9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800" b="1" dirty="0">
                <a:solidFill>
                  <a:srgbClr val="141413"/>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nvSpPr>
        <p:spPr>
          <a:xfrm>
            <a:off x="548640" y="6355080"/>
            <a:ext cx="5696712" cy="274320"/>
          </a:xfrm>
          <a:prstGeom prst="rect">
            <a:avLst/>
          </a:prstGeom>
          <a:noFill/>
          <a:ln/>
        </p:spPr>
        <p:txBody>
          <a:bodyPr wrap="square" lIns="0" tIns="0" rIns="0" bIns="0" rtlCol="0" anchor="ctr"/>
          <a:lstStyle/>
          <a:p>
            <a:pPr algn="l" indent="0" marL="0">
              <a:buNone/>
            </a:pPr>
            <a:r>
              <a:rPr lang="en-US" sz="1200" dirty="0">
                <a:solidFill>
                  <a:srgbClr val="B0AEA5"/>
                </a:solidFill>
                <a:latin typeface="Calibri" pitchFamily="34" charset="0"/>
                <a:ea typeface="Calibri" pitchFamily="34" charset="-122"/>
                <a:cs typeface="Calibri" pitchFamily="34" charset="-120"/>
              </a:rPr>
              <a:t>Educational Measurement and Evaluation · Week 4</a:t>
            </a:r>
            <a:endParaRPr lang="en-US" sz="1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Week 4</a:t>
            </a:r>
            <a:endParaRPr lang="en-US" sz="2800" dirty="0"/>
          </a:p>
        </p:txBody>
      </p:sp>
      <p:sp>
        <p:nvSpPr>
          <p:cNvPr id="3" name="Text 1"/>
          <p:cNvSpPr txBox="1"/>
          <p:nvPr/>
        </p:nvSpPr>
        <p:spPr>
          <a:xfrm>
            <a:off x="548640" y="2011680"/>
            <a:ext cx="11091672" cy="1645920"/>
          </a:xfrm>
          <a:prstGeom prst="rect">
            <a:avLst/>
          </a:prstGeom>
          <a:noFill/>
          <a:ln/>
        </p:spPr>
        <p:txBody>
          <a:bodyPr wrap="square" lIns="0" tIns="0" rIns="0" bIns="0" rtlCol="0" anchor="ctr">
            <a:normAutofit/>
          </a:bodyPr>
          <a:lstStyle/>
          <a:p>
            <a:pPr algn="l" indent="0" marL="0">
              <a:buNone/>
            </a:pPr>
            <a:r>
              <a:rPr lang="en-US" sz="5400" b="1" dirty="0">
                <a:solidFill>
                  <a:srgbClr val="FFFFFF"/>
                </a:solidFill>
                <a:latin typeface="Calibri" pitchFamily="34" charset="0"/>
                <a:ea typeface="Calibri" pitchFamily="34" charset="-122"/>
                <a:cs typeface="Calibri" pitchFamily="34" charset="-120"/>
              </a:rPr>
              <a:t>Reliability and the Standard Error of Measurement</a:t>
            </a:r>
            <a:endParaRPr lang="en-US" sz="5400" dirty="0"/>
          </a:p>
        </p:txBody>
      </p:sp>
      <p:sp>
        <p:nvSpPr>
          <p:cNvPr id="4" name="Text 2"/>
          <p:cNvSpPr txBox="1"/>
          <p:nvPr/>
        </p:nvSpPr>
        <p:spPr>
          <a:xfrm>
            <a:off x="548640" y="3840480"/>
            <a:ext cx="11091672" cy="82296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How much do we trust a single student's score?</a:t>
            </a:r>
            <a:endParaRPr lang="en-US" sz="24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97280" cy="1280160"/>
          </a:xfrm>
          <a:prstGeom prst="rect">
            <a:avLst/>
          </a:prstGeom>
          <a:noFill/>
          <a:ln/>
        </p:spPr>
        <p:txBody>
          <a:bodyPr wrap="square" lIns="0" tIns="0" rIns="0" bIns="0" rtlCol="0" anchor="t">
            <a:normAutofit/>
          </a:bodyPr>
          <a:lstStyle/>
          <a:p>
            <a:pPr algn="l" indent="0" marL="0">
              <a:buNone/>
            </a:pPr>
            <a:r>
              <a:rPr lang="en-US" sz="12000" b="1" dirty="0">
                <a:solidFill>
                  <a:srgbClr val="D97757"/>
                </a:solidFill>
                <a:latin typeface="Calibri" pitchFamily="34" charset="0"/>
                <a:ea typeface="Calibri" pitchFamily="34" charset="-122"/>
                <a:cs typeface="Calibri" pitchFamily="34" charset="-120"/>
              </a:rPr>
              <a:t>“</a:t>
            </a:r>
            <a:endParaRPr lang="en-US" sz="12000" dirty="0"/>
          </a:p>
        </p:txBody>
      </p:sp>
      <p:sp>
        <p:nvSpPr>
          <p:cNvPr id="3" name="Text 1"/>
          <p:cNvSpPr txBox="1"/>
          <p:nvPr/>
        </p:nvSpPr>
        <p:spPr>
          <a:xfrm>
            <a:off x="548640" y="1463040"/>
            <a:ext cx="10543032" cy="2286000"/>
          </a:xfrm>
          <a:prstGeom prst="rect">
            <a:avLst/>
          </a:prstGeom>
          <a:noFill/>
          <a:ln/>
        </p:spPr>
        <p:txBody>
          <a:bodyPr wrap="square" lIns="0" tIns="0" rIns="0" bIns="0" rtlCol="0" anchor="ctr">
            <a:normAutofit/>
          </a:bodyPr>
          <a:lstStyle/>
          <a:p>
            <a:pPr algn="l" indent="0" marL="0">
              <a:buNone/>
            </a:pPr>
            <a:r>
              <a:rPr lang="en-US" sz="3400" dirty="0">
                <a:solidFill>
                  <a:srgbClr val="FFFFFF"/>
                </a:solidFill>
                <a:latin typeface="Calibri" pitchFamily="34" charset="0"/>
                <a:ea typeface="Calibri" pitchFamily="34" charset="-122"/>
                <a:cs typeface="Calibri" pitchFamily="34" charset="-120"/>
              </a:rPr>
              <a:t>The student scored 9 out of 20, and the pass mark is 10. The principal wants the list of failing students today.</a:t>
            </a:r>
            <a:endParaRPr lang="en-US" sz="3400" dirty="0"/>
          </a:p>
        </p:txBody>
      </p:sp>
      <p:sp>
        <p:nvSpPr>
          <p:cNvPr id="4" name="Text 2"/>
          <p:cNvSpPr txBox="1"/>
          <p:nvPr/>
        </p:nvSpPr>
        <p:spPr>
          <a:xfrm>
            <a:off x="548640" y="4023360"/>
            <a:ext cx="10543032" cy="914400"/>
          </a:xfrm>
          <a:prstGeom prst="rect">
            <a:avLst/>
          </a:prstGeom>
          <a:noFill/>
          <a:ln/>
        </p:spPr>
        <p:txBody>
          <a:bodyPr wrap="square" lIns="0" tIns="0" rIns="0" bIns="0" rtlCol="0" anchor="t">
            <a:normAutofit/>
          </a:bodyPr>
          <a:lstStyle/>
          <a:p>
            <a:pPr algn="l" indent="0" marL="0">
              <a:buNone/>
            </a:pPr>
            <a:r>
              <a:rPr lang="en-US" sz="3200" b="1" dirty="0">
                <a:solidFill>
                  <a:srgbClr val="D97757"/>
                </a:solidFill>
                <a:latin typeface="Calibri" pitchFamily="34" charset="0"/>
                <a:ea typeface="Calibri" pitchFamily="34" charset="-122"/>
                <a:cs typeface="Calibri" pitchFamily="34" charset="-120"/>
              </a:rPr>
              <a:t>Do you put their name on the list?</a:t>
            </a:r>
            <a:endParaRPr lang="en-US" sz="3200" dirty="0"/>
          </a:p>
        </p:txBody>
      </p:sp>
      <p:sp>
        <p:nvSpPr>
          <p:cNvPr id="5" name="Text 3"/>
          <p:cNvSpPr txBox="1"/>
          <p:nvPr/>
        </p:nvSpPr>
        <p:spPr>
          <a:xfrm>
            <a:off x="548640" y="5029200"/>
            <a:ext cx="10543032" cy="548640"/>
          </a:xfrm>
          <a:prstGeom prst="rect">
            <a:avLst/>
          </a:prstGeom>
          <a:noFill/>
          <a:ln/>
        </p:spPr>
        <p:txBody>
          <a:bodyPr wrap="square" lIns="0" tIns="0" rIns="0" bIns="0" rtlCol="0" anchor="t">
            <a:normAutofit/>
          </a:bodyPr>
          <a:lstStyle/>
          <a:p>
            <a:pPr algn="l" indent="0" marL="0">
              <a:buNone/>
            </a:pPr>
            <a:r>
              <a:rPr lang="en-US" sz="2000" dirty="0">
                <a:solidFill>
                  <a:srgbClr val="B0AEA5"/>
                </a:solidFill>
                <a:latin typeface="Calibri" pitchFamily="34" charset="0"/>
                <a:ea typeface="Calibri" pitchFamily="34" charset="-122"/>
                <a:cs typeface="Calibri" pitchFamily="34" charset="-120"/>
              </a:rPr>
              <a:t>If they retook the test tomorrow, would they score exactly 9?</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What is reliability?</a:t>
            </a:r>
            <a:endParaRPr lang="en-US" sz="3800" dirty="0"/>
          </a:p>
        </p:txBody>
      </p:sp>
      <p:sp>
        <p:nvSpPr>
          <p:cNvPr id="3" name="card-0"/>
          <p:cNvSpPr/>
          <p:nvPr/>
        </p:nvSpPr>
        <p:spPr>
          <a:xfrm>
            <a:off x="548640"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Consistency of scores</a:t>
            </a:r>
            <a:endParaRPr lang="en-US" sz="2700" dirty="0"/>
          </a:p>
        </p:txBody>
      </p:sp>
      <p:sp>
        <p:nvSpPr>
          <p:cNvPr id="6" name="Text 4"/>
          <p:cNvSpPr txBox="1"/>
          <p:nvPr/>
        </p:nvSpPr>
        <p:spPr>
          <a:xfrm>
            <a:off x="777240"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The extent to which scores stay close if we repeat the measurement under conditions that do not change the student's level.</a:t>
            </a:r>
            <a:endParaRPr lang="en-US" sz="2000" dirty="0"/>
          </a:p>
        </p:txBody>
      </p:sp>
      <p:sp>
        <p:nvSpPr>
          <p:cNvPr id="7" name="card-1"/>
          <p:cNvSpPr/>
          <p:nvPr/>
        </p:nvSpPr>
        <p:spPr>
          <a:xfrm>
            <a:off x="4352544"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A property of scores</a:t>
            </a:r>
            <a:endParaRPr lang="en-US" sz="2700" dirty="0"/>
          </a:p>
        </p:txBody>
      </p:sp>
      <p:sp>
        <p:nvSpPr>
          <p:cNvPr id="10" name="Text 8"/>
          <p:cNvSpPr txBox="1"/>
          <p:nvPr/>
        </p:nvSpPr>
        <p:spPr>
          <a:xfrm>
            <a:off x="4581144"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The coefficient belongs to the scores of this sample, and may differ if the same test is given to another class.</a:t>
            </a:r>
            <a:endParaRPr lang="en-US" sz="2000" dirty="0"/>
          </a:p>
        </p:txBody>
      </p:sp>
      <p:sp>
        <p:nvSpPr>
          <p:cNvPr id="11" name="card-2"/>
          <p:cNvSpPr/>
          <p:nvPr/>
        </p:nvSpPr>
        <p:spPr>
          <a:xfrm>
            <a:off x="8156448"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There is no single reliability</a:t>
            </a:r>
            <a:endParaRPr lang="en-US" sz="2700" dirty="0"/>
          </a:p>
        </p:txBody>
      </p:sp>
      <p:sp>
        <p:nvSpPr>
          <p:cNvPr id="14" name="Text 12"/>
          <p:cNvSpPr txBox="1"/>
          <p:nvPr/>
        </p:nvSpPr>
        <p:spPr>
          <a:xfrm>
            <a:off x="8385048"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Each coefficient answers a different question about a different source of error.</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Observed score = true score + error</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The score we record contains a part that reflects the student's level, and a part that raises or lowers it for reasons unrelated to what they know.</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X = T + E</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A reliability coefficient of 0.89 means roughly that 89% of the differences in scores are real and 11% are error.</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Four sources of error and four coefficients</a:t>
            </a:r>
            <a:endParaRPr lang="en-US" sz="3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741571"/>
                <a:gridCol w="2609805"/>
                <a:gridCol w="2740295"/>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Source of error</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Coefficient</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Value in the workshop</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Variation across items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Kuder–Richardson 20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0.89</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Variation between the two halves of the test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Corrected split-half</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0.92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Change in performance over time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Test-retest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0.90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Variation between raters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Cohen's kappa</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0.41</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Kappa is a chance-corrected agreement index on 30 separate essay responses, and is not on the same scale as the other three coefficients: we compare the source, not the number.</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Internal consistency</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Do the items measure the same thing? It is calculated from a single administration, which is why it is the most widely used in schools.</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KR-20 = k/(k−1) × (1 − Σpq / S²)</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In the workshop data: 0.89. With polytomous items we use Cronbach's alpha.</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Split-half and the Spearman–Brown correction</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correlation of odd items with even items is 0.85, but it estimates the reliability of a test of only 10 items.</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correction estimates the reliability of the full test: 2 × 0.85 ÷ 1.85. Do not choose the split that gives the highest number.</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After correction</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0.92</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From 0.85 before correction</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Test-retest after two weeks</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mean rose from 10.03 to 10.78, yet the coefficient stayed high.</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correlation measures the stability of the students' rank order, not whether their scores match. An equal increase for everyone does not change it.</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Test-retest coefficient</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0.90</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The rank order is stable and the level rose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Inter-rater agreement: two numbers tell two stories</a:t>
            </a:r>
            <a:endParaRPr lang="en-US" sz="3800" dirty="0"/>
          </a:p>
        </p:txBody>
      </p:sp>
      <p:graphicFrame>
        <p:nvGraphicFramePr>
          <p:cNvPr id="3" name="chart" descr=""/>
          <p:cNvGraphicFramePr/>
          <p:nvPr/>
        </p:nvGraphicFramePr>
        <p:xfrm>
          <a:off x="4873752" y="137160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1554480"/>
            <a:ext cx="3959352" cy="43891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Adjacent agreement of 100% hides the fact that the raters disagreed on 13 responses out of 30.</a:t>
            </a:r>
            <a:endParaRPr lang="en-US" sz="2100" dirty="0"/>
          </a:p>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The raters' means are 2.00 and 1.97, and equal means do not mean agreement.</a:t>
            </a:r>
            <a:endParaRPr lang="en-US" sz="21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Cohen's kappa</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It subtracts the agreement that would have occurred by chance. The agreement expected by chance in the workshop data is 0.26.</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κ = (Po − Pe) / (1 − Pe)</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The result is 0.41: the start of the "moderate" band according to Landis and Koch, which is a rule-of-thumb classification, not a standard.</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What affects reliability?</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Test length</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More items mean a wider sample and less effect from a single bad item.</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Item quality</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An ambiguous item or one with a wrong key adds error and adds no information.</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Group variability</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In a homogeneous class the coefficient falls even if the test is good.</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Objectivity of scoring</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clear rubric, benchmark examples and double scoring of a sample.</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Add to these time and administration conditions: tiredness, noise and insufficient time.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standard error of measurement</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The coefficient describes the group, and the decision concerns a student. We need a number in the same unit as the score.</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SEM = S × √(1 − r)</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5.11 × √(1 − 0.89) ≈ 1.69 points. The 95% band = score ± 1.96 × the standard error.</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Confidence bands for three students</a:t>
            </a:r>
            <a:endParaRPr lang="en-US" sz="38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313428"/>
                <a:gridCol w="3389122"/>
                <a:gridCol w="3389122"/>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Observed score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68% band</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95% band</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3.3 – 6.7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1.7 – 8.3</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7.3 – 10.7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5.7 – 12.3</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18</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16.3 – 19.7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14.7 – 21.3</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21.3 exceeds the maximum score of 20: bands near the ceiling of the test are interpreted with caution</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Back to the student with 9 and the pass mark of 10</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What we cannot say</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That they have failed, with confidence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That their true level is below the boundary</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That they are weaker than a classmate who scored 11</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What we do</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Note that both bands include 10</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Gather additional evidence on the same outcomes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In formative assessment: targeted support, then re-measurement</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The closer the decision is to the cut score and the greater its consequences, the more evidence we need.</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Rough guideline values, not binding standards</a:t>
            </a:r>
            <a:endParaRPr lang="en-US" sz="38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7098670"/>
                <a:gridCol w="3993002"/>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Purpose of using the scores</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Approximate desirable value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High-stakes individual decision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0.90 or above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Moderately important individual decision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0.80 or above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Formative assessment or a decision about a class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About 0.70 may suffice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Common conventions that vary between sources. Reliability is a necessary but not sufficient condition for validity.</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Today's workshop with Claude</a:t>
            </a:r>
            <a:endParaRPr lang="en-US" sz="3800" dirty="0"/>
          </a:p>
        </p:txBody>
      </p:sp>
      <p:sp>
        <p:nvSpPr>
          <p:cNvPr id="3" name="step-1"/>
          <p:cNvSpPr/>
          <p:nvPr/>
        </p:nvSpPr>
        <p:spPr>
          <a:xfrm>
            <a:off x="548640"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2371039"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6" name="Text 4"/>
          <p:cNvSpPr txBox="1"/>
          <p:nvPr/>
        </p:nvSpPr>
        <p:spPr>
          <a:xfrm>
            <a:off x="777240"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Explore the file without Claude</a:t>
            </a:r>
            <a:endParaRPr lang="en-US" sz="2100" dirty="0"/>
          </a:p>
        </p:txBody>
      </p:sp>
      <p:sp>
        <p:nvSpPr>
          <p:cNvPr id="7" name="step-2"/>
          <p:cNvSpPr/>
          <p:nvPr/>
        </p:nvSpPr>
        <p:spPr>
          <a:xfrm>
            <a:off x="4336999"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565599"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6160313"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10" name="Text 8"/>
          <p:cNvSpPr txBox="1"/>
          <p:nvPr/>
        </p:nvSpPr>
        <p:spPr>
          <a:xfrm>
            <a:off x="4565599"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Calculate with code using the ready-made prompt</a:t>
            </a:r>
            <a:endParaRPr lang="en-US" sz="2100" dirty="0"/>
          </a:p>
        </p:txBody>
      </p:sp>
      <p:sp>
        <p:nvSpPr>
          <p:cNvPr id="11" name="step-3"/>
          <p:cNvSpPr/>
          <p:nvPr/>
        </p:nvSpPr>
        <p:spPr>
          <a:xfrm>
            <a:off x="8126273"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8354873"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14" name="Text 12"/>
          <p:cNvSpPr txBox="1"/>
          <p:nvPr/>
        </p:nvSpPr>
        <p:spPr>
          <a:xfrm>
            <a:off x="8354873"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Match five values against Excel</a:t>
            </a:r>
            <a:endParaRPr lang="en-US" sz="2100" dirty="0"/>
          </a:p>
        </p:txBody>
      </p:sp>
      <p:sp>
        <p:nvSpPr>
          <p:cNvPr id="15" name="step-4"/>
          <p:cNvSpPr/>
          <p:nvPr/>
        </p:nvSpPr>
        <p:spPr>
          <a:xfrm>
            <a:off x="548640"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777240"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2371039"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18" name="Text 16"/>
          <p:cNvSpPr txBox="1"/>
          <p:nvPr/>
        </p:nvSpPr>
        <p:spPr>
          <a:xfrm>
            <a:off x="777240"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What if the coefficient changes?</a:t>
            </a:r>
            <a:endParaRPr lang="en-US" sz="2100" dirty="0"/>
          </a:p>
        </p:txBody>
      </p:sp>
      <p:sp>
        <p:nvSpPr>
          <p:cNvPr id="19" name="step-5"/>
          <p:cNvSpPr/>
          <p:nvPr/>
        </p:nvSpPr>
        <p:spPr>
          <a:xfrm>
            <a:off x="4336999"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565599"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5</a:t>
            </a:r>
            <a:endParaRPr lang="en-US" sz="4000" dirty="0"/>
          </a:p>
        </p:txBody>
      </p:sp>
      <p:sp>
        <p:nvSpPr>
          <p:cNvPr id="21" name="Text 19"/>
          <p:cNvSpPr txBox="1"/>
          <p:nvPr/>
        </p:nvSpPr>
        <p:spPr>
          <a:xfrm>
            <a:off x="6160313"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22" name="Text 20"/>
          <p:cNvSpPr txBox="1"/>
          <p:nvPr/>
        </p:nvSpPr>
        <p:spPr>
          <a:xfrm>
            <a:off x="4565599"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A decision about the student with 9</a:t>
            </a:r>
            <a:endParaRPr lang="en-US" sz="2100" dirty="0"/>
          </a:p>
        </p:txBody>
      </p:sp>
      <p:sp>
        <p:nvSpPr>
          <p:cNvPr id="23" name="step-6"/>
          <p:cNvSpPr/>
          <p:nvPr/>
        </p:nvSpPr>
        <p:spPr>
          <a:xfrm>
            <a:off x="8126273"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8354873"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6</a:t>
            </a:r>
            <a:endParaRPr lang="en-US" sz="4000" dirty="0"/>
          </a:p>
        </p:txBody>
      </p:sp>
      <p:sp>
        <p:nvSpPr>
          <p:cNvPr id="25" name="Text 23"/>
          <p:cNvSpPr txBox="1"/>
          <p:nvPr/>
        </p:nvSpPr>
        <p:spPr>
          <a:xfrm>
            <a:off x="9948672"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26" name="Text 24"/>
          <p:cNvSpPr txBox="1"/>
          <p:nvPr/>
        </p:nvSpPr>
        <p:spPr>
          <a:xfrm>
            <a:off x="8354873"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Reliability analysis sheet</a:t>
            </a:r>
            <a:endParaRPr lang="en-US" sz="2100" dirty="0"/>
          </a:p>
        </p:txBody>
      </p:sp>
      <p:sp>
        <p:nvSpPr>
          <p:cNvPr id="27" name="Text 25"/>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Always ask Claude: which variance formula? And how did you calculate kappa?</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82296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Before you leave</a:t>
            </a:r>
            <a:endParaRPr lang="en-US" sz="2800" dirty="0"/>
          </a:p>
        </p:txBody>
      </p:sp>
      <p:sp>
        <p:nvSpPr>
          <p:cNvPr id="3" name="Text 1"/>
          <p:cNvSpPr txBox="1"/>
          <p:nvPr/>
        </p:nvSpPr>
        <p:spPr>
          <a:xfrm>
            <a:off x="548640" y="1463040"/>
            <a:ext cx="11091672" cy="1371600"/>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libri" pitchFamily="34" charset="0"/>
                <a:ea typeface="Calibri" pitchFamily="34" charset="-122"/>
                <a:cs typeface="Calibri" pitchFamily="34" charset="-120"/>
              </a:rPr>
              <a:t>Three ideas to take with you</a:t>
            </a:r>
            <a:endParaRPr lang="en-US" sz="4800" dirty="0"/>
          </a:p>
        </p:txBody>
      </p:sp>
      <p:sp>
        <p:nvSpPr>
          <p:cNvPr id="4" name="Shape 2"/>
          <p:cNvSpPr/>
          <p:nvPr/>
        </p:nvSpPr>
        <p:spPr>
          <a:xfrm>
            <a:off x="548640" y="3200400"/>
            <a:ext cx="3453384" cy="2377440"/>
          </a:xfrm>
          <a:prstGeom prst="roundRect">
            <a:avLst>
              <a:gd name="adj" fmla="val 4615"/>
            </a:avLst>
          </a:prstGeom>
          <a:solidFill>
            <a:srgbClr val="2A2A28"/>
          </a:solidFill>
          <a:ln w="12700">
            <a:solidFill>
              <a:srgbClr val="2A2A28"/>
            </a:solidFill>
            <a:prstDash val="solid"/>
          </a:ln>
        </p:spPr>
      </p:sp>
      <p:sp>
        <p:nvSpPr>
          <p:cNvPr id="5" name="Text 3"/>
          <p:cNvSpPr txBox="1"/>
          <p:nvPr/>
        </p:nvSpPr>
        <p:spPr>
          <a:xfrm>
            <a:off x="822960"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Each error has its coefficient</a:t>
            </a:r>
            <a:endParaRPr lang="en-US" sz="2500" dirty="0"/>
          </a:p>
        </p:txBody>
      </p:sp>
      <p:sp>
        <p:nvSpPr>
          <p:cNvPr id="6" name="Text 4"/>
          <p:cNvSpPr txBox="1"/>
          <p:nvPr/>
        </p:nvSpPr>
        <p:spPr>
          <a:xfrm>
            <a:off x="822960"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Items, halves, time, raters: four sources and four different questions.</a:t>
            </a:r>
            <a:endParaRPr lang="en-US" sz="1900" dirty="0"/>
          </a:p>
        </p:txBody>
      </p:sp>
      <p:sp>
        <p:nvSpPr>
          <p:cNvPr id="7" name="Shape 5"/>
          <p:cNvSpPr/>
          <p:nvPr/>
        </p:nvSpPr>
        <p:spPr>
          <a:xfrm>
            <a:off x="4368089" y="3200400"/>
            <a:ext cx="3453384" cy="2377440"/>
          </a:xfrm>
          <a:prstGeom prst="roundRect">
            <a:avLst>
              <a:gd name="adj" fmla="val 4615"/>
            </a:avLst>
          </a:prstGeom>
          <a:solidFill>
            <a:srgbClr val="2A2A28"/>
          </a:solidFill>
          <a:ln w="12700">
            <a:solidFill>
              <a:srgbClr val="2A2A28"/>
            </a:solidFill>
            <a:prstDash val="solid"/>
          </a:ln>
        </p:spPr>
      </p:sp>
      <p:sp>
        <p:nvSpPr>
          <p:cNvPr id="8" name="Text 6"/>
          <p:cNvSpPr txBox="1"/>
          <p:nvPr/>
        </p:nvSpPr>
        <p:spPr>
          <a:xfrm>
            <a:off x="4642409"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A score is a band, not a point</a:t>
            </a:r>
            <a:endParaRPr lang="en-US" sz="2500" dirty="0"/>
          </a:p>
        </p:txBody>
      </p:sp>
      <p:sp>
        <p:nvSpPr>
          <p:cNvPr id="9" name="Text 7"/>
          <p:cNvSpPr txBox="1"/>
          <p:nvPr/>
        </p:nvSpPr>
        <p:spPr>
          <a:xfrm>
            <a:off x="4642409"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The standard error turns reliability into score points, and prevents hasty decisions near the cut score.</a:t>
            </a:r>
            <a:endParaRPr lang="en-US" sz="1900" dirty="0"/>
          </a:p>
        </p:txBody>
      </p:sp>
      <p:sp>
        <p:nvSpPr>
          <p:cNvPr id="10" name="Shape 8"/>
          <p:cNvSpPr/>
          <p:nvPr/>
        </p:nvSpPr>
        <p:spPr>
          <a:xfrm>
            <a:off x="8186623" y="3200400"/>
            <a:ext cx="3453384" cy="2377440"/>
          </a:xfrm>
          <a:prstGeom prst="roundRect">
            <a:avLst>
              <a:gd name="adj" fmla="val 4615"/>
            </a:avLst>
          </a:prstGeom>
          <a:solidFill>
            <a:srgbClr val="2A2A28"/>
          </a:solidFill>
          <a:ln w="12700">
            <a:solidFill>
              <a:srgbClr val="2A2A28"/>
            </a:solidFill>
            <a:prstDash val="solid"/>
          </a:ln>
        </p:spPr>
      </p:sp>
      <p:sp>
        <p:nvSpPr>
          <p:cNvPr id="11" name="Text 9"/>
          <p:cNvSpPr txBox="1"/>
          <p:nvPr/>
        </p:nvSpPr>
        <p:spPr>
          <a:xfrm>
            <a:off x="8460943"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Claude calculates and you verify</a:t>
            </a:r>
            <a:endParaRPr lang="en-US" sz="2500" dirty="0"/>
          </a:p>
        </p:txBody>
      </p:sp>
      <p:sp>
        <p:nvSpPr>
          <p:cNvPr id="12" name="Text 10"/>
          <p:cNvSpPr txBox="1"/>
          <p:nvPr/>
        </p:nvSpPr>
        <p:spPr>
          <a:xfrm>
            <a:off x="8460943"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Ask for the code, ask about the formula, and match against the file before any interpretation.</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nthropic English">
  <a:themeElements>
    <a:clrScheme name="Anthropic English">
      <a:dk1>
        <a:srgbClr val="141413"/>
      </a:dk1>
      <a:lt1>
        <a:srgbClr val="FFFFFF"/>
      </a:lt1>
      <a:dk2>
        <a:srgbClr val="141413"/>
      </a:dk2>
      <a:lt2>
        <a:srgbClr val="FAF9F5"/>
      </a:lt2>
      <a:accent1>
        <a:srgbClr val="D97757"/>
      </a:accent1>
      <a:accent2>
        <a:srgbClr val="6A9BCC"/>
      </a:accent2>
      <a:accent3>
        <a:srgbClr val="788C5D"/>
      </a:accent3>
      <a:accent4>
        <a:srgbClr val="B0AEA5"/>
      </a:accent4>
      <a:accent5>
        <a:srgbClr val="E8E6DC"/>
      </a:accent5>
      <a:accent6>
        <a:srgbClr val="141413"/>
      </a:accent6>
      <a:hlink>
        <a:srgbClr val="6A9BCC"/>
      </a:hlink>
      <a:folHlink>
        <a:srgbClr val="788C5D"/>
      </a:folHlink>
    </a:clrScheme>
    <a:fontScheme name="Anthropic Engli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dc:title>
  <dc:subject>PptxGenJS Presentation</dc:subject>
  <dc:creator>PptxGenJS</dc:creator>
  <cp:lastModifiedBy>PptxGenJS</cp:lastModifiedBy>
  <cp:revision>1</cp:revision>
  <dcterms:created xsi:type="dcterms:W3CDTF">2026-10-15T04:06:03Z</dcterms:created>
  <dcterms:modified xsi:type="dcterms:W3CDTF">2026-10-15T04:06:03Z</dcterms:modified>
</cp:coreProperties>
</file>