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fbb7a214-71bb-923f-835d-7f624eb8ecaa}">
          <p14:sldIdLst>
            <p14:sldId id="256"/>
            <p14:sldId id="257"/>
          </p14:sldIdLst>
        </p14:section>
        <p14:section name="Content" id="{d152e994-281f-fe0f-c822-c666c5f92603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Closing" id="{c5d26edd-0f11-f729-fbeb-ce1677bc14e8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System D (519)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Advanced</c:v>
                  </c:pt>
                  <c:pt idx="1">
                    <c:v>High–Advanced</c:v>
                  </c:pt>
                  <c:pt idx="2">
                    <c:v>Intermediate–High</c:v>
                  </c:pt>
                  <c:pt idx="3">
                    <c:v>Low–Intermediate</c:v>
                  </c:pt>
                  <c:pt idx="4">
                    <c:v>Below Low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0.07</c:v>
                </c:pt>
                <c:pt idx="1">
                  <c:v>0.22</c:v>
                </c:pt>
                <c:pt idx="2">
                  <c:v>0.33</c:v>
                </c:pt>
                <c:pt idx="3">
                  <c:v>0.26</c:v>
                </c:pt>
                <c:pt idx="4">
                  <c:v>0.12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System E (516)</c:v>
                </c:pt>
              </c:strCache>
            </c:strRef>
          </c:tx>
          <c:spPr>
            <a:solidFill>
              <a:srgbClr val="B0AEA5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Advanced</c:v>
                  </c:pt>
                  <c:pt idx="1">
                    <c:v>High–Advanced</c:v>
                  </c:pt>
                  <c:pt idx="2">
                    <c:v>Intermediate–High</c:v>
                  </c:pt>
                  <c:pt idx="3">
                    <c:v>Low–Intermediate</c:v>
                  </c:pt>
                  <c:pt idx="4">
                    <c:v>Below Low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0.08</c:v>
                </c:pt>
                <c:pt idx="1">
                  <c:v>0.22</c:v>
                </c:pt>
                <c:pt idx="2">
                  <c:v>0.3</c:v>
                </c:pt>
                <c:pt idx="3">
                  <c:v>0.25</c:v>
                </c:pt>
                <c:pt idx="4">
                  <c:v>0.15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4141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141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D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0AEA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Today's product is a one-page policy memo. Remind students that the systems in the workshop file are fictitious, and that Phase 3 is submitted at the end of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the answers without comment. We will establish in the lecture that the data allow neither sentence: the difference from E is not significant, and the change is not significant.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benchmarks are from the TIMSS 2023 report (von Davier et al., 2024). Link to Week 12: there we read the framework, and here we read the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common error in the media and in Claude's summaries: "above the international average" merely for exceeding 500.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do not go into the details of plausible values. It is enough for the student to know that the standard error combines sampling and measurement.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B's error is twice A's, and that E's error is the largest: their estimates are less precise.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approximate rule for learning. The standard error in reports combines sampling and plausible values, and the published significance table is the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back to the opening headline: the first sentence has fallen.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hand-calculation exercise before the break. The reason is that the standard error of the difference is smaller than the sum of the two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whoever adds the published figures gets how much? 230%. And whoever writes 59% at the two top benchmarks falls into the same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bands here are within each benchmark, not cumulative. The educational decision differs: E needs greater attention to those who did not reach the minimum.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 sentence in the opening headline has also fallen. Ask: what else should be asked about changes in the sample and the administration mode?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weighted mean is a consistency check on our reading. Note that the error of the few-resources category is larger because it has fewer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each group for the name of a third confounding variable, and how it explains the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cards are the memo checklist in Step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Today's use level is 2: Documented collaboration. The student is responsible for every sentence in their memo.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upload the file to Claude today: the tables are pasted into the prompt. Direct groups with an error-free summary to the backup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final reminder: Phase 3 is submitted at the end of this week, and we have set aside the last minutes for questions about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Measurement and Evaluation · Week 13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Performance Reports and Contextual Data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 results say, and what do they not say?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0543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"System D is ahead of System E, and has achieved an eight-point improvement since the previous cycle"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actually entitled to say from these numbers?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292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numbers in brackets before the ranking.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the results report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548640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on a common scale with a midpoint of 500, not a percentage of correct answers.</a:t>
            </a:r>
            <a:endParaRPr lang="en-US" sz="1800" dirty="0"/>
          </a:p>
        </p:txBody>
      </p:sp>
      <p:sp>
        <p:nvSpPr>
          <p:cNvPr id="7" name="card-1"/>
          <p:cNvSpPr/>
          <p:nvPr/>
        </p:nvSpPr>
        <p:spPr>
          <a:xfrm>
            <a:off x="3401568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721608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30168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and its error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630168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519 (3.1): the mean, then the standard error in brackets.</a:t>
            </a:r>
            <a:endParaRPr lang="en-US" sz="1800" dirty="0"/>
          </a:p>
        </p:txBody>
      </p:sp>
      <p:sp>
        <p:nvSpPr>
          <p:cNvPr id="11" name="card-2"/>
          <p:cNvSpPr/>
          <p:nvPr/>
        </p:nvSpPr>
        <p:spPr>
          <a:xfrm>
            <a:off x="6254496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74536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83096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benchmarks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483096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625, 550, 475 and 400, and the percentage who reached each point.</a:t>
            </a:r>
            <a:endParaRPr lang="en-US" sz="1800" dirty="0"/>
          </a:p>
        </p:txBody>
      </p:sp>
      <p:sp>
        <p:nvSpPr>
          <p:cNvPr id="15" name="card-3"/>
          <p:cNvSpPr/>
          <p:nvPr/>
        </p:nvSpPr>
        <p:spPr>
          <a:xfrm>
            <a:off x="9107424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427464" y="1783080"/>
            <a:ext cx="457200" cy="457200"/>
          </a:xfrm>
          <a:prstGeom prst="ellipse">
            <a:avLst/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36024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and context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336024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change between cycles, and performance by questionnaire categories.</a:t>
            </a:r>
            <a:endParaRPr lang="en-US" sz="1800" dirty="0"/>
          </a:p>
        </p:txBody>
      </p:sp>
      <p:sp>
        <p:nvSpPr>
          <p:cNvPr id="19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systems in today's workshop are fictitious, and their figures are simulated in the style of international reports.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midpoint is not the cycle average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was fixed when the scale was established in the first cycle, with a standard deviation of 100.</a:t>
            </a:r>
            <a:endParaRPr lang="en-US" sz="22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with a mean of 510 is above the midpoint, but that does not mean it is in the upper half of the countries participating today.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6611112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976872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midpoint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976872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6976872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reference to which all cycles are linked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standard error come from?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548640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of students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is estimated from a sample of schools and classes. Another sample gives a slightly different number.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7258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 answers part of the items, so their performance is estimated with several plausible values.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8156448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76488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± 1.96 standard errors gives an approximate 95% confidence interval.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and confidence intervals</a:t>
            </a:r>
            <a:endParaRPr lang="en-US" sz="38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146775"/>
                <a:gridCol w="4293550"/>
                <a:gridCol w="4651346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(error)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interval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552 (2.4)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547.3 – 556.7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547 (4.8)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537.6 – 556.4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531 (2.9)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525.3 – 536.7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519 (3.1)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512.9 – 525.1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516 (5.6)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505.0 – 527.0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489 (2.6)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483.9 – 494.1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the file: G 474 (3.8) and H 452 (4.4). Fictitious systems.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difference between two systems significant?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divide the difference between the two means by the standard error of the difference.</a:t>
            </a:r>
            <a:endParaRPr lang="en-US" sz="2400" dirty="0"/>
          </a:p>
        </p:txBody>
      </p:sp>
      <p:sp>
        <p:nvSpPr>
          <p:cNvPr id="4" name="formula"/>
          <p:cNvSpPr/>
          <p:nvPr/>
        </p:nvSpPr>
        <p:spPr>
          <a:xfrm>
            <a:off x="2194560" y="2880360"/>
            <a:ext cx="779983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194560" y="2880360"/>
            <a:ext cx="7799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(m1 − m2) / √(SE1² + SE2²)</a:t>
            </a:r>
            <a:endParaRPr lang="en-US" sz="2800" dirty="0"/>
          </a:p>
        </p:txBody>
      </p:sp>
      <p:sp>
        <p:nvSpPr>
          <p:cNvPr id="6" name="after"/>
          <p:cNvSpPr/>
          <p:nvPr/>
        </p:nvSpPr>
        <p:spPr>
          <a:xfrm>
            <a:off x="548640" y="4206240"/>
            <a:ext cx="11091672" cy="1645920"/>
          </a:xfrm>
          <a:prstGeom prst="roundRect">
            <a:avLst>
              <a:gd name="adj" fmla="val 6667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420624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1.96 or more means an approximately significant difference. Reports compute the error more precisely and test each difference at 0.05, and the large number of comparisons increases the probability of a "significant" difference by chance.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two non-significant pairs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6304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vs B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of 5 points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 of the difference 5.37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ratio 0.93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say: A outperforms B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4311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3747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vs E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of 3 points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 of the difference 6.40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ratio 0.47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say: D is ahead of E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28 pairs in the file, all the other pairs are significant.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overlapping-intervals trap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C's interval is from 525.3 to 536.7, and E's interval is from 505.0 to 527.0. The two intervals overlap.</a:t>
            </a:r>
            <a:endParaRPr lang="en-US" sz="22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the difference between them is 15 points and significant. Overlap is not a significance test: compute the critical ratio.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6611112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976872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vs 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976872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2.38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6976872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ratio despite the overlapping intervals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percentages: do not add them</a:t>
            </a:r>
            <a:endParaRPr lang="en-US" sz="3800" dirty="0"/>
          </a:p>
        </p:txBody>
      </p:sp>
      <p:graphicFrame>
        <p:nvGraphicFramePr>
          <p:cNvPr id="1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6433170"/>
                <a:gridCol w="2440168"/>
                <a:gridCol w="2218334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 in System A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Calculation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Percentage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Between High and Advanced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45 − 14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Between Intermediate and High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77 − 45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Between Low and Intermediate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94 − 77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Low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100 − 94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Published: 14, 45, 77 and 94: the percentage who reached the benchmark or above. The total within the bands is 100%.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close means and two different distributions</a:t>
            </a:r>
            <a:endParaRPr lang="en-US" sz="38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4873752" y="137160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1554480"/>
            <a:ext cx="395935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 is higher at both ends: 8% at Advanced and 15% below Low.</a:t>
            </a:r>
            <a:endParaRPr lang="en-US" sz="2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wider spread that the mean hides.</a:t>
            </a:r>
            <a:endParaRPr lang="en-US" sz="2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one-point difference alone cannot be judged without its standard error.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Trend: did System D improve?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511 (3.4) in 2019, and 519 (3.1) in 2023. The change is +8, and its standard error is 4.60.</a:t>
            </a:r>
            <a:endParaRPr lang="en-US" sz="22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change is not significant. PISA adds a linking error and TIMSS 2023 does not, and in both cases it remains not significant.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6611112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976872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ratio of the change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976872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1.74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6976872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1.96: we do not assert that an improvement occurred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data in System D</a:t>
            </a:r>
            <a:endParaRPr lang="en-US" sz="3800" dirty="0"/>
          </a:p>
        </p:txBody>
      </p:sp>
      <p:graphicFrame>
        <p:nvGraphicFramePr>
          <p:cNvPr id="1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4909429"/>
                <a:gridCol w="4000275"/>
                <a:gridCol w="2181968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resources for learning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Percentage of students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(error)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571 (4.2)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 resources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516 (3.0)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468 (5.1)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is 103 points and its critical ratio is 15.6. The weighted mean of 518.7 approximates the published 519.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Correlation, not causation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6304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write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resources raise achievement by 103 points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Distributing resources will raise the system's performance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4311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3747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availability of resources is associated with higher performance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Parents' education, income and school type may explain the difference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are cross-sectional, not before and after an intervention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value nonetheless: they reveal who needs support. 15% have a mean of 468, below the Intermediate benchmark.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writing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548640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overstatement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comparison comes with a judgement of significance, and every benchmark percentage is written as "reached or above".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7258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system, not the school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sample estimates the system. One or two classes in each school are not enough to judge it.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8156448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76488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groups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smaller the group, the larger its error. Ask: how many students are in it?</a:t>
            </a:r>
            <a:endParaRPr lang="en-US" sz="2000" dirty="0"/>
          </a:p>
        </p:txBody>
      </p:sp>
      <p:sp>
        <p:nvSpPr>
          <p:cNvPr id="15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significance is not importance: a 5-point difference equals 0.05 of the standard deviation.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Claude's typical errors in summarising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548640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Non-significant differences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"System A is at the top, followed by B", or "System D improved".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7258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percentages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"29% at the High benchmark" as if it were a separate band, or adding 7 and 29.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8156448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76488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language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Raises, leads to, because of, is due to: verbs that correlational data do not allow.</a:t>
            </a:r>
            <a:endParaRPr lang="en-US" sz="2000" dirty="0"/>
          </a:p>
        </p:txBody>
      </p:sp>
      <p:sp>
        <p:nvSpPr>
          <p:cNvPr id="15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rule: the summary is adopted after it is matched against the tables, not before.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workshop</a:t>
            </a:r>
            <a:endParaRPr lang="en-US" sz="3800" dirty="0"/>
          </a:p>
        </p:txBody>
      </p:sp>
      <p:sp>
        <p:nvSpPr>
          <p:cNvPr id="3" name="step-1"/>
          <p:cNvSpPr/>
          <p:nvPr/>
        </p:nvSpPr>
        <p:spPr>
          <a:xfrm>
            <a:off x="548640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2371039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reading questions without any AI tool</a:t>
            </a:r>
            <a:endParaRPr lang="en-US" sz="2100" dirty="0"/>
          </a:p>
        </p:txBody>
      </p:sp>
      <p:sp>
        <p:nvSpPr>
          <p:cNvPr id="7" name="step-2"/>
          <p:cNvSpPr/>
          <p:nvPr/>
        </p:nvSpPr>
        <p:spPr>
          <a:xfrm>
            <a:off x="4336999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65599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160313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65599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Claude's summary for the decision-maker using the ready-made prompt</a:t>
            </a:r>
            <a:endParaRPr lang="en-US" sz="2100" dirty="0"/>
          </a:p>
        </p:txBody>
      </p:sp>
      <p:sp>
        <p:nvSpPr>
          <p:cNvPr id="11" name="step-3"/>
          <p:cNvSpPr/>
          <p:nvPr/>
        </p:nvSpPr>
        <p:spPr>
          <a:xfrm>
            <a:off x="8126273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54873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9948672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354873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the summary against the tables</a:t>
            </a:r>
            <a:endParaRPr lang="en-US" sz="2100" dirty="0"/>
          </a:p>
        </p:txBody>
      </p:sp>
      <p:sp>
        <p:nvSpPr>
          <p:cNvPr id="15" name="step-4"/>
          <p:cNvSpPr/>
          <p:nvPr/>
        </p:nvSpPr>
        <p:spPr>
          <a:xfrm>
            <a:off x="548640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2371039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one-page policy memo and peer check</a:t>
            </a:r>
            <a:endParaRPr lang="en-US" sz="2100" dirty="0"/>
          </a:p>
        </p:txBody>
      </p:sp>
      <p:sp>
        <p:nvSpPr>
          <p:cNvPr id="19" name="step-5"/>
          <p:cNvSpPr/>
          <p:nvPr/>
        </p:nvSpPr>
        <p:spPr>
          <a:xfrm>
            <a:off x="4336999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565599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6160313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565599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fast groups: does Claude correct itself?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product: the policy memo and the checking table in the portfolio.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leave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before any sentence about the results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48640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difference significant?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critical ratio, and do not settle for the ranking or overlapping intervals.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368089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2409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percentage cumulative?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4642409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the benchmark or above, and not added.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186623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60943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sentence causal?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8460943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data accompany performance and do not prove what causes it.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thropic English">
  <a:themeElements>
    <a:clrScheme name="Anthropic English">
      <a:dk1>
        <a:srgbClr val="141413"/>
      </a:dk1>
      <a:lt1>
        <a:srgbClr val="FFFFFF"/>
      </a:lt1>
      <a:dk2>
        <a:srgbClr val="141413"/>
      </a:dk2>
      <a:lt2>
        <a:srgbClr val="FAF9F5"/>
      </a:lt2>
      <a:accent1>
        <a:srgbClr val="D97757"/>
      </a:accent1>
      <a:accent2>
        <a:srgbClr val="6A9BCC"/>
      </a:accent2>
      <a:accent3>
        <a:srgbClr val="788C5D"/>
      </a:accent3>
      <a:accent4>
        <a:srgbClr val="B0AEA5"/>
      </a:accent4>
      <a:accent5>
        <a:srgbClr val="E8E6DC"/>
      </a:accent5>
      <a:accent6>
        <a:srgbClr val="141413"/>
      </a:accent6>
      <a:hlink>
        <a:srgbClr val="6A9BCC"/>
      </a:hlink>
      <a:folHlink>
        <a:srgbClr val="788C5D"/>
      </a:folHlink>
    </a:clrScheme>
    <a:fontScheme name="Anthropic English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13</dc:title>
  <dc:subject>PptxGenJS Presentation</dc:subject>
  <dc:creator>PptxGenJS</dc:creator>
  <cp:lastModifiedBy>PptxGenJS</cp:lastModifiedBy>
  <cp:revision>1</cp:revision>
  <dcterms:created xsi:type="dcterms:W3CDTF">2026-10-15T04:06:22Z</dcterms:created>
  <dcterms:modified xsi:type="dcterms:W3CDTF">2026-10-15T04:06:22Z</dcterms:modified>
</cp:coreProperties>
</file>