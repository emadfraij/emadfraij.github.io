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1219a733-1509-0620-4b6c-75dd8d641aaf}">
          <p14:sldIdLst>
            <p14:sldId id="256"/>
            <p14:sldId id="257"/>
          </p14:sldIdLst>
        </p14:section>
        <p14:section name="المحتوى" id="{4ea98eb0-f182-1182-a166-998de93d498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144e7680-0019-1f67-350f-a36b778e609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النظام د (519)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المتقدم</c:v>
                  </c:pt>
                  <c:pt idx="1">
                    <c:v>المرتفع–المتقدم</c:v>
                  </c:pt>
                  <c:pt idx="2">
                    <c:v>المتوسط–المرتفع</c:v>
                  </c:pt>
                  <c:pt idx="3">
                    <c:v>المنخفض–المتوسط</c:v>
                  </c:pt>
                  <c:pt idx="4">
                    <c:v>دون المنخفض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</c:v>
                </c:pt>
                <c:pt idx="1">
                  <c:v>0.22</c:v>
                </c:pt>
                <c:pt idx="2">
                  <c:v>0.33</c:v>
                </c:pt>
                <c:pt idx="3">
                  <c:v>0.26</c:v>
                </c:pt>
                <c:pt idx="4">
                  <c:v>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النظام هـ (516)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المتقدم</c:v>
                  </c:pt>
                  <c:pt idx="1">
                    <c:v>المرتفع–المتقدم</c:v>
                  </c:pt>
                  <c:pt idx="2">
                    <c:v>المتوسط–المرتفع</c:v>
                  </c:pt>
                  <c:pt idx="3">
                    <c:v>المنخفض–المتوسط</c:v>
                  </c:pt>
                  <c:pt idx="4">
                    <c:v>دون المنخفض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0.08</c:v>
                </c:pt>
                <c:pt idx="1">
                  <c:v>0.22</c:v>
                </c:pt>
                <c:pt idx="2">
                  <c:v>0.3</c:v>
                </c:pt>
                <c:pt idx="3">
                  <c:v>0.25</c:v>
                </c:pt>
                <c:pt idx="4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منتج اليوم مذكرة سياسات من صفحة واحدة. ذكّر الطلبة بأن الأنظمة في ملف المشغل وهمية، وبأن المرحلة 3 تُسلَّم نهاية هذا الأسبوع.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الإجابات دون تعليق. سنثبت في المحاضرة أن الجملتين كلتيهما لا تسمح بهما البيانات: الفرق مع هـ غير دال، والتغيّر غير دال.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المستويات من تقرير تيمس 2023 (فون دافييه وزملاؤه، 2024). اربط بالأسبوع 12: هناك قرأنا الإطار، وهنا نقرأ النتائج.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خطأ شائع في الإعلام وفي ملخصات كلود: «فوق المتوسط الدولي» لمجرد تجاوز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ندخل في تفاصيل القيم المحتملة. يكفي أن يعرف الطالب أن الخطأ المعياري يجمع المعاينة والقياس.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لاحظ أن خطأ ب ضعف خطأ أ، وأن خطأ هـ أكبر الأخطاء: تقديرهما أقل دقة.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قاعدة تقريبية للتعلم. الخطأ المعياري في التقارير يجمع المعاينة والقيم المحتملة، وجدول الدلالة المنشور هو المرجع.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عُد إلى عنوان الافتتاح: الجملة الأولى سقطت.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تمرين الحساب اليدوي قبل الاستراحة. السبب أن الخطأ المعياري للفرق أصغر من مجموع الخطأين.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من يجمع المنشور يحصل على كم؟ 230%. ومن يكتب 59% في المستويين الأعليين يقع في الخطأ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الفئات هنا داخل كل مستوى لا تراكمية. القرار التربوي يختلف: هـ يحتاج اهتماماً أكبر بمن لم يبلغوا الحد الأدنى.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الجملة الثانية في عنوان الافتتاح سقطت أيضاً. اسأل: ما الذي يجب أن يُسأل أيضاً عن تغيّر العينة ونمط التطبيق؟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المتوسط الموزون فحص اتساق لقراءتنا. لاحظ أن خطأ الفئة القليلة أكبر لأن عدد طلبتها أقل.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مجموعة اسم متغير مربك ثالث، وكيف يفسّر الفرق.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البطاقات هي قائمة فحص المذكرة في الخطوة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مستوى الاستخدام اليوم 2: تعاون موثّق. الطالب مسؤول عن كل جملة في مذكرته.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ترفع الملف إلى كلود اليوم: الجداول ملصوقة في التعليمات. وجّه المجموعات ذات الملخص السليم إلى الملخص الاحتياطي.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تذكير أخير: المرحلة 3 تُسلَّم نهاية هذا الأسبوع، وخصصنا الدقائق الأخيرة لأسئلتها.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قراءة تقارير الأداء والبيانات السياقية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تقول النتائج، وماذا لا تقول؟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«النظام د يتقدم على النظام هـ، ويحقق تحسناً بثماني درجات منذ الدورة السابقة»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يحق لنا أن نقوله فعلاً من هذه الأرقام؟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الأرقام بين القوسين قبل الترتيب.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تشريح تقرير النتائج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المقياس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درجة على مقياس مشترك نقطة منتصفه 500، لا نسبة إجابات صحيحة.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وخطؤه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519 (3.1): المتوسط ثم الخطأ المعياري بين قوسين.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المستويات المعيارية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625 و 550 و 475 و 400، ونسبة من بلغ كل نقطة.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الاتجاه والسياق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التغيّر بين الدورات، والأداء حسب فئات الاستبانات.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الأنظمة في مشغل اليوم وهمية، وأرقامها محاكاة بأسلوب التقارير الدولية.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نقطة المنتصف ليست متوسط الدورة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ثُبّتت 500 عند وضع المقياس في الدورة الأولى، مع انحراف معياري 100.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نظام متوسطه 510 فوق نقطة المنتصف، لكن ذلك لا يعني أنه في النصف الأعلى من الدول المشاركة اليوم.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نقطة المنتصف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مرجع ثابت تُربط به كل الدورات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أين يأتي الخطأ المعياري؟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معاينة الطلبة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مقدَّر من عينة مدارس وصفوف. عينة أخرى تعطي رقماً مختلفاً قليلاً.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طالب يجيب عن جزء من الفقرات، فيُقدَّر أداؤه بعدة قيم محتملة.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نطاق الثقة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± 1.96 خطأً معيارياً يعطي نطاق ثقة 95% تقريباً.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المتوسطات ونطاقات الثقة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240933"/>
                <a:gridCol w="4893385"/>
                <a:gridCol w="195735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نطاق 95%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المتوسط (الخطأ)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النظام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547.3 – 556.7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552 (2.4)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537.6 – 556.4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 (4.8)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525.3 – 536.7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 (2.9)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512.9 – 525.1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 (3.1)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505.0 – 527.0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 (5.6)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هـ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483.9 – 494.1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 (2.6)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و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وفي الملف أيضاً: ز 474 (3.8) و ح 452 (4.4). أنظمة وهمية.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الفرق بين نظامين دال؟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نقسم الفرق بين المتوسطين على الخطأ المعياري للفرق.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(m1 − m2) / √(SE1² + SE2²)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1.96 فأكثر يعني فرقاً دالاً تقريباً. التقارير تحسب الخطأ بدقة أكبر وتختبر كل فرق عند 0.05، وكثرة المقارنات تزيد احتمال فرق «دال» بالصدفة.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الزوجان الوحيدان غير الدالين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 مقابل ب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5 درجات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الخطأ المعياري للفرق 5.37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النسبة الحرجة 0.93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نقول: أ يتفوق على ب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 مقابل هـ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3 درجات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الخطأ المعياري للفرق 6.40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النسبة الحرجة 0.47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نقول: د يتقدم على هـ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بين 28 زوجاً في الملف، كل الأزواج الأخرى دالة.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فخ تداخل النطاقات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نطاق ج من 525.3 إلى 536.7، ونطاق هـ من 505.0 إلى 527.0. النطاقان متداخلان.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ومع ذلك فالفرق بينهما 15 درجة ودال. التداخل ليس اختباراً للدلالة: احسب النسبة الحرجة.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 مقابل هـ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النسبة الحرجة رغم تداخل النطاقين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النسب التراكمية: لا تجمعها</a:t>
            </a:r>
            <a:endParaRPr lang="en-US" sz="38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57354"/>
                <a:gridCol w="2609805"/>
                <a:gridCol w="6524513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النسبة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الحساب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الفئة في النظام أ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المتقدم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45 − 14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بين المرتفع والمتقدم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77 − 45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بين المتوسط والمرتفع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94 − 77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بين المنخفض والمتوسط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100 − 94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دون المنخفض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المنشور 14 و 45 و 77 و 94: نسبة من بلغ المستوى فأعلى. المجموع داخل الفئات 100%.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متوسطان متقاربان وتوزيعان مختلفان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النظام هـ أعلى في الطرفين: 8% في المتقدم و 15% دون المنخفض.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تشتت أوسع يخفيه المتوسط.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فرق نقطة واحدة وحده لا يُحكم عليه دون خطئه المعياري.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الاتجاه: هل تحسّن النظام د؟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511 (3.4) في 2019، و 519 (3.1) في 2023. التغيّر +8، وخطؤه المعياري 4.60.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التغيّر غير دال. بيزا تضيف خطأ الربط وتيمس 2023 لا تضيفه، وفي الحالتين يبقى غير دال.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النسبة الحرجة للتغيّر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أقل من 1.96: لا نجزم بحدوث تحسّن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السياقية في النظام د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539895"/>
                <a:gridCol w="2595923"/>
                <a:gridCol w="4955853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المتوسط (الخطأ)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نسبة الطلبة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موارد التعلم في البيت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 (4.2)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كثيرة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 (3.0)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بعض الموارد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(5.1)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قليلة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103 درجات ونسبته الحرجة 15.6. المتوسط الموزون 518.7 يقارب المنشور 519.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ارتباط لا سبب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تكتب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الموارد المنزلية ترفع التحصيل 103 درجات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توزيع الموارد سيرفع أداء النظام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يرتبط توافر الموارد بأداء أعلى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يفسّر الفرق تعليم الوالدين والدخل ونوع المدرسة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مقطعية، لا قبل تدخّل وبعده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قيمتها رغم ذلك: تكشف من يحتاج الدعم. 15% متوسطهم 468، دون المستوى المتوسط.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الكتابة المسؤولة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مبالغة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مقارنة معها حكم بالدلالة، وكل نسبة مستويات تُكتب «بلغوا فأعلى».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النظام لا المدرسة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العينة تقدّر النظام. صف أو صفان في كل مدرسة لا يكفيان للحكم عليها.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المجموعات الصغيرة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كلما صغرت الفئة كبر خطؤها. اسأل: كم طالباً فيها؟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والدلالة ليست الأهمية: فرق 5 درجات يساوي 0.05 من الانحراف المعياري.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أخطاء كلود النمطية في التلخيص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فروق غير دالة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«النظام أ في الصدارة يليه ب»، أو «تحسّن النظام د».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نسب تراكمية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«29% في المستوى المرتفع» كأنها فئة منفصلة، أو جمع 7 و 29.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لغة سببية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يرفع، يؤدي إلى، بسبب، يعود إلى: أفعال لا تسمح بها البيانات الارتباطية.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القاعدة: الملخص يُعتمد بعد مطابقته بالجداول، لا قبلها.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اليوم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ستة أسئلة قراءة دون أي أداة ذكاء اصطناعي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ملخص كلود لصانع القرار بالتعليمات الجاهزة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تدقيق الملخص مقابل الجداول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مذكرة سياسات من صفحة واحدة وفحص الزميل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للمجموعات السريعة: هل يصحّح كلود نفسه؟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المنتج: مذكرة السياسات وجدول التدقيق في ملف الإنجاز.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أسئلة قبل أي جملة عن النتائج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الفرق دال؟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احسب النسبة الحرجة، ولا تكتفِ بالترتيب أو بتداخل النطاقات.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النسبة تراكمية؟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بلغوا المستوى فأعلى، ولا تُجمع.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الجملة سببية؟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السياقية ترافق الأداء ولا تثبت ما يسببه.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13</dc:title>
  <dc:subject>PptxGenJS Presentation</dc:subject>
  <dc:creator>PptxGenJS</dc:creator>
  <cp:lastModifiedBy>PptxGenJS</cp:lastModifiedBy>
  <cp:revision>1</cp:revision>
  <dcterms:created xsi:type="dcterms:W3CDTF">2026-10-07T19:24:58Z</dcterms:created>
  <dcterms:modified xsi:type="dcterms:W3CDTF">2026-10-07T19:24:58Z</dcterms:modified>
</cp:coreProperties>
</file>