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8d14c350-93d8-61ec-ab19-272894834b66}">
          <p14:sldIdLst>
            <p14:sldId id="256"/>
            <p14:sldId id="257"/>
          </p14:sldIdLst>
        </p14:section>
        <p14:section name="المحتوى" id="{e6b95480-e89a-c318-ee2d-825c4297df6c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18c2c4a8-55c1-634c-c19f-3e0f45f8b05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اختبار الأسبوع 3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معرفة</c:v>
                  </c:pt>
                  <c:pt idx="1">
                    <c:v>تطبيق</c:v>
                  </c:pt>
                  <c:pt idx="2">
                    <c:v>استدلال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0.367</c:v>
                </c:pt>
                <c:pt idx="2">
                  <c:v>0.133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التوزيع المقصود في المثال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معرفة</c:v>
                  </c:pt>
                  <c:pt idx="1">
                    <c:v>تطبيق</c:v>
                  </c:pt>
                  <c:pt idx="2">
                    <c:v>استدلال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0.35</c:v>
                </c:pt>
                <c:pt idx="1">
                  <c:v>0.4</c:v>
                </c:pt>
                <c:pt idx="2">
                  <c:v>0.25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اربط الأسبوع بالأسبوع 3: هناك اكتشفنا الخلل بعد كتابة الاختبار، وهنا نمنعه قبل الكتابة.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نقاش ثنائي ثلاث دقائق. الإجابة المنتظرة: في مرحلة التخطيط، بجدول مواصفات تُكتب الفقرات لتملأ خلاياه.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اطلب من كل طالب إعادة صياغة ناتجين من وحدته قبل عرض العمود الأيسر.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اختبار سريع للصياغة: هل يستطيع زميلك أن يكتب فقرة للناتج دون أن يسألك ماذا تقصد؟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أندرسون وكراثوول 2001. مثال للنقاش: «يفسّر طفو الجليد» معرفة إن كان التفسير محفوظاً، واستدلال إن كان الموقف جديداً.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توزيع المثال اختيار المعلم، لا توزيع تيمس. إطار تيمس 2023 لعلوم الصف الثامن 35% و35% و30%، وللصف الرابع 40% و40% و20%. يحق للمعلم أن يختلف عنه بمبرر.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الجدول يعمل مرتين: خطة قبل الكتابة، ومرجع للمواءمة بعدها. ولا يضمن جودة الفقرات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في المعادلة يرمز الحرف الأول إلى الحصص والثاني إلى الأهمية. قاعدة عملية شائعة لا معادلة وحيدة، والمهم أن يكون الأساس معلناً وموثقاً.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اسأل: لماذا صار ن2 الأثقل؟ لأنه أطول الدروس وأساس فهم التغيرات كلها.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دع الطلبة يحسبون خلايا ن5 يدوياً ثم يقارنون بالملف: 2 و3 و2.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اقرأ الصف 21 في الملف مع الطلبة: خانة الفحص الخضراء لا تعني أن الجدول متوازن.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غيّر خلية مجموع الدرجات إلى 40 أمام الطلبة، ثم أعدها إلى 30. وبتوزيع تيمس للصف الثامن (35% و35% و30%) يعطي المثال 27 درجة فقط. عنوان الخلية:
C3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اعرض المثال المضاد للنقاش: يعطي 10 / 13 / 7 والمجموع 30، لكنه ينزل بـ ن2 من 27% إلى 23%. المطلوب مبرر يذكر الأثر في المستويات والنواتج معاً.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العدد اقتراح لتقدير طول الاختبار وزمنه. نوع الفقرات الذي تختاره يحدد العدد الفعلي.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تطوير المناهج 57% من محادثات الأساتذة الجامعيين مع كلود في تقرير أنثروبيك 2025، فهذا أكثر موضع يحتاج إلى تحقق.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لا تصحح النواتج بنفسك أثناء التجوال؛ اسأل: ما الفقرة التي تقيس هذا الناتج؟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التسليم نهاية الأسبوع 6. اعرض سلم التقدير بمعاييره الخمسة.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r>
              <a:rPr lang="en-US" dirty="0"/>
              <a:t>الأسبوع القادم: نكتب الفقرات الموضوعية لتملأ خلايا هذا الجدول.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defRPr>
            </a:lvl1pPr>
          </a:lstStyle>
          <a:p>
            <a:pPr algn="r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94360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القياس والتقويم التربوي · الأسبوع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الأسبوع 6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نواتج التعلم وجدول المواصفات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المرحلة 1 من المشروع: نواتج قابلة للقياس وجدول مواصفات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543032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اختبار الأسبوع 3: نصف درجاته للتذكّر، وناتج كامل بلا فقرة واحدة.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متى كان يجب أن نكتشف ذلك؟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كتابة أول فقرة، لا بعد تصحيح الأوراق.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ناتج يُقاس وناتج لا يُقاس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نواتج لا تُقاس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يفهم حالات المادة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يعرف التغيّر الكيميائي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يدرك أهمية قانون حفظ الكتلة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يتعرّف طرق الفصل ويحللها ويقوّمها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نواتج قابلة للقياس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يفسّر خصائص حالات المادة بنموذج الجسيمات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يميّز بين التغيرات الفيزيائية والكيميائية في أمثلة يومية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يطبّق قانون حفظ الكتلة لحساب كتلة ناتج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يخطط لفصل مكونات مخلوط بطرق مناسبة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نرى الفهم، بل نرى ما يفعله الطالب حين يفهم.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مكونات الناتج القابل للقياس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الفعل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فعل واحد يمكن ملاحظته: يحسب، يميّز، يفسّر، يخطط.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5916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المحتوى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المادة العلمية التي يقع عليها الفعل: كثافة جسم صلب منتظم الشكل.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الشرط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المعطيات أو الظروف: من قياسات كتلته وأبعاده.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الناتج يصف الطالب لا المعلم، والنتيجة لا النشاط.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بلوم المعدّل إلى مجالات تيمس</a:t>
            </a:r>
            <a:endParaRPr lang="en-US" sz="38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7513713"/>
                <a:gridCol w="3577959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المجال الأقرب في تيمس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مستوى بلوم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التذكّر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 أو 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الفهم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 أو 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التحليل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التقويم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الإبداع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التحويل تقريبي، والفعل وحده لا يحدد المستوى.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توزيع المستويات: الأسبوع 3 والمثال وتيمس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68096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اختبار الأسبوع 3: المعرفة 50% والاستدلال 13% في فقرة واحدة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معلم المثال اختار 35% و40% و25%</a:t>
            </a:r>
            <a:endParaRPr lang="en-US" sz="21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إطار تيمس 2023 لعلوم الصف الثامن: 35% و35% و30%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لماذا جدول المواصفات؟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دليل صدق المحتوى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أحد المصادر الخمسة لأدلة الصدق في المعايير الدولية 2014.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ناتج غائب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لكل ناتج صف ودرجات، فلا يتكرر غياب ن5.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لا تضخم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الأوزان من أساس معلن، فلا يتضخم الناتج السهل ولا التذكّر.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معيار فحص لاحق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نقارن به الاختبار بعد كتابته، بمعايير المواءمة.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وزن الناتج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حاصل ضرب الحصص (وقت التعلم) في الأهمية من 1 إلى 3 (من المنهج)، مقسوماً على مجموع الحواصل لكل النواتج.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(P × I) / Σ(P × I)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مثال: ن2 دُرِّس في 4 حصص وأهميته 3، فوزنه 12 ÷ 43 = 28%.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أوزان المثال المحلول: «المادة وتغيّراتها»</a:t>
            </a:r>
            <a:endParaRPr lang="en-US" sz="38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86568"/>
                <a:gridCol w="993284"/>
                <a:gridCol w="2483210"/>
                <a:gridCol w="5628610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درجات الناتج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الوزن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الحصص × الأهمية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الناتج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ن1 التغيرات الفيزيائية والكيميائية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× 3 = 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ن2 حالات المادة ونموذج الجسيمات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ن3 الكثافة والطفو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2 = 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ن4 أدلة التفاعل الكيميائي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3 = 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ن5 قانون حفظ الكتلة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× 2 =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ن6 فصل مكونات مخلوط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 43 و30 درجة. ن1 كان 33% في اختبار الأسبوع 3، ون5 كان صفراً.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درجات الخلية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مجموع الدرجات × وزن الناتج × وزن المستوى، ثم التقريب لأقرب عدد صحيح.</a:t>
            </a:r>
            <a:endParaRPr lang="en-US" sz="2400" dirty="0"/>
          </a:p>
        </p:txBody>
      </p:sp>
      <p:sp>
        <p:nvSpPr>
          <p:cNvPr id="4" name="formula"/>
          <p:cNvSpPr/>
          <p:nvPr/>
        </p:nvSpPr>
        <p:spPr>
          <a:xfrm>
            <a:off x="2194560" y="2880360"/>
            <a:ext cx="779983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194560" y="2880360"/>
            <a:ext cx="77998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= ROUND(T × w × level, 0)</a:t>
            </a:r>
            <a:endParaRPr lang="en-US" sz="2800" dirty="0"/>
          </a:p>
        </p:txBody>
      </p:sp>
      <p:sp>
        <p:nvSpPr>
          <p:cNvPr id="6" name="after"/>
          <p:cNvSpPr/>
          <p:nvPr/>
        </p:nvSpPr>
        <p:spPr>
          <a:xfrm>
            <a:off x="548640" y="4206240"/>
            <a:ext cx="11091672" cy="1645920"/>
          </a:xfrm>
          <a:prstGeom prst="roundRect">
            <a:avLst>
              <a:gd name="adj" fmla="val 6667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ن2 في اختبار من 30: معرفة 2.93 ← 3، تطبيق 3.35 ← 3، استدلال 2.09 ← 2. المجموع 8.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المجموع مطابق، لكن المستويات لا</a:t>
            </a:r>
            <a:endParaRPr lang="en-US" sz="38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434757"/>
                <a:gridCol w="2164229"/>
                <a:gridCol w="4598986"/>
                <a:gridCol w="1893700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الفرق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الفعلي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المقصود في المثال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−1.5 درجة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(30%)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 (35%)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+1 درجة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(43%)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(40%)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+0.5 درجة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(27%)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 (25%)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خلايا معرفة قيمتها 1.47 قُرّبت إلى 1.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تطابق المجموع كان مصادفة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0350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بالجدول نفسه واختبار من 40 درجة يصبح المجموع 37.</a:t>
            </a:r>
            <a:endParaRPr lang="en-US" sz="2200" dirty="0"/>
          </a:p>
          <a:p>
            <a:pPr rtl="1" algn="r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التقريب خلية بخلية لا يحافظ على المجموع ولا على النسب. هنا ينتهي دور المعادلة ويبدأ قرار المعلم.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548640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مجموع الجدول لاختبار من 40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خانة الفحص: فرق سالب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القرار البشري: نقل درجة داخل ن1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النقل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ن1: 1 / 2 / 1 = 4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معرفة ن1 كانت 1.47، وتطبيقه 1.67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المستويات: 9 / 13 / 8</a:t>
            </a:r>
            <a:endParaRPr lang="en-US" sz="20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30% / 43% / 27%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بعد النقل من تطبيق ن1 إلى معرفته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ن1: 2 / 1 / 1 = 4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الخليتان الأقرب إلى منتصف التقريب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المستويات: 10 / 12 / 8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33% / 40% / 27%، ولا يتغير وزن أي ناتج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مثال مضاد: النقل من استدلال ن2 إلى معرفة ن5 يُنقص الناتج الأهم درجة، وخليتاه بعيدتان عن المنتصف.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الدرجات إلى الفقرات</a:t>
            </a:r>
            <a:endParaRPr lang="en-US" sz="38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346315"/>
                <a:gridCol w="7252247"/>
                <a:gridCol w="1493110"/>
              </a:tblGrid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درجة الفقرة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أنواع مناسبة غالباً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المستوى</a:t>
                      </a:r>
                      <a:endParaRPr lang="en-US" sz="19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اختيار من متعدد، مزاوجة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معرفة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1 أو 2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اختيار من متعدد بموقف، إجابة قصيرة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تطبيق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2 أو 3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إجابة مبنية، تفسير مكتوب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Sakkal Majalla" pitchFamily="34" charset="0"/>
                          <a:ea typeface="Sakkal Majalla" pitchFamily="34" charset="-122"/>
                          <a:cs typeface="Sakkal Majalla" pitchFamily="34" charset="-120"/>
                        </a:rPr>
                        <a:t>استدلال</a:t>
                      </a:r>
                      <a:endParaRPr lang="en-US" sz="1800" dirty="0">
                        <a:latin typeface="Sakkal Majalla" charset="0"/>
                        <a:ea typeface="Sakkal Majalla" charset="0"/>
                        <a:cs typeface="Sakkal Majalla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عدد الفقرات المقترح = درجات الناتج ÷ 1.5 مقرّباً، والمجموع 21 فقرة.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في هذا الأسبوع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9739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يحسن فعله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مسودة نواتج قابلة للقياس في دقائق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أفعال بديلة لـ«يفهم» و«يعرف»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مسودة جدول كاملة بأنواع فقرات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أثر تغيير الأوزان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863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ما تتحقق منه بنفسك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أفعال عليا لا تطلبها دروسك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مستوى مصنّف بالفعل وحده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مجاميع وأوزان لا تتطابق</a:t>
            </a:r>
            <a:endParaRPr lang="en-US" sz="20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تقريب صامت أو أهمية من عنده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يكتب المسودة، والإكسل يحسب، وأنت تقرر.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خطوات المشغل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8125968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771632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354568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354568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الحصص والأهمية من منهجك، قبل كلود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7304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82968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65904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15 د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يصوغ النواتج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194304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فحص جودة النواتج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8125968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771632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54568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4568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كلود يبني الجدول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7304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982968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565904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20 د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904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القالب ثم المطابقة مع كلود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194304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10 د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قرار التقريب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المنتج: مسودة المرحلة 1 من المشروع.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المرحلة 1 من المشروع (10%)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9107424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863072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النواتج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36024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5 إلى 8 نواتج قابلة للقياس لوحدة حقيقية.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6254496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1014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الجدول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ورقة «قالبك»، والمجموع مطابق، والتعديلات ملوّنة وموثقة.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3401568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5721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المبررات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400 إلى 600 كلمة تربط الأوزان والمستويات بالمنهج وتيمس.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548640" y="1554480"/>
            <a:ext cx="2532888" cy="420624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304288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سجل كلود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337560"/>
            <a:ext cx="207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التعليمات، وما قُبل وما رُفض ولماذا، وجدول المطابقة.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قبل أن تغادر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ثلاث أفكار تأخذها معك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86928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61248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الناتج فعل يُرى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461248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فعل واحد ومحتوى وشرط، والمستوى يحدده ما تطلبه الفقرة لا الفعل.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7784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104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الوزن له أساس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الحصص والأهمية من المنهج، والخلية = المجموع × وزن الناتج × وزن المستوى.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التقريب يحتاج قراراً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افحص المجموع والمستويات معاً، ووثّق كل خلية تعدّلها.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Arabic">
  <a:themeElements>
    <a:clrScheme name="Anthropic Arabic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Arabic">
      <a:majorFont>
        <a:latin typeface="Sakkal Majall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kkal Majall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الأسبوع 6</dc:title>
  <dc:subject>PptxGenJS Presentation</dc:subject>
  <dc:creator>PptxGenJS</dc:creator>
  <cp:lastModifiedBy>PptxGenJS</cp:lastModifiedBy>
  <cp:revision>1</cp:revision>
  <dcterms:created xsi:type="dcterms:W3CDTF">2026-10-07T19:24:49Z</dcterms:created>
  <dcterms:modified xsi:type="dcterms:W3CDTF">2026-10-07T19:24:49Z</dcterms:modified>
</cp:coreProperties>
</file>