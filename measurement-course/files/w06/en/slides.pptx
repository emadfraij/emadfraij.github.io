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9a5a8f1-f165-eb55-7b2d-ebadbce0e4da}">
          <p14:sldIdLst>
            <p14:sldId id="256"/>
            <p14:sldId id="257"/>
          </p14:sldIdLst>
        </p14:section>
        <p14:section name="Content" id="{0f6d2d5d-4f30-0d31-1b25-0394fdf0a8d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ing" id="{b83c1151-37b2-8567-f5a2-fe3a8d79b05c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3 test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Knowing</c:v>
                  </c:pt>
                  <c:pt idx="1">
                    <c:v>Applying</c:v>
                  </c:pt>
                  <c:pt idx="2">
                    <c:v>Reasoning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0.367</c:v>
                </c:pt>
                <c:pt idx="2">
                  <c:v>0.133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Intended distribution in the example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Knowing</c:v>
                  </c:pt>
                  <c:pt idx="1">
                    <c:v>Applying</c:v>
                  </c:pt>
                  <c:pt idx="2">
                    <c:v>Reasoning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0.35</c:v>
                </c:pt>
                <c:pt idx="1">
                  <c:v>0.4</c:v>
                </c:pt>
                <c:pt idx="2">
                  <c:v>0.25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this week to Week 3: there we discovered the flaw after the test was written; here we prevent it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Paired discussion for three minutes. The expected answer: at the planning stage, with a test blueprint whose cells the items are written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student to reword two outcomes from their unit before showing the measurable outcomes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test of the wording: can your colleague write an item for the outcome without asking you what you mean?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Anderson and Krathwohl 2001. An example for discussion: "Explains why ice floats" is Knowing if the explanation is memorised, and Reasoning if the situation is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example's distribution is the teacher's choice, not the TIMSS distribution. The TIMSS 2023 framework for Grade 8 science is 35%, 35% and 30%, and for Grade 4 40%, 40% and 20%. The teacher is entitled to depart from it with a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blueprint works twice: as a plan before writing, and as a reference for alignment afterwards. It does not guarantee the quality of the items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formula the first letter stands for periods and the second for importance. A common practical rule, not the only formula; what matters is that the basis is stated and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did O2 become the heaviest? Because it has the longest lessons and is the foundation for understanding all the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calculate the O5 cells by hand, then compare with the file: 2, 3 and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row 21 in the file with the students: a green check cell does not mean the blueprint is balanced.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the total marks cell to 40 in front of the students, then set it back to 30. And with the TIMSS Grade 8 distribution (35%, 35% and 30%), the example gives only 27 marks. The cell address:
C3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counter-example for discussion: it gives 10 / 13 / 7 and a total of 30, but it drops O2 from 27% to 23%. What is required is a justification that states the effect on both the levels and the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is a suggestion for estimating the length and time of the test. The item types you choose determine the actual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Curriculum development was 57% of university educators' conversations with Claude in Anthropic's 2025 report, so this is where verification is most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correct the outcomes yourself while circulating; ask: which item measures this outcome?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at the end of Week 6. Show the rubric with its five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week: we write selected-response items to fill the cells of this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and the Test Blueprint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the project: measurable outcomes and a test blueprint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3 test: half its marks for recall, and a whole outcome without a single item.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we have discovered this?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the first item, not after marking the papers.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outcome that can be measured and one that cannot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that cannot be measured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states of matter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chemical change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Realises the importance of the law of conservation of mass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Recognises, analyses and evaluates separation methods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properties of the states of matter with the particle model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between physical and chemical changes in everyday examples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law of conservation of mass to calculate the mass of a product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separation of the components of a mixture using appropriate methods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see understanding; we see what the student does when they understand.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a measurable outcome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observable verb: calculates, distinguishes, explains, plans.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matter the verb acts on: the density of a regularly shaped solid.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givens or conditions: from measurements of its mass and dimensions.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describes the student, not the teacher, and the result, not the activity.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revised Bloom's to the TIMSS domains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240933"/>
                <a:gridCol w="6850739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 level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TIMSS domain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 or Applying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Applying or Reasoning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is approximate, and the verb alone does not determine the level.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levels: Week 3, the example and TIMSS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test: Knowing 50% and Reasoning 13% in a single item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in the example chose 35%, 40% and 25%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2023 framework for Grade 8 science: 35%, 35% and 30%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test blueprint?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validity evidence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five sources of validity evidence in the 2014 Standards.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outcome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has a row and marks, so the absence of O5 is not repeated.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inflation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come from a stated basis, so neither the easy outcome nor recall becomes inflated.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 checking standard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the test with it after writing, using the alignment criteria.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weight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of the periods (learning time) and the importance from 1 to 3 (from the curriculum), divided by the sum of the products for all outcomes.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(P × I) / Σ(P × I)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O2 was taught in 4 periods and has importance 3, so its weight is 12 ÷ 43 = 28%.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in the worked example: "Matter and Its Changes"</a:t>
            </a:r>
            <a:endParaRPr lang="en-US" sz="38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5751237"/>
                <a:gridCol w="2738684"/>
                <a:gridCol w="821605"/>
                <a:gridCol w="178014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Periods × importance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marks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 Physical and chemical changes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 =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 States of matter and the particle 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3 = 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 Density and floating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 =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 Evidence of a chemical reaction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 =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 Law of conservation of mass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 = 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 Separating the components of a mixture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 =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totals are 43 and 30 marks. O1 was 33% in the Week 3 test, and O5 was zero.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marks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 × outcome weight × level weight, then rounding to the nearest whole number.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= ROUND(T × w × level, 0)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in a 30-mark test: Knowing 2.93 → 3, Applying 3.35 → 3, Reasoning 2.09 → 2. Total 8.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matches, but the levels do not</a:t>
            </a:r>
            <a:endParaRPr lang="en-US" sz="38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5102169"/>
                <a:gridCol w="1774668"/>
                <a:gridCol w="221833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Intended in the example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 (35%)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(30%)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 marks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(40%)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(43%)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mark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(25%)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(27%)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 marks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Knowing cells with a value of 1.47 were rounded to 1.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total was a coincidence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blueprint and a 40-mark test, the total becomes 37.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cell by cell preserves neither the total nor the proportions. Here the role of the formula ends and the teacher's decision begins.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total for a 40-mark test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cell: a negative difference of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decision: moving a mark within O1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move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O1: 1 / 2 / 1 = 4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Knowing was 1.47, and its Applying 1.67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Levels: 9 / 13 / 8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/ 43% / 27%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moving from O1 Applying to its Knowing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O1: 2 / 1 / 1 = 4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cells closest to the rounding midpoint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Levels: 10 / 12 / 8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/ 40% / 27%, and no outcome's weight changes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counter-example: moving from O2 Reasoning to O5 Knowing reduces the most important outcome by a mark, and its two cells are far from the midpoint.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marks to items</a:t>
            </a:r>
            <a:endParaRPr lang="en-US" sz="38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446740"/>
                <a:gridCol w="7394448"/>
                <a:gridCol w="22504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suitable types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per item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choice, matching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choice with a situation, short answer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or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Constructed response, written explanation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or 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number of items = outcome marks ÷ 1.5, rounded, and the total is 21 items.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this week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of measurable outcomes in minutes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verbs for "understands" and "knows"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draft blueprint with item types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the effect of changing the weights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verify yourself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Higher-level verbs your lessons do not require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 classified by the verb alone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and weights that do not match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rounding or importance of its own making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draft, Excel calculates, and you decide.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steps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and importance from your curriculum, before Claude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drafts the outcomes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the quality of the outcomes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builds the blueprint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template, then matching with Claude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rounding decision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product: the draft of Phase 1 of the project.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the project (10%)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8 measurable outcomes for a real unit.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"Your template" sheet, with a matching total and adjustments coloured and documented.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to 600 words linking the weights and levels to the curriculum and TIMSS.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log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prompts, what was accepted and what was rejected and why, and the matching table.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take with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outcome is a visible action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verb, content and a condition, and the level is determined by what the item requires, not by the verb.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has a basis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and importance from the curriculum, and cell = total × outcome weight × level weight.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needs a decision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total and the levels together, and document every cell you adjust.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</dc:title>
  <dc:subject>PptxGenJS Presentation</dc:subject>
  <dc:creator>PptxGenJS</dc:creator>
  <cp:lastModifiedBy>PptxGenJS</cp:lastModifiedBy>
  <cp:revision>1</cp:revision>
  <dcterms:created xsi:type="dcterms:W3CDTF">2026-10-15T04:06:07Z</dcterms:created>
  <dcterms:modified xsi:type="dcterms:W3CDTF">2026-10-15T04:06:07Z</dcterms:modified>
</cp:coreProperties>
</file>